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5E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94280" y="1271120"/>
            <a:ext cx="11432534" cy="25105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01145" y="4263199"/>
            <a:ext cx="10541000" cy="4338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8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909003" y="2380591"/>
            <a:ext cx="10137140" cy="3663315"/>
          </a:xfrm>
          <a:prstGeom prst="rect"/>
        </p:spPr>
        <p:txBody>
          <a:bodyPr wrap="square" lIns="0" tIns="96520" rIns="0" bIns="0" rtlCol="0" vert="horz">
            <a:spAutoFit/>
          </a:bodyPr>
          <a:lstStyle/>
          <a:p>
            <a:pPr marL="12700" marR="5080">
              <a:lnSpc>
                <a:spcPts val="9360"/>
              </a:lnSpc>
              <a:spcBef>
                <a:spcPts val="760"/>
              </a:spcBef>
            </a:pPr>
            <a:r>
              <a:rPr dirty="0" sz="8250" spc="-65">
                <a:solidFill>
                  <a:srgbClr val="005EC2"/>
                </a:solidFill>
              </a:rPr>
              <a:t>ENCI-</a:t>
            </a:r>
            <a:r>
              <a:rPr dirty="0" sz="8250" spc="-10">
                <a:solidFill>
                  <a:srgbClr val="005EC2"/>
                </a:solidFill>
              </a:rPr>
              <a:t>INTEL </a:t>
            </a:r>
            <a:r>
              <a:rPr dirty="0" sz="8250" spc="225">
                <a:solidFill>
                  <a:srgbClr val="005EC2"/>
                </a:solidFill>
              </a:rPr>
              <a:t>INFRAESTRUCTURA </a:t>
            </a:r>
            <a:r>
              <a:rPr dirty="0" sz="8250" spc="440">
                <a:solidFill>
                  <a:srgbClr val="005EC2"/>
                </a:solidFill>
              </a:rPr>
              <a:t>BASE</a:t>
            </a:r>
            <a:r>
              <a:rPr dirty="0" sz="8250" spc="-330">
                <a:solidFill>
                  <a:srgbClr val="005EC2"/>
                </a:solidFill>
              </a:rPr>
              <a:t> </a:t>
            </a:r>
            <a:r>
              <a:rPr dirty="0" sz="8250" spc="235">
                <a:solidFill>
                  <a:srgbClr val="005EC2"/>
                </a:solidFill>
              </a:rPr>
              <a:t>MU</a:t>
            </a:r>
            <a:r>
              <a:rPr dirty="0" sz="8250" spc="-484">
                <a:solidFill>
                  <a:srgbClr val="005EC2"/>
                </a:solidFill>
              </a:rPr>
              <a:t>L</a:t>
            </a:r>
            <a:r>
              <a:rPr dirty="0" sz="8250" spc="229">
                <a:solidFill>
                  <a:srgbClr val="005EC2"/>
                </a:solidFill>
              </a:rPr>
              <a:t>T</a:t>
            </a:r>
            <a:r>
              <a:rPr dirty="0" sz="8250" spc="235">
                <a:solidFill>
                  <a:srgbClr val="005EC2"/>
                </a:solidFill>
              </a:rPr>
              <a:t>I</a:t>
            </a:r>
            <a:r>
              <a:rPr dirty="0" sz="8250" spc="155">
                <a:solidFill>
                  <a:srgbClr val="005EC2"/>
                </a:solidFill>
              </a:rPr>
              <a:t>T</a:t>
            </a:r>
            <a:r>
              <a:rPr dirty="0" sz="8250" spc="235">
                <a:solidFill>
                  <a:srgbClr val="005EC2"/>
                </a:solidFill>
              </a:rPr>
              <a:t>ENA</a:t>
            </a:r>
            <a:r>
              <a:rPr dirty="0" sz="8250" spc="-40">
                <a:solidFill>
                  <a:srgbClr val="005EC2"/>
                </a:solidFill>
              </a:rPr>
              <a:t>N</a:t>
            </a:r>
            <a:r>
              <a:rPr dirty="0" sz="8250" spc="240">
                <a:solidFill>
                  <a:srgbClr val="005EC2"/>
                </a:solidFill>
              </a:rPr>
              <a:t>T</a:t>
            </a:r>
            <a:endParaRPr sz="825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13033" cy="253211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3678715" y="0"/>
            <a:ext cx="4609465" cy="6413500"/>
          </a:xfrm>
          <a:custGeom>
            <a:avLst/>
            <a:gdLst/>
            <a:ahLst/>
            <a:cxnLst/>
            <a:rect l="l" t="t" r="r" b="b"/>
            <a:pathLst>
              <a:path w="4609465" h="6413500">
                <a:moveTo>
                  <a:pt x="3792993" y="166624"/>
                </a:moveTo>
                <a:lnTo>
                  <a:pt x="3864634" y="166624"/>
                </a:lnTo>
                <a:lnTo>
                  <a:pt x="3459336" y="0"/>
                </a:lnTo>
                <a:lnTo>
                  <a:pt x="3387695" y="0"/>
                </a:lnTo>
                <a:lnTo>
                  <a:pt x="3792993" y="166624"/>
                </a:lnTo>
                <a:close/>
              </a:path>
              <a:path w="4609465" h="6413500">
                <a:moveTo>
                  <a:pt x="4609284" y="669470"/>
                </a:moveTo>
                <a:lnTo>
                  <a:pt x="4609284" y="633154"/>
                </a:lnTo>
                <a:lnTo>
                  <a:pt x="4007448" y="237927"/>
                </a:lnTo>
                <a:lnTo>
                  <a:pt x="4014100" y="214159"/>
                </a:lnTo>
                <a:lnTo>
                  <a:pt x="4014337" y="190392"/>
                </a:lnTo>
                <a:lnTo>
                  <a:pt x="4609284" y="65772"/>
                </a:lnTo>
                <a:lnTo>
                  <a:pt x="4609284" y="42980"/>
                </a:lnTo>
                <a:lnTo>
                  <a:pt x="4006009" y="166624"/>
                </a:lnTo>
                <a:lnTo>
                  <a:pt x="3792993" y="166624"/>
                </a:lnTo>
                <a:lnTo>
                  <a:pt x="3850805" y="190392"/>
                </a:lnTo>
                <a:lnTo>
                  <a:pt x="3851043" y="214159"/>
                </a:lnTo>
                <a:lnTo>
                  <a:pt x="3870284" y="261695"/>
                </a:lnTo>
                <a:lnTo>
                  <a:pt x="3991996" y="261695"/>
                </a:lnTo>
                <a:lnTo>
                  <a:pt x="4609284" y="669470"/>
                </a:lnTo>
                <a:close/>
              </a:path>
              <a:path w="4609465" h="6413500">
                <a:moveTo>
                  <a:pt x="3875086" y="142857"/>
                </a:moveTo>
                <a:lnTo>
                  <a:pt x="3989159" y="142857"/>
                </a:lnTo>
                <a:lnTo>
                  <a:pt x="3950648" y="119089"/>
                </a:lnTo>
                <a:lnTo>
                  <a:pt x="3910269" y="119089"/>
                </a:lnTo>
                <a:lnTo>
                  <a:pt x="3875086" y="142857"/>
                </a:lnTo>
                <a:close/>
              </a:path>
              <a:path w="4609465" h="6413500">
                <a:moveTo>
                  <a:pt x="3864634" y="166624"/>
                </a:moveTo>
                <a:lnTo>
                  <a:pt x="4006009" y="166624"/>
                </a:lnTo>
                <a:lnTo>
                  <a:pt x="3991756" y="142857"/>
                </a:lnTo>
                <a:lnTo>
                  <a:pt x="3872710" y="142857"/>
                </a:lnTo>
                <a:lnTo>
                  <a:pt x="3864634" y="166624"/>
                </a:lnTo>
                <a:close/>
              </a:path>
              <a:path w="4609465" h="6413500">
                <a:moveTo>
                  <a:pt x="3911884" y="285462"/>
                </a:moveTo>
                <a:lnTo>
                  <a:pt x="3951822" y="285462"/>
                </a:lnTo>
                <a:lnTo>
                  <a:pt x="3989382" y="261695"/>
                </a:lnTo>
                <a:lnTo>
                  <a:pt x="3877651" y="261695"/>
                </a:lnTo>
                <a:lnTo>
                  <a:pt x="3911884" y="285462"/>
                </a:lnTo>
                <a:close/>
              </a:path>
              <a:path w="4609465" h="6413500">
                <a:moveTo>
                  <a:pt x="1417753" y="355600"/>
                </a:moveTo>
                <a:lnTo>
                  <a:pt x="1551107" y="355600"/>
                </a:lnTo>
                <a:lnTo>
                  <a:pt x="1908563" y="0"/>
                </a:lnTo>
                <a:lnTo>
                  <a:pt x="1869619" y="0"/>
                </a:lnTo>
                <a:lnTo>
                  <a:pt x="1536085" y="330200"/>
                </a:lnTo>
                <a:lnTo>
                  <a:pt x="1428458" y="330200"/>
                </a:lnTo>
                <a:lnTo>
                  <a:pt x="1417753" y="355600"/>
                </a:lnTo>
                <a:close/>
              </a:path>
              <a:path w="4609465" h="6413500">
                <a:moveTo>
                  <a:pt x="26639" y="177800"/>
                </a:moveTo>
                <a:lnTo>
                  <a:pt x="140456" y="177800"/>
                </a:lnTo>
                <a:lnTo>
                  <a:pt x="125728" y="165100"/>
                </a:lnTo>
                <a:lnTo>
                  <a:pt x="191512" y="0"/>
                </a:lnTo>
                <a:lnTo>
                  <a:pt x="162587" y="0"/>
                </a:lnTo>
                <a:lnTo>
                  <a:pt x="98853" y="165100"/>
                </a:lnTo>
                <a:lnTo>
                  <a:pt x="62271" y="165100"/>
                </a:lnTo>
                <a:lnTo>
                  <a:pt x="26639" y="177800"/>
                </a:lnTo>
                <a:close/>
              </a:path>
              <a:path w="4609465" h="6413500">
                <a:moveTo>
                  <a:pt x="1198357" y="368300"/>
                </a:moveTo>
                <a:lnTo>
                  <a:pt x="1410377" y="368300"/>
                </a:lnTo>
                <a:lnTo>
                  <a:pt x="165671" y="228600"/>
                </a:lnTo>
                <a:lnTo>
                  <a:pt x="144973" y="177800"/>
                </a:lnTo>
                <a:lnTo>
                  <a:pt x="22834" y="177800"/>
                </a:lnTo>
                <a:lnTo>
                  <a:pt x="2612" y="228600"/>
                </a:lnTo>
                <a:lnTo>
                  <a:pt x="0" y="228600"/>
                </a:lnTo>
                <a:lnTo>
                  <a:pt x="0" y="254000"/>
                </a:lnTo>
                <a:lnTo>
                  <a:pt x="161102" y="254000"/>
                </a:lnTo>
                <a:lnTo>
                  <a:pt x="1198357" y="368300"/>
                </a:lnTo>
                <a:close/>
              </a:path>
              <a:path w="4609465" h="6413500">
                <a:moveTo>
                  <a:pt x="63055" y="304800"/>
                </a:moveTo>
                <a:lnTo>
                  <a:pt x="143021" y="304800"/>
                </a:lnTo>
                <a:lnTo>
                  <a:pt x="161102" y="254000"/>
                </a:lnTo>
                <a:lnTo>
                  <a:pt x="308" y="254000"/>
                </a:lnTo>
                <a:lnTo>
                  <a:pt x="19817" y="279400"/>
                </a:lnTo>
                <a:lnTo>
                  <a:pt x="24098" y="279400"/>
                </a:lnTo>
                <a:lnTo>
                  <a:pt x="63055" y="304800"/>
                </a:lnTo>
                <a:close/>
              </a:path>
              <a:path w="4609465" h="6413500">
                <a:moveTo>
                  <a:pt x="1448179" y="330200"/>
                </a:moveTo>
                <a:lnTo>
                  <a:pt x="1513990" y="330200"/>
                </a:lnTo>
                <a:lnTo>
                  <a:pt x="1514220" y="304800"/>
                </a:lnTo>
                <a:lnTo>
                  <a:pt x="1470984" y="304800"/>
                </a:lnTo>
                <a:lnTo>
                  <a:pt x="1448179" y="330200"/>
                </a:lnTo>
                <a:close/>
              </a:path>
              <a:path w="4609465" h="6413500">
                <a:moveTo>
                  <a:pt x="1471243" y="2514600"/>
                </a:moveTo>
                <a:lnTo>
                  <a:pt x="1593596" y="2514600"/>
                </a:lnTo>
                <a:lnTo>
                  <a:pt x="1610012" y="2489200"/>
                </a:lnTo>
                <a:lnTo>
                  <a:pt x="1782347" y="2489200"/>
                </a:lnTo>
                <a:lnTo>
                  <a:pt x="1612646" y="2463800"/>
                </a:lnTo>
                <a:lnTo>
                  <a:pt x="1612646" y="2438400"/>
                </a:lnTo>
                <a:lnTo>
                  <a:pt x="1592186" y="2400300"/>
                </a:lnTo>
                <a:lnTo>
                  <a:pt x="1479537" y="2400300"/>
                </a:lnTo>
                <a:lnTo>
                  <a:pt x="956176" y="1943100"/>
                </a:lnTo>
                <a:lnTo>
                  <a:pt x="967595" y="1917700"/>
                </a:lnTo>
                <a:lnTo>
                  <a:pt x="967833" y="1917700"/>
                </a:lnTo>
                <a:lnTo>
                  <a:pt x="967833" y="1866900"/>
                </a:lnTo>
                <a:lnTo>
                  <a:pt x="815225" y="1866900"/>
                </a:lnTo>
                <a:lnTo>
                  <a:pt x="268571" y="1701800"/>
                </a:lnTo>
                <a:lnTo>
                  <a:pt x="103583" y="330200"/>
                </a:lnTo>
                <a:lnTo>
                  <a:pt x="105247" y="330200"/>
                </a:lnTo>
                <a:lnTo>
                  <a:pt x="139928" y="304800"/>
                </a:lnTo>
                <a:lnTo>
                  <a:pt x="76596" y="304800"/>
                </a:lnTo>
                <a:lnTo>
                  <a:pt x="239165" y="1701800"/>
                </a:lnTo>
                <a:lnTo>
                  <a:pt x="240116" y="1727200"/>
                </a:lnTo>
                <a:lnTo>
                  <a:pt x="248910" y="1727200"/>
                </a:lnTo>
                <a:lnTo>
                  <a:pt x="804596" y="1866900"/>
                </a:lnTo>
                <a:lnTo>
                  <a:pt x="804596" y="1892300"/>
                </a:lnTo>
                <a:lnTo>
                  <a:pt x="825532" y="1943100"/>
                </a:lnTo>
                <a:lnTo>
                  <a:pt x="939555" y="1943100"/>
                </a:lnTo>
                <a:lnTo>
                  <a:pt x="1462916" y="2413000"/>
                </a:lnTo>
                <a:lnTo>
                  <a:pt x="1451021" y="2413000"/>
                </a:lnTo>
                <a:lnTo>
                  <a:pt x="1451021" y="2438400"/>
                </a:lnTo>
                <a:lnTo>
                  <a:pt x="1450783" y="2438400"/>
                </a:lnTo>
                <a:lnTo>
                  <a:pt x="1450783" y="2463800"/>
                </a:lnTo>
                <a:lnTo>
                  <a:pt x="1471243" y="2514600"/>
                </a:lnTo>
                <a:close/>
              </a:path>
              <a:path w="4609465" h="6413500">
                <a:moveTo>
                  <a:pt x="1426506" y="444500"/>
                </a:moveTo>
                <a:lnTo>
                  <a:pt x="1546825" y="444500"/>
                </a:lnTo>
                <a:lnTo>
                  <a:pt x="1558006" y="419100"/>
                </a:lnTo>
                <a:lnTo>
                  <a:pt x="1566809" y="419100"/>
                </a:lnTo>
                <a:lnTo>
                  <a:pt x="1566809" y="368300"/>
                </a:lnTo>
                <a:lnTo>
                  <a:pt x="1554676" y="355600"/>
                </a:lnTo>
                <a:lnTo>
                  <a:pt x="1416325" y="355600"/>
                </a:lnTo>
                <a:lnTo>
                  <a:pt x="1410377" y="368300"/>
                </a:lnTo>
                <a:lnTo>
                  <a:pt x="1198357" y="368300"/>
                </a:lnTo>
                <a:lnTo>
                  <a:pt x="1405808" y="393700"/>
                </a:lnTo>
                <a:lnTo>
                  <a:pt x="1406046" y="393700"/>
                </a:lnTo>
                <a:lnTo>
                  <a:pt x="1426506" y="444500"/>
                </a:lnTo>
                <a:close/>
              </a:path>
              <a:path w="4609465" h="6413500">
                <a:moveTo>
                  <a:pt x="830678" y="1841500"/>
                </a:moveTo>
                <a:lnTo>
                  <a:pt x="945463" y="1841500"/>
                </a:lnTo>
                <a:lnTo>
                  <a:pt x="931210" y="1828800"/>
                </a:lnTo>
                <a:lnTo>
                  <a:pt x="1470048" y="469900"/>
                </a:lnTo>
                <a:lnTo>
                  <a:pt x="1527344" y="469900"/>
                </a:lnTo>
                <a:lnTo>
                  <a:pt x="1543972" y="444500"/>
                </a:lnTo>
                <a:lnTo>
                  <a:pt x="1428647" y="444500"/>
                </a:lnTo>
                <a:lnTo>
                  <a:pt x="1444800" y="469900"/>
                </a:lnTo>
                <a:lnTo>
                  <a:pt x="904563" y="1828800"/>
                </a:lnTo>
                <a:lnTo>
                  <a:pt x="856808" y="1828800"/>
                </a:lnTo>
                <a:lnTo>
                  <a:pt x="830678" y="1841500"/>
                </a:lnTo>
                <a:close/>
              </a:path>
              <a:path w="4609465" h="6413500">
                <a:moveTo>
                  <a:pt x="1782347" y="2489200"/>
                </a:moveTo>
                <a:lnTo>
                  <a:pt x="1807810" y="2489200"/>
                </a:lnTo>
                <a:lnTo>
                  <a:pt x="1509290" y="469900"/>
                </a:lnTo>
                <a:lnTo>
                  <a:pt x="1484301" y="469900"/>
                </a:lnTo>
                <a:lnTo>
                  <a:pt x="1782347" y="2489200"/>
                </a:lnTo>
                <a:close/>
              </a:path>
              <a:path w="4609465" h="6413500">
                <a:moveTo>
                  <a:pt x="4252313" y="1841500"/>
                </a:moveTo>
                <a:lnTo>
                  <a:pt x="4277681" y="1841500"/>
                </a:lnTo>
                <a:lnTo>
                  <a:pt x="4609284" y="1473200"/>
                </a:lnTo>
                <a:lnTo>
                  <a:pt x="4609284" y="1435100"/>
                </a:lnTo>
                <a:lnTo>
                  <a:pt x="4252313" y="1841500"/>
                </a:lnTo>
                <a:close/>
              </a:path>
              <a:path w="4609465" h="6413500">
                <a:moveTo>
                  <a:pt x="4166732" y="1841500"/>
                </a:moveTo>
                <a:lnTo>
                  <a:pt x="4252313" y="1841500"/>
                </a:lnTo>
                <a:lnTo>
                  <a:pt x="4229967" y="1828800"/>
                </a:lnTo>
                <a:lnTo>
                  <a:pt x="4192882" y="1828800"/>
                </a:lnTo>
                <a:lnTo>
                  <a:pt x="4166732" y="1841500"/>
                </a:lnTo>
                <a:close/>
              </a:path>
              <a:path w="4609465" h="6413500">
                <a:moveTo>
                  <a:pt x="4131087" y="1892300"/>
                </a:moveTo>
                <a:lnTo>
                  <a:pt x="4294785" y="1892300"/>
                </a:lnTo>
                <a:lnTo>
                  <a:pt x="4281007" y="1866900"/>
                </a:lnTo>
                <a:lnTo>
                  <a:pt x="4279582" y="1841500"/>
                </a:lnTo>
                <a:lnTo>
                  <a:pt x="4148428" y="1841500"/>
                </a:lnTo>
                <a:lnTo>
                  <a:pt x="4131087" y="1892300"/>
                </a:lnTo>
                <a:close/>
              </a:path>
              <a:path w="4609465" h="6413500">
                <a:moveTo>
                  <a:pt x="815225" y="1866900"/>
                </a:moveTo>
                <a:lnTo>
                  <a:pt x="967357" y="1866900"/>
                </a:lnTo>
                <a:lnTo>
                  <a:pt x="946897" y="1841500"/>
                </a:lnTo>
                <a:lnTo>
                  <a:pt x="823314" y="1841500"/>
                </a:lnTo>
                <a:lnTo>
                  <a:pt x="815225" y="1866900"/>
                </a:lnTo>
                <a:close/>
              </a:path>
              <a:path w="4609465" h="6413500">
                <a:moveTo>
                  <a:pt x="1934940" y="3987800"/>
                </a:moveTo>
                <a:lnTo>
                  <a:pt x="2081808" y="3987800"/>
                </a:lnTo>
                <a:lnTo>
                  <a:pt x="2081808" y="3937000"/>
                </a:lnTo>
                <a:lnTo>
                  <a:pt x="2068724" y="3911600"/>
                </a:lnTo>
                <a:lnTo>
                  <a:pt x="4163833" y="1968500"/>
                </a:lnTo>
                <a:lnTo>
                  <a:pt x="4274599" y="1968500"/>
                </a:lnTo>
                <a:lnTo>
                  <a:pt x="4292177" y="1917700"/>
                </a:lnTo>
                <a:lnTo>
                  <a:pt x="4294077" y="1917700"/>
                </a:lnTo>
                <a:lnTo>
                  <a:pt x="4609284" y="1905000"/>
                </a:lnTo>
                <a:lnTo>
                  <a:pt x="4609284" y="1879600"/>
                </a:lnTo>
                <a:lnTo>
                  <a:pt x="4294785" y="1892300"/>
                </a:lnTo>
                <a:lnTo>
                  <a:pt x="4129187" y="1892300"/>
                </a:lnTo>
                <a:lnTo>
                  <a:pt x="4129187" y="1917700"/>
                </a:lnTo>
                <a:lnTo>
                  <a:pt x="4032463" y="1943100"/>
                </a:lnTo>
                <a:lnTo>
                  <a:pt x="4147154" y="1943100"/>
                </a:lnTo>
                <a:lnTo>
                  <a:pt x="2052282" y="3886200"/>
                </a:lnTo>
                <a:lnTo>
                  <a:pt x="1940167" y="3886200"/>
                </a:lnTo>
                <a:lnTo>
                  <a:pt x="1931840" y="3911600"/>
                </a:lnTo>
                <a:lnTo>
                  <a:pt x="1780199" y="3911600"/>
                </a:lnTo>
                <a:lnTo>
                  <a:pt x="1920190" y="3937000"/>
                </a:lnTo>
                <a:lnTo>
                  <a:pt x="1920428" y="3962400"/>
                </a:lnTo>
                <a:lnTo>
                  <a:pt x="1934940" y="3987800"/>
                </a:lnTo>
                <a:close/>
              </a:path>
              <a:path w="4609465" h="6413500">
                <a:moveTo>
                  <a:pt x="1940167" y="3886200"/>
                </a:moveTo>
                <a:lnTo>
                  <a:pt x="1964148" y="3886200"/>
                </a:lnTo>
                <a:lnTo>
                  <a:pt x="1271759" y="2959100"/>
                </a:lnTo>
                <a:lnTo>
                  <a:pt x="1808192" y="2514600"/>
                </a:lnTo>
                <a:lnTo>
                  <a:pt x="4140978" y="1943100"/>
                </a:lnTo>
                <a:lnTo>
                  <a:pt x="4032463" y="1943100"/>
                </a:lnTo>
                <a:lnTo>
                  <a:pt x="1807810" y="2489200"/>
                </a:lnTo>
                <a:lnTo>
                  <a:pt x="1610012" y="2489200"/>
                </a:lnTo>
                <a:lnTo>
                  <a:pt x="1769492" y="2514600"/>
                </a:lnTo>
                <a:lnTo>
                  <a:pt x="1300083" y="2921000"/>
                </a:lnTo>
                <a:lnTo>
                  <a:pt x="1264026" y="2921000"/>
                </a:lnTo>
                <a:lnTo>
                  <a:pt x="1238557" y="2959100"/>
                </a:lnTo>
                <a:lnTo>
                  <a:pt x="1236418" y="2959100"/>
                </a:lnTo>
                <a:lnTo>
                  <a:pt x="1248078" y="3035300"/>
                </a:lnTo>
                <a:lnTo>
                  <a:pt x="1272537" y="3035300"/>
                </a:lnTo>
                <a:lnTo>
                  <a:pt x="1940167" y="3886200"/>
                </a:lnTo>
                <a:close/>
              </a:path>
              <a:path w="4609465" h="6413500">
                <a:moveTo>
                  <a:pt x="868054" y="1968500"/>
                </a:moveTo>
                <a:lnTo>
                  <a:pt x="904636" y="1968500"/>
                </a:lnTo>
                <a:lnTo>
                  <a:pt x="939317" y="1943100"/>
                </a:lnTo>
                <a:lnTo>
                  <a:pt x="826721" y="1943100"/>
                </a:lnTo>
                <a:lnTo>
                  <a:pt x="868054" y="1968500"/>
                </a:lnTo>
                <a:close/>
              </a:path>
              <a:path w="4609465" h="6413500">
                <a:moveTo>
                  <a:pt x="4609284" y="2565400"/>
                </a:moveTo>
                <a:lnTo>
                  <a:pt x="4609284" y="2514600"/>
                </a:lnTo>
                <a:lnTo>
                  <a:pt x="4268181" y="1968500"/>
                </a:lnTo>
                <a:lnTo>
                  <a:pt x="4174531" y="1968500"/>
                </a:lnTo>
                <a:lnTo>
                  <a:pt x="4166194" y="1993900"/>
                </a:lnTo>
                <a:lnTo>
                  <a:pt x="4245120" y="1993900"/>
                </a:lnTo>
                <a:lnTo>
                  <a:pt x="4609284" y="2565400"/>
                </a:lnTo>
                <a:close/>
              </a:path>
              <a:path w="4609465" h="6413500">
                <a:moveTo>
                  <a:pt x="4609284" y="4622800"/>
                </a:moveTo>
                <a:lnTo>
                  <a:pt x="4609284" y="4572000"/>
                </a:lnTo>
                <a:lnTo>
                  <a:pt x="3671838" y="3492500"/>
                </a:lnTo>
                <a:lnTo>
                  <a:pt x="3697507" y="3467100"/>
                </a:lnTo>
                <a:lnTo>
                  <a:pt x="3677304" y="3467100"/>
                </a:lnTo>
                <a:lnTo>
                  <a:pt x="4202805" y="1993900"/>
                </a:lnTo>
                <a:lnTo>
                  <a:pt x="4166194" y="1993900"/>
                </a:lnTo>
                <a:lnTo>
                  <a:pt x="3640949" y="3492500"/>
                </a:lnTo>
                <a:lnTo>
                  <a:pt x="3580698" y="3505200"/>
                </a:lnTo>
                <a:lnTo>
                  <a:pt x="3649984" y="3505200"/>
                </a:lnTo>
                <a:lnTo>
                  <a:pt x="4609284" y="4622800"/>
                </a:lnTo>
                <a:close/>
              </a:path>
              <a:path w="4609465" h="6413500">
                <a:moveTo>
                  <a:pt x="1479774" y="2400300"/>
                </a:moveTo>
                <a:lnTo>
                  <a:pt x="1585720" y="2400300"/>
                </a:lnTo>
                <a:lnTo>
                  <a:pt x="1550088" y="2374900"/>
                </a:lnTo>
                <a:lnTo>
                  <a:pt x="1514456" y="2374900"/>
                </a:lnTo>
                <a:lnTo>
                  <a:pt x="1479774" y="2400300"/>
                </a:lnTo>
                <a:close/>
              </a:path>
              <a:path w="4609465" h="6413500">
                <a:moveTo>
                  <a:pt x="1264026" y="2921000"/>
                </a:moveTo>
                <a:lnTo>
                  <a:pt x="1300083" y="2921000"/>
                </a:lnTo>
                <a:lnTo>
                  <a:pt x="1507838" y="2540000"/>
                </a:lnTo>
                <a:lnTo>
                  <a:pt x="1550834" y="2540000"/>
                </a:lnTo>
                <a:lnTo>
                  <a:pt x="1591217" y="2514600"/>
                </a:lnTo>
                <a:lnTo>
                  <a:pt x="1480511" y="2514600"/>
                </a:lnTo>
                <a:lnTo>
                  <a:pt x="1264026" y="2921000"/>
                </a:lnTo>
                <a:close/>
              </a:path>
              <a:path w="4609465" h="6413500">
                <a:moveTo>
                  <a:pt x="1622879" y="3911600"/>
                </a:moveTo>
                <a:lnTo>
                  <a:pt x="1927082" y="3911600"/>
                </a:lnTo>
                <a:lnTo>
                  <a:pt x="1787091" y="3886200"/>
                </a:lnTo>
                <a:lnTo>
                  <a:pt x="1787091" y="3873500"/>
                </a:lnTo>
                <a:lnTo>
                  <a:pt x="1777575" y="3873500"/>
                </a:lnTo>
                <a:lnTo>
                  <a:pt x="1777337" y="3848100"/>
                </a:lnTo>
                <a:lnTo>
                  <a:pt x="1634492" y="3848100"/>
                </a:lnTo>
                <a:lnTo>
                  <a:pt x="1397054" y="3771900"/>
                </a:lnTo>
                <a:lnTo>
                  <a:pt x="1272537" y="3035300"/>
                </a:lnTo>
                <a:lnTo>
                  <a:pt x="1248078" y="3035300"/>
                </a:lnTo>
                <a:lnTo>
                  <a:pt x="1368566" y="3771900"/>
                </a:lnTo>
                <a:lnTo>
                  <a:pt x="1377598" y="3771900"/>
                </a:lnTo>
                <a:lnTo>
                  <a:pt x="1622641" y="3873500"/>
                </a:lnTo>
                <a:lnTo>
                  <a:pt x="1622641" y="3886200"/>
                </a:lnTo>
                <a:lnTo>
                  <a:pt x="1622879" y="3911600"/>
                </a:lnTo>
                <a:close/>
              </a:path>
              <a:path w="4609465" h="6413500">
                <a:moveTo>
                  <a:pt x="2205166" y="5168900"/>
                </a:moveTo>
                <a:lnTo>
                  <a:pt x="2361317" y="5168900"/>
                </a:lnTo>
                <a:lnTo>
                  <a:pt x="2347756" y="5156200"/>
                </a:lnTo>
                <a:lnTo>
                  <a:pt x="3649984" y="3505200"/>
                </a:lnTo>
                <a:lnTo>
                  <a:pt x="3580698" y="3505200"/>
                </a:lnTo>
                <a:lnTo>
                  <a:pt x="3520448" y="3530600"/>
                </a:lnTo>
                <a:lnTo>
                  <a:pt x="3608118" y="3530600"/>
                </a:lnTo>
                <a:lnTo>
                  <a:pt x="2325859" y="5130800"/>
                </a:lnTo>
                <a:lnTo>
                  <a:pt x="2224912" y="5130800"/>
                </a:lnTo>
                <a:lnTo>
                  <a:pt x="2205166" y="5168900"/>
                </a:lnTo>
                <a:close/>
              </a:path>
              <a:path w="4609465" h="6413500">
                <a:moveTo>
                  <a:pt x="1866031" y="4267200"/>
                </a:moveTo>
                <a:lnTo>
                  <a:pt x="1943895" y="4267200"/>
                </a:lnTo>
                <a:lnTo>
                  <a:pt x="1964117" y="4229100"/>
                </a:lnTo>
                <a:lnTo>
                  <a:pt x="1964117" y="4203700"/>
                </a:lnTo>
                <a:lnTo>
                  <a:pt x="3608118" y="3530600"/>
                </a:lnTo>
                <a:lnTo>
                  <a:pt x="3520448" y="3530600"/>
                </a:lnTo>
                <a:lnTo>
                  <a:pt x="1953928" y="4152900"/>
                </a:lnTo>
                <a:lnTo>
                  <a:pt x="1814467" y="4152900"/>
                </a:lnTo>
                <a:lnTo>
                  <a:pt x="1803999" y="4178300"/>
                </a:lnTo>
                <a:lnTo>
                  <a:pt x="1803761" y="4178300"/>
                </a:lnTo>
                <a:lnTo>
                  <a:pt x="1803761" y="4229100"/>
                </a:lnTo>
                <a:lnTo>
                  <a:pt x="1824221" y="4254500"/>
                </a:lnTo>
                <a:lnTo>
                  <a:pt x="1826599" y="4254500"/>
                </a:lnTo>
                <a:lnTo>
                  <a:pt x="1866031" y="4267200"/>
                </a:lnTo>
                <a:close/>
              </a:path>
              <a:path w="4609465" h="6413500">
                <a:moveTo>
                  <a:pt x="1646385" y="3848100"/>
                </a:moveTo>
                <a:lnTo>
                  <a:pt x="1764016" y="3848100"/>
                </a:lnTo>
                <a:lnTo>
                  <a:pt x="1743587" y="3822700"/>
                </a:lnTo>
                <a:lnTo>
                  <a:pt x="1665389" y="3822700"/>
                </a:lnTo>
                <a:lnTo>
                  <a:pt x="1646385" y="3848100"/>
                </a:lnTo>
                <a:close/>
              </a:path>
              <a:path w="4609465" h="6413500">
                <a:moveTo>
                  <a:pt x="1964148" y="3886200"/>
                </a:moveTo>
                <a:lnTo>
                  <a:pt x="2043965" y="3886200"/>
                </a:lnTo>
                <a:lnTo>
                  <a:pt x="2021161" y="3873500"/>
                </a:lnTo>
                <a:lnTo>
                  <a:pt x="1982201" y="3873500"/>
                </a:lnTo>
                <a:lnTo>
                  <a:pt x="1964148" y="3886200"/>
                </a:lnTo>
                <a:close/>
              </a:path>
              <a:path w="4609465" h="6413500">
                <a:moveTo>
                  <a:pt x="1635250" y="3937000"/>
                </a:moveTo>
                <a:lnTo>
                  <a:pt x="1765211" y="3937000"/>
                </a:lnTo>
                <a:lnTo>
                  <a:pt x="1773776" y="3911600"/>
                </a:lnTo>
                <a:lnTo>
                  <a:pt x="1634061" y="3911600"/>
                </a:lnTo>
                <a:lnTo>
                  <a:pt x="1635250" y="3937000"/>
                </a:lnTo>
                <a:close/>
              </a:path>
              <a:path w="4609465" h="6413500">
                <a:moveTo>
                  <a:pt x="1665670" y="3962400"/>
                </a:moveTo>
                <a:lnTo>
                  <a:pt x="1743830" y="3962400"/>
                </a:lnTo>
                <a:lnTo>
                  <a:pt x="1763309" y="3937000"/>
                </a:lnTo>
                <a:lnTo>
                  <a:pt x="1645717" y="3937000"/>
                </a:lnTo>
                <a:lnTo>
                  <a:pt x="1665670" y="3962400"/>
                </a:lnTo>
                <a:close/>
              </a:path>
              <a:path w="4609465" h="6413500">
                <a:moveTo>
                  <a:pt x="1940412" y="4013200"/>
                </a:moveTo>
                <a:lnTo>
                  <a:pt x="2063965" y="4013200"/>
                </a:lnTo>
                <a:lnTo>
                  <a:pt x="2074195" y="3987800"/>
                </a:lnTo>
                <a:lnTo>
                  <a:pt x="1935178" y="3987800"/>
                </a:lnTo>
                <a:lnTo>
                  <a:pt x="1940412" y="4013200"/>
                </a:lnTo>
                <a:close/>
              </a:path>
              <a:path w="4609465" h="6413500">
                <a:moveTo>
                  <a:pt x="1814467" y="4152900"/>
                </a:moveTo>
                <a:lnTo>
                  <a:pt x="1943461" y="4152900"/>
                </a:lnTo>
                <a:lnTo>
                  <a:pt x="1926358" y="4127500"/>
                </a:lnTo>
                <a:lnTo>
                  <a:pt x="1978209" y="4038600"/>
                </a:lnTo>
                <a:lnTo>
                  <a:pt x="2020732" y="4038600"/>
                </a:lnTo>
                <a:lnTo>
                  <a:pt x="2060640" y="4013200"/>
                </a:lnTo>
                <a:lnTo>
                  <a:pt x="1952527" y="4013200"/>
                </a:lnTo>
                <a:lnTo>
                  <a:pt x="1899764" y="4102100"/>
                </a:lnTo>
                <a:lnTo>
                  <a:pt x="1866032" y="4102100"/>
                </a:lnTo>
                <a:lnTo>
                  <a:pt x="1826125" y="4127500"/>
                </a:lnTo>
                <a:lnTo>
                  <a:pt x="1824935" y="4127500"/>
                </a:lnTo>
                <a:lnTo>
                  <a:pt x="1814467" y="4152900"/>
                </a:lnTo>
                <a:close/>
              </a:path>
              <a:path w="4609465" h="6413500">
                <a:moveTo>
                  <a:pt x="2244154" y="5130800"/>
                </a:moveTo>
                <a:lnTo>
                  <a:pt x="2269798" y="5130800"/>
                </a:lnTo>
                <a:lnTo>
                  <a:pt x="1925601" y="4267200"/>
                </a:lnTo>
                <a:lnTo>
                  <a:pt x="1902138" y="4267200"/>
                </a:lnTo>
                <a:lnTo>
                  <a:pt x="2244154" y="5130800"/>
                </a:lnTo>
                <a:close/>
              </a:path>
              <a:path w="4609465" h="6413500">
                <a:moveTo>
                  <a:pt x="3366458" y="5435600"/>
                </a:moveTo>
                <a:lnTo>
                  <a:pt x="3483371" y="5435600"/>
                </a:lnTo>
                <a:lnTo>
                  <a:pt x="2368911" y="5194300"/>
                </a:lnTo>
                <a:lnTo>
                  <a:pt x="4609284" y="4724400"/>
                </a:lnTo>
                <a:lnTo>
                  <a:pt x="4609284" y="4699000"/>
                </a:lnTo>
                <a:lnTo>
                  <a:pt x="4503403" y="4724400"/>
                </a:lnTo>
                <a:lnTo>
                  <a:pt x="2361317" y="5168900"/>
                </a:lnTo>
                <a:lnTo>
                  <a:pt x="2205166" y="5168900"/>
                </a:lnTo>
                <a:lnTo>
                  <a:pt x="2205166" y="5219700"/>
                </a:lnTo>
                <a:lnTo>
                  <a:pt x="2363443" y="5219700"/>
                </a:lnTo>
                <a:lnTo>
                  <a:pt x="3366458" y="5435600"/>
                </a:lnTo>
                <a:close/>
              </a:path>
              <a:path w="4609465" h="6413500">
                <a:moveTo>
                  <a:pt x="3498333" y="5537200"/>
                </a:moveTo>
                <a:lnTo>
                  <a:pt x="3619090" y="5537200"/>
                </a:lnTo>
                <a:lnTo>
                  <a:pt x="3639044" y="5486400"/>
                </a:lnTo>
                <a:lnTo>
                  <a:pt x="3639044" y="5461000"/>
                </a:lnTo>
                <a:lnTo>
                  <a:pt x="3632630" y="5435600"/>
                </a:lnTo>
                <a:lnTo>
                  <a:pt x="4609284" y="4762500"/>
                </a:lnTo>
                <a:lnTo>
                  <a:pt x="4609284" y="4737100"/>
                </a:lnTo>
                <a:lnTo>
                  <a:pt x="4590184" y="4749800"/>
                </a:lnTo>
                <a:lnTo>
                  <a:pt x="3617419" y="5410200"/>
                </a:lnTo>
                <a:lnTo>
                  <a:pt x="3497862" y="5410200"/>
                </a:lnTo>
                <a:lnTo>
                  <a:pt x="3483371" y="5435600"/>
                </a:lnTo>
                <a:lnTo>
                  <a:pt x="3366458" y="5435600"/>
                </a:lnTo>
                <a:lnTo>
                  <a:pt x="3477904" y="5461000"/>
                </a:lnTo>
                <a:lnTo>
                  <a:pt x="3478141" y="5486400"/>
                </a:lnTo>
                <a:lnTo>
                  <a:pt x="3498333" y="5537200"/>
                </a:lnTo>
                <a:close/>
              </a:path>
              <a:path w="4609465" h="6413500">
                <a:moveTo>
                  <a:pt x="4609284" y="6159500"/>
                </a:moveTo>
                <a:lnTo>
                  <a:pt x="4609284" y="6134100"/>
                </a:lnTo>
                <a:lnTo>
                  <a:pt x="3853414" y="5981700"/>
                </a:lnTo>
                <a:lnTo>
                  <a:pt x="4609284" y="4851400"/>
                </a:lnTo>
                <a:lnTo>
                  <a:pt x="4609284" y="4800600"/>
                </a:lnTo>
                <a:lnTo>
                  <a:pt x="3832991" y="5956300"/>
                </a:lnTo>
                <a:lnTo>
                  <a:pt x="3806267" y="5956300"/>
                </a:lnTo>
                <a:lnTo>
                  <a:pt x="3819220" y="5981700"/>
                </a:lnTo>
                <a:lnTo>
                  <a:pt x="3812209" y="6007100"/>
                </a:lnTo>
                <a:lnTo>
                  <a:pt x="3840604" y="6007100"/>
                </a:lnTo>
                <a:lnTo>
                  <a:pt x="4609284" y="6159500"/>
                </a:lnTo>
                <a:close/>
              </a:path>
              <a:path w="4609465" h="6413500">
                <a:moveTo>
                  <a:pt x="4583189" y="6413500"/>
                </a:moveTo>
                <a:lnTo>
                  <a:pt x="4609284" y="6413500"/>
                </a:lnTo>
                <a:lnTo>
                  <a:pt x="4609284" y="6388100"/>
                </a:lnTo>
                <a:lnTo>
                  <a:pt x="3832991" y="6273800"/>
                </a:lnTo>
                <a:lnTo>
                  <a:pt x="3833464" y="6273800"/>
                </a:lnTo>
                <a:lnTo>
                  <a:pt x="3833464" y="6248400"/>
                </a:lnTo>
                <a:lnTo>
                  <a:pt x="3833227" y="6248400"/>
                </a:lnTo>
                <a:lnTo>
                  <a:pt x="3826338" y="6223000"/>
                </a:lnTo>
                <a:lnTo>
                  <a:pt x="3825863" y="6223000"/>
                </a:lnTo>
                <a:lnTo>
                  <a:pt x="3812323" y="6197600"/>
                </a:lnTo>
                <a:lnTo>
                  <a:pt x="3694663" y="6197600"/>
                </a:lnTo>
                <a:lnTo>
                  <a:pt x="2360588" y="5245100"/>
                </a:lnTo>
                <a:lnTo>
                  <a:pt x="2363443" y="5219700"/>
                </a:lnTo>
                <a:lnTo>
                  <a:pt x="2205642" y="5219700"/>
                </a:lnTo>
                <a:lnTo>
                  <a:pt x="2225388" y="5245100"/>
                </a:lnTo>
                <a:lnTo>
                  <a:pt x="2227288" y="5270500"/>
                </a:lnTo>
                <a:lnTo>
                  <a:pt x="2347724" y="5270500"/>
                </a:lnTo>
                <a:lnTo>
                  <a:pt x="3682509" y="6223000"/>
                </a:lnTo>
                <a:lnTo>
                  <a:pt x="3674670" y="6248400"/>
                </a:lnTo>
                <a:lnTo>
                  <a:pt x="3674670" y="6273800"/>
                </a:lnTo>
                <a:lnTo>
                  <a:pt x="3681322" y="6286500"/>
                </a:lnTo>
                <a:lnTo>
                  <a:pt x="3832728" y="6286500"/>
                </a:lnTo>
                <a:lnTo>
                  <a:pt x="4583189" y="6413500"/>
                </a:lnTo>
                <a:close/>
              </a:path>
              <a:path w="4609465" h="6413500">
                <a:moveTo>
                  <a:pt x="3501425" y="5410200"/>
                </a:moveTo>
                <a:lnTo>
                  <a:pt x="3609353" y="5410200"/>
                </a:lnTo>
                <a:lnTo>
                  <a:pt x="3577022" y="5384800"/>
                </a:lnTo>
                <a:lnTo>
                  <a:pt x="3540413" y="5384800"/>
                </a:lnTo>
                <a:lnTo>
                  <a:pt x="3501425" y="5410200"/>
                </a:lnTo>
                <a:close/>
              </a:path>
              <a:path w="4609465" h="6413500">
                <a:moveTo>
                  <a:pt x="3806267" y="5956300"/>
                </a:moveTo>
                <a:lnTo>
                  <a:pt x="3832991" y="5956300"/>
                </a:lnTo>
                <a:lnTo>
                  <a:pt x="3609821" y="5537200"/>
                </a:lnTo>
                <a:lnTo>
                  <a:pt x="3501659" y="5537200"/>
                </a:lnTo>
                <a:lnTo>
                  <a:pt x="3540408" y="5549900"/>
                </a:lnTo>
                <a:lnTo>
                  <a:pt x="3586060" y="5549900"/>
                </a:lnTo>
                <a:lnTo>
                  <a:pt x="3806267" y="5956300"/>
                </a:lnTo>
                <a:close/>
              </a:path>
              <a:path w="4609465" h="6413500">
                <a:moveTo>
                  <a:pt x="3695139" y="6197600"/>
                </a:moveTo>
                <a:lnTo>
                  <a:pt x="3786414" y="6197600"/>
                </a:lnTo>
                <a:lnTo>
                  <a:pt x="3840604" y="6007100"/>
                </a:lnTo>
                <a:lnTo>
                  <a:pt x="3812209" y="6007100"/>
                </a:lnTo>
                <a:lnTo>
                  <a:pt x="3763129" y="6172200"/>
                </a:lnTo>
                <a:lnTo>
                  <a:pt x="3736028" y="6172200"/>
                </a:lnTo>
                <a:lnTo>
                  <a:pt x="3695139" y="6197600"/>
                </a:lnTo>
                <a:close/>
              </a:path>
              <a:path w="4609465" h="6413500">
                <a:moveTo>
                  <a:pt x="3694624" y="6311900"/>
                </a:moveTo>
                <a:lnTo>
                  <a:pt x="3822039" y="6311900"/>
                </a:lnTo>
                <a:lnTo>
                  <a:pt x="3832728" y="6286500"/>
                </a:lnTo>
                <a:lnTo>
                  <a:pt x="3681797" y="6286500"/>
                </a:lnTo>
                <a:lnTo>
                  <a:pt x="3694624" y="6311900"/>
                </a:lnTo>
                <a:close/>
              </a:path>
              <a:path w="4609465" h="6413500">
                <a:moveTo>
                  <a:pt x="3714829" y="6337300"/>
                </a:moveTo>
                <a:lnTo>
                  <a:pt x="3785434" y="6337300"/>
                </a:lnTo>
                <a:lnTo>
                  <a:pt x="3814674" y="6311900"/>
                </a:lnTo>
                <a:lnTo>
                  <a:pt x="3706985" y="6311900"/>
                </a:lnTo>
                <a:lnTo>
                  <a:pt x="3714829" y="6337300"/>
                </a:lnTo>
                <a:close/>
              </a:path>
            </a:pathLst>
          </a:custGeom>
          <a:solidFill>
            <a:srgbClr val="005E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909003" y="6893969"/>
            <a:ext cx="7534909" cy="832485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12700" marR="2177415">
              <a:lnSpc>
                <a:spcPts val="2070"/>
              </a:lnSpc>
              <a:spcBef>
                <a:spcPts val="285"/>
              </a:spcBef>
            </a:pPr>
            <a:r>
              <a:rPr dirty="0" sz="1850" spc="-60" b="1">
                <a:solidFill>
                  <a:srgbClr val="005EC2"/>
                </a:solidFill>
                <a:latin typeface="Arial"/>
                <a:cs typeface="Arial"/>
              </a:rPr>
              <a:t>Inteligencia</a:t>
            </a:r>
            <a:r>
              <a:rPr dirty="0" sz="1850" spc="-40" b="1">
                <a:solidFill>
                  <a:srgbClr val="005EC2"/>
                </a:solidFill>
                <a:latin typeface="Arial"/>
                <a:cs typeface="Arial"/>
              </a:rPr>
              <a:t> </a:t>
            </a:r>
            <a:r>
              <a:rPr dirty="0" sz="1850" spc="-50" b="1">
                <a:solidFill>
                  <a:srgbClr val="005EC2"/>
                </a:solidFill>
                <a:latin typeface="Arial"/>
                <a:cs typeface="Arial"/>
              </a:rPr>
              <a:t>de</a:t>
            </a:r>
            <a:r>
              <a:rPr dirty="0" sz="1850" spc="-30" b="1">
                <a:solidFill>
                  <a:srgbClr val="005EC2"/>
                </a:solidFill>
                <a:latin typeface="Arial"/>
                <a:cs typeface="Arial"/>
              </a:rPr>
              <a:t> </a:t>
            </a:r>
            <a:r>
              <a:rPr dirty="0" sz="1850" spc="-85" b="1">
                <a:solidFill>
                  <a:srgbClr val="005EC2"/>
                </a:solidFill>
                <a:latin typeface="Arial"/>
                <a:cs typeface="Arial"/>
              </a:rPr>
              <a:t>Mercado</a:t>
            </a:r>
            <a:r>
              <a:rPr dirty="0" sz="1850" spc="-25" b="1">
                <a:solidFill>
                  <a:srgbClr val="005EC2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005EC2"/>
                </a:solidFill>
                <a:latin typeface="Arial"/>
                <a:cs typeface="Arial"/>
              </a:rPr>
              <a:t>|</a:t>
            </a:r>
            <a:r>
              <a:rPr dirty="0" sz="1850" spc="-30" b="1">
                <a:solidFill>
                  <a:srgbClr val="005EC2"/>
                </a:solidFill>
                <a:latin typeface="Arial"/>
                <a:cs typeface="Arial"/>
              </a:rPr>
              <a:t> </a:t>
            </a:r>
            <a:r>
              <a:rPr dirty="0" sz="1850" spc="-110" b="1">
                <a:solidFill>
                  <a:srgbClr val="005EC2"/>
                </a:solidFill>
                <a:latin typeface="Arial"/>
                <a:cs typeface="Arial"/>
              </a:rPr>
              <a:t>Capstone</a:t>
            </a:r>
            <a:r>
              <a:rPr dirty="0" sz="1850" spc="-15" b="1">
                <a:solidFill>
                  <a:srgbClr val="005EC2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005EC2"/>
                </a:solidFill>
                <a:latin typeface="Arial"/>
                <a:cs typeface="Arial"/>
              </a:rPr>
              <a:t>|</a:t>
            </a:r>
            <a:r>
              <a:rPr dirty="0" sz="1850" spc="-30" b="1">
                <a:solidFill>
                  <a:srgbClr val="005EC2"/>
                </a:solidFill>
                <a:latin typeface="Arial"/>
                <a:cs typeface="Arial"/>
              </a:rPr>
              <a:t> </a:t>
            </a:r>
            <a:r>
              <a:rPr dirty="0" sz="1850" spc="-100" b="1">
                <a:solidFill>
                  <a:srgbClr val="005EC2"/>
                </a:solidFill>
                <a:latin typeface="Arial"/>
                <a:cs typeface="Arial"/>
              </a:rPr>
              <a:t>Grupo</a:t>
            </a:r>
            <a:r>
              <a:rPr dirty="0" sz="1850" spc="-30" b="1">
                <a:solidFill>
                  <a:srgbClr val="005EC2"/>
                </a:solidFill>
                <a:latin typeface="Arial"/>
                <a:cs typeface="Arial"/>
              </a:rPr>
              <a:t> </a:t>
            </a:r>
            <a:r>
              <a:rPr dirty="0" sz="1850" spc="60" b="1">
                <a:solidFill>
                  <a:srgbClr val="005EC2"/>
                </a:solidFill>
                <a:latin typeface="Arial"/>
                <a:cs typeface="Arial"/>
              </a:rPr>
              <a:t>9 </a:t>
            </a:r>
            <a:r>
              <a:rPr dirty="0" sz="1850" spc="-70" b="1">
                <a:solidFill>
                  <a:srgbClr val="005EC2"/>
                </a:solidFill>
                <a:latin typeface="Arial"/>
                <a:cs typeface="Arial"/>
              </a:rPr>
              <a:t>Alejandro</a:t>
            </a:r>
            <a:r>
              <a:rPr dirty="0" sz="1850" spc="-60" b="1">
                <a:solidFill>
                  <a:srgbClr val="005EC2"/>
                </a:solidFill>
                <a:latin typeface="Arial"/>
                <a:cs typeface="Arial"/>
              </a:rPr>
              <a:t> </a:t>
            </a:r>
            <a:r>
              <a:rPr dirty="0" sz="1850" spc="-105" b="1">
                <a:solidFill>
                  <a:srgbClr val="005EC2"/>
                </a:solidFill>
                <a:latin typeface="Arial"/>
                <a:cs typeface="Arial"/>
              </a:rPr>
              <a:t>Rojas</a:t>
            </a:r>
            <a:r>
              <a:rPr dirty="0" sz="1850" spc="-25" b="1">
                <a:solidFill>
                  <a:srgbClr val="005EC2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005EC2"/>
                </a:solidFill>
                <a:latin typeface="Arial"/>
                <a:cs typeface="Arial"/>
              </a:rPr>
              <a:t>·</a:t>
            </a:r>
            <a:r>
              <a:rPr dirty="0" sz="1850" spc="-90" b="1">
                <a:solidFill>
                  <a:srgbClr val="005EC2"/>
                </a:solidFill>
                <a:latin typeface="Arial"/>
                <a:cs typeface="Arial"/>
              </a:rPr>
              <a:t> </a:t>
            </a:r>
            <a:r>
              <a:rPr dirty="0" sz="1850" spc="-60" b="1">
                <a:solidFill>
                  <a:srgbClr val="005EC2"/>
                </a:solidFill>
                <a:latin typeface="Arial"/>
                <a:cs typeface="Arial"/>
              </a:rPr>
              <a:t>Gabriel</a:t>
            </a:r>
            <a:r>
              <a:rPr dirty="0" sz="1850" spc="-55" b="1">
                <a:solidFill>
                  <a:srgbClr val="005EC2"/>
                </a:solidFill>
                <a:latin typeface="Arial"/>
                <a:cs typeface="Arial"/>
              </a:rPr>
              <a:t> </a:t>
            </a:r>
            <a:r>
              <a:rPr dirty="0" sz="1850" spc="-30" b="1">
                <a:solidFill>
                  <a:srgbClr val="005EC2"/>
                </a:solidFill>
                <a:latin typeface="Arial"/>
                <a:cs typeface="Arial"/>
              </a:rPr>
              <a:t>Rubilar</a:t>
            </a:r>
            <a:r>
              <a:rPr dirty="0" sz="1850" spc="-55" b="1">
                <a:solidFill>
                  <a:srgbClr val="005EC2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005EC2"/>
                </a:solidFill>
                <a:latin typeface="Arial"/>
                <a:cs typeface="Arial"/>
              </a:rPr>
              <a:t>·</a:t>
            </a:r>
            <a:r>
              <a:rPr dirty="0" sz="1850" spc="-55" b="1">
                <a:solidFill>
                  <a:srgbClr val="005EC2"/>
                </a:solidFill>
                <a:latin typeface="Arial"/>
                <a:cs typeface="Arial"/>
              </a:rPr>
              <a:t> </a:t>
            </a:r>
            <a:r>
              <a:rPr dirty="0" sz="1850" spc="-75" b="1">
                <a:solidFill>
                  <a:srgbClr val="005EC2"/>
                </a:solidFill>
                <a:latin typeface="Arial"/>
                <a:cs typeface="Arial"/>
              </a:rPr>
              <a:t>Vicente</a:t>
            </a:r>
            <a:r>
              <a:rPr dirty="0" sz="1850" spc="-55" b="1">
                <a:solidFill>
                  <a:srgbClr val="005EC2"/>
                </a:solidFill>
                <a:latin typeface="Arial"/>
                <a:cs typeface="Arial"/>
              </a:rPr>
              <a:t> </a:t>
            </a:r>
            <a:r>
              <a:rPr dirty="0" sz="1850" spc="-40" b="1">
                <a:solidFill>
                  <a:srgbClr val="005EC2"/>
                </a:solidFill>
                <a:latin typeface="Arial"/>
                <a:cs typeface="Arial"/>
              </a:rPr>
              <a:t>Abarzua</a:t>
            </a:r>
            <a:endParaRPr sz="1850">
              <a:latin typeface="Arial"/>
              <a:cs typeface="Arial"/>
            </a:endParaRPr>
          </a:p>
          <a:p>
            <a:pPr marL="12700">
              <a:lnSpc>
                <a:spcPts val="2030"/>
              </a:lnSpc>
            </a:pPr>
            <a:r>
              <a:rPr dirty="0" sz="1850" spc="-110" b="1">
                <a:solidFill>
                  <a:srgbClr val="005EC2"/>
                </a:solidFill>
                <a:latin typeface="Arial"/>
                <a:cs typeface="Arial"/>
              </a:rPr>
              <a:t>Capstone</a:t>
            </a:r>
            <a:r>
              <a:rPr dirty="0" sz="1850" spc="-20" b="1">
                <a:solidFill>
                  <a:srgbClr val="005EC2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005EC2"/>
                </a:solidFill>
                <a:latin typeface="Arial"/>
                <a:cs typeface="Arial"/>
              </a:rPr>
              <a:t>|</a:t>
            </a:r>
            <a:r>
              <a:rPr dirty="0" sz="1850" spc="-60" b="1">
                <a:solidFill>
                  <a:srgbClr val="005EC2"/>
                </a:solidFill>
                <a:latin typeface="Arial"/>
                <a:cs typeface="Arial"/>
              </a:rPr>
              <a:t> </a:t>
            </a:r>
            <a:r>
              <a:rPr dirty="0" sz="1850" spc="-50" b="1">
                <a:solidFill>
                  <a:srgbClr val="005EC2"/>
                </a:solidFill>
                <a:latin typeface="Arial"/>
                <a:cs typeface="Arial"/>
              </a:rPr>
              <a:t>Ingeniería</a:t>
            </a:r>
            <a:r>
              <a:rPr dirty="0" sz="1850" spc="-10" b="1">
                <a:solidFill>
                  <a:srgbClr val="005EC2"/>
                </a:solidFill>
                <a:latin typeface="Arial"/>
                <a:cs typeface="Arial"/>
              </a:rPr>
              <a:t> </a:t>
            </a:r>
            <a:r>
              <a:rPr dirty="0" sz="1850" spc="-110" b="1">
                <a:solidFill>
                  <a:srgbClr val="005EC2"/>
                </a:solidFill>
                <a:latin typeface="Arial"/>
                <a:cs typeface="Arial"/>
              </a:rPr>
              <a:t>en</a:t>
            </a:r>
            <a:r>
              <a:rPr dirty="0" sz="1850" spc="-15" b="1">
                <a:solidFill>
                  <a:srgbClr val="005EC2"/>
                </a:solidFill>
                <a:latin typeface="Arial"/>
                <a:cs typeface="Arial"/>
              </a:rPr>
              <a:t> </a:t>
            </a:r>
            <a:r>
              <a:rPr dirty="0" sz="1850" spc="-55" b="1">
                <a:solidFill>
                  <a:srgbClr val="005EC2"/>
                </a:solidFill>
                <a:latin typeface="Arial"/>
                <a:cs typeface="Arial"/>
              </a:rPr>
              <a:t>Informática</a:t>
            </a:r>
            <a:r>
              <a:rPr dirty="0" sz="1850" spc="-15" b="1">
                <a:solidFill>
                  <a:srgbClr val="005EC2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005EC2"/>
                </a:solidFill>
                <a:latin typeface="Arial"/>
                <a:cs typeface="Arial"/>
              </a:rPr>
              <a:t>|</a:t>
            </a:r>
            <a:r>
              <a:rPr dirty="0" sz="1850" spc="-15" b="1">
                <a:solidFill>
                  <a:srgbClr val="005EC2"/>
                </a:solidFill>
                <a:latin typeface="Arial"/>
                <a:cs typeface="Arial"/>
              </a:rPr>
              <a:t> </a:t>
            </a:r>
            <a:r>
              <a:rPr dirty="0" sz="1850" spc="-130" b="1">
                <a:solidFill>
                  <a:srgbClr val="005EC2"/>
                </a:solidFill>
                <a:latin typeface="Arial"/>
                <a:cs typeface="Arial"/>
              </a:rPr>
              <a:t>Duoc</a:t>
            </a:r>
            <a:r>
              <a:rPr dirty="0" sz="1850" b="1">
                <a:solidFill>
                  <a:srgbClr val="005EC2"/>
                </a:solidFill>
                <a:latin typeface="Arial"/>
                <a:cs typeface="Arial"/>
              </a:rPr>
              <a:t> </a:t>
            </a:r>
            <a:r>
              <a:rPr dirty="0" sz="1850" spc="-145" b="1">
                <a:solidFill>
                  <a:srgbClr val="005EC2"/>
                </a:solidFill>
                <a:latin typeface="Arial"/>
                <a:cs typeface="Arial"/>
              </a:rPr>
              <a:t>UC</a:t>
            </a:r>
            <a:r>
              <a:rPr dirty="0" sz="1850" b="1">
                <a:solidFill>
                  <a:srgbClr val="005EC2"/>
                </a:solidFill>
                <a:latin typeface="Arial"/>
                <a:cs typeface="Arial"/>
              </a:rPr>
              <a:t> ·</a:t>
            </a:r>
            <a:r>
              <a:rPr dirty="0" sz="1850" spc="-15" b="1">
                <a:solidFill>
                  <a:srgbClr val="005EC2"/>
                </a:solidFill>
                <a:latin typeface="Arial"/>
                <a:cs typeface="Arial"/>
              </a:rPr>
              <a:t> </a:t>
            </a:r>
            <a:r>
              <a:rPr dirty="0" sz="1850" spc="-110" b="1">
                <a:solidFill>
                  <a:srgbClr val="005EC2"/>
                </a:solidFill>
                <a:latin typeface="Arial"/>
                <a:cs typeface="Arial"/>
              </a:rPr>
              <a:t>Docente:</a:t>
            </a:r>
            <a:r>
              <a:rPr dirty="0" sz="1850" spc="-10" b="1">
                <a:solidFill>
                  <a:srgbClr val="005EC2"/>
                </a:solidFill>
                <a:latin typeface="Arial"/>
                <a:cs typeface="Arial"/>
              </a:rPr>
              <a:t> </a:t>
            </a:r>
            <a:r>
              <a:rPr dirty="0" sz="1850" spc="-140" b="1">
                <a:solidFill>
                  <a:srgbClr val="005EC2"/>
                </a:solidFill>
                <a:latin typeface="Arial"/>
                <a:cs typeface="Arial"/>
              </a:rPr>
              <a:t>José</a:t>
            </a:r>
            <a:r>
              <a:rPr dirty="0" sz="1850" b="1">
                <a:solidFill>
                  <a:srgbClr val="005EC2"/>
                </a:solidFill>
                <a:latin typeface="Arial"/>
                <a:cs typeface="Arial"/>
              </a:rPr>
              <a:t> </a:t>
            </a:r>
            <a:r>
              <a:rPr dirty="0" sz="1850" spc="-120" b="1">
                <a:solidFill>
                  <a:srgbClr val="005EC2"/>
                </a:solidFill>
                <a:latin typeface="Arial"/>
                <a:cs typeface="Arial"/>
              </a:rPr>
              <a:t>Luis</a:t>
            </a:r>
            <a:r>
              <a:rPr dirty="0" sz="1850" spc="-10" b="1">
                <a:solidFill>
                  <a:srgbClr val="005EC2"/>
                </a:solidFill>
                <a:latin typeface="Arial"/>
                <a:cs typeface="Arial"/>
              </a:rPr>
              <a:t> </a:t>
            </a:r>
            <a:r>
              <a:rPr dirty="0" sz="1850" spc="-20" b="1">
                <a:solidFill>
                  <a:srgbClr val="005EC2"/>
                </a:solidFill>
                <a:latin typeface="Arial"/>
                <a:cs typeface="Arial"/>
              </a:rPr>
              <a:t>Pino</a:t>
            </a:r>
            <a:endParaRPr sz="18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" y="4479285"/>
            <a:ext cx="5285740" cy="5819775"/>
          </a:xfrm>
          <a:custGeom>
            <a:avLst/>
            <a:gdLst/>
            <a:ahLst/>
            <a:cxnLst/>
            <a:rect l="l" t="t" r="r" b="b"/>
            <a:pathLst>
              <a:path w="5285740" h="5819775">
                <a:moveTo>
                  <a:pt x="3827430" y="3863279"/>
                </a:moveTo>
                <a:lnTo>
                  <a:pt x="3705196" y="3868654"/>
                </a:lnTo>
                <a:lnTo>
                  <a:pt x="3689912" y="3894751"/>
                </a:lnTo>
                <a:lnTo>
                  <a:pt x="3517743" y="3902322"/>
                </a:lnTo>
                <a:lnTo>
                  <a:pt x="3688396" y="3920242"/>
                </a:lnTo>
                <a:lnTo>
                  <a:pt x="3689511" y="3945618"/>
                </a:lnTo>
                <a:lnTo>
                  <a:pt x="3712183" y="3995470"/>
                </a:lnTo>
                <a:lnTo>
                  <a:pt x="3824724" y="3990521"/>
                </a:lnTo>
                <a:lnTo>
                  <a:pt x="4367107" y="4411601"/>
                </a:lnTo>
                <a:lnTo>
                  <a:pt x="4356814" y="4437478"/>
                </a:lnTo>
                <a:lnTo>
                  <a:pt x="4356576" y="4437489"/>
                </a:lnTo>
                <a:lnTo>
                  <a:pt x="4358808" y="4488240"/>
                </a:lnTo>
                <a:lnTo>
                  <a:pt x="4511269" y="4481536"/>
                </a:lnTo>
                <a:lnTo>
                  <a:pt x="5064648" y="4622462"/>
                </a:lnTo>
                <a:lnTo>
                  <a:pt x="5260282" y="5808813"/>
                </a:lnTo>
                <a:lnTo>
                  <a:pt x="5285297" y="5807713"/>
                </a:lnTo>
                <a:lnTo>
                  <a:pt x="5094025" y="4621170"/>
                </a:lnTo>
                <a:lnTo>
                  <a:pt x="5091959" y="4595836"/>
                </a:lnTo>
                <a:lnTo>
                  <a:pt x="5083174" y="4596223"/>
                </a:lnTo>
                <a:lnTo>
                  <a:pt x="4521888" y="4481069"/>
                </a:lnTo>
                <a:lnTo>
                  <a:pt x="4520772" y="4455693"/>
                </a:lnTo>
                <a:lnTo>
                  <a:pt x="4497624" y="4405862"/>
                </a:lnTo>
                <a:lnTo>
                  <a:pt x="4383711" y="4410871"/>
                </a:lnTo>
                <a:lnTo>
                  <a:pt x="3840212" y="3964416"/>
                </a:lnTo>
                <a:lnTo>
                  <a:pt x="3852096" y="3963893"/>
                </a:lnTo>
                <a:lnTo>
                  <a:pt x="3850980" y="3938518"/>
                </a:lnTo>
                <a:lnTo>
                  <a:pt x="3851218" y="3938507"/>
                </a:lnTo>
                <a:lnTo>
                  <a:pt x="3850102" y="3913132"/>
                </a:lnTo>
                <a:lnTo>
                  <a:pt x="3827430" y="3863279"/>
                </a:lnTo>
                <a:close/>
              </a:path>
              <a:path w="5285740" h="5819775">
                <a:moveTo>
                  <a:pt x="3517743" y="3902322"/>
                </a:moveTo>
                <a:lnTo>
                  <a:pt x="3492304" y="3903440"/>
                </a:lnTo>
                <a:lnTo>
                  <a:pt x="3860596" y="5819511"/>
                </a:lnTo>
                <a:lnTo>
                  <a:pt x="3885747" y="5818405"/>
                </a:lnTo>
                <a:lnTo>
                  <a:pt x="3517743" y="3902322"/>
                </a:lnTo>
                <a:close/>
              </a:path>
              <a:path w="5285740" h="5819775">
                <a:moveTo>
                  <a:pt x="4496946" y="4507590"/>
                </a:moveTo>
                <a:lnTo>
                  <a:pt x="4382272" y="4512632"/>
                </a:lnTo>
                <a:lnTo>
                  <a:pt x="4397627" y="4537382"/>
                </a:lnTo>
                <a:lnTo>
                  <a:pt x="3952613" y="5815465"/>
                </a:lnTo>
                <a:lnTo>
                  <a:pt x="3977499" y="5814371"/>
                </a:lnTo>
                <a:lnTo>
                  <a:pt x="4424248" y="4536211"/>
                </a:lnTo>
                <a:lnTo>
                  <a:pt x="4471957" y="4534113"/>
                </a:lnTo>
                <a:lnTo>
                  <a:pt x="4496946" y="4507590"/>
                </a:lnTo>
                <a:close/>
              </a:path>
              <a:path w="5285740" h="5819775">
                <a:moveTo>
                  <a:pt x="372964" y="5616926"/>
                </a:moveTo>
                <a:lnTo>
                  <a:pt x="315407" y="5619457"/>
                </a:lnTo>
                <a:lnTo>
                  <a:pt x="644506" y="5808382"/>
                </a:lnTo>
                <a:lnTo>
                  <a:pt x="704705" y="5818447"/>
                </a:lnTo>
                <a:lnTo>
                  <a:pt x="372964" y="5616926"/>
                </a:lnTo>
                <a:close/>
              </a:path>
              <a:path w="5285740" h="5819775">
                <a:moveTo>
                  <a:pt x="382" y="5468050"/>
                </a:moveTo>
                <a:lnTo>
                  <a:pt x="122" y="5493486"/>
                </a:lnTo>
                <a:lnTo>
                  <a:pt x="286989" y="5595282"/>
                </a:lnTo>
                <a:lnTo>
                  <a:pt x="57341" y="5808776"/>
                </a:lnTo>
                <a:lnTo>
                  <a:pt x="108325" y="5819247"/>
                </a:lnTo>
                <a:lnTo>
                  <a:pt x="315407" y="5619457"/>
                </a:lnTo>
                <a:lnTo>
                  <a:pt x="372964" y="5616926"/>
                </a:lnTo>
                <a:lnTo>
                  <a:pt x="335903" y="5593131"/>
                </a:lnTo>
                <a:lnTo>
                  <a:pt x="341064" y="5592904"/>
                </a:lnTo>
                <a:lnTo>
                  <a:pt x="360400" y="5566629"/>
                </a:lnTo>
                <a:lnTo>
                  <a:pt x="308194" y="5568925"/>
                </a:lnTo>
                <a:lnTo>
                  <a:pt x="382" y="5468050"/>
                </a:lnTo>
                <a:close/>
              </a:path>
              <a:path w="5285740" h="5819775">
                <a:moveTo>
                  <a:pt x="1078614" y="4657901"/>
                </a:moveTo>
                <a:lnTo>
                  <a:pt x="1053270" y="4659016"/>
                </a:lnTo>
                <a:lnTo>
                  <a:pt x="308194" y="5568925"/>
                </a:lnTo>
                <a:lnTo>
                  <a:pt x="360400" y="5566629"/>
                </a:lnTo>
                <a:lnTo>
                  <a:pt x="1078614" y="4657901"/>
                </a:lnTo>
                <a:close/>
              </a:path>
              <a:path w="5285740" h="5819775">
                <a:moveTo>
                  <a:pt x="1164113" y="4654142"/>
                </a:moveTo>
                <a:lnTo>
                  <a:pt x="1078614" y="4657901"/>
                </a:lnTo>
                <a:lnTo>
                  <a:pt x="1102054" y="4682295"/>
                </a:lnTo>
                <a:lnTo>
                  <a:pt x="1139104" y="4680666"/>
                </a:lnTo>
                <a:lnTo>
                  <a:pt x="1164113" y="4654142"/>
                </a:lnTo>
                <a:close/>
              </a:path>
              <a:path w="5285740" h="5819775">
                <a:moveTo>
                  <a:pt x="3299463" y="2411872"/>
                </a:moveTo>
                <a:lnTo>
                  <a:pt x="3152737" y="2418324"/>
                </a:lnTo>
                <a:lnTo>
                  <a:pt x="3154969" y="2469074"/>
                </a:lnTo>
                <a:lnTo>
                  <a:pt x="3169157" y="2493875"/>
                </a:lnTo>
                <a:lnTo>
                  <a:pt x="1161987" y="4539825"/>
                </a:lnTo>
                <a:lnTo>
                  <a:pt x="1051329" y="4544690"/>
                </a:lnTo>
                <a:lnTo>
                  <a:pt x="1035441" y="4583526"/>
                </a:lnTo>
                <a:lnTo>
                  <a:pt x="1033542" y="4583609"/>
                </a:lnTo>
                <a:lnTo>
                  <a:pt x="487" y="4692596"/>
                </a:lnTo>
                <a:lnTo>
                  <a:pt x="0" y="4705330"/>
                </a:lnTo>
                <a:lnTo>
                  <a:pt x="1033952" y="4609016"/>
                </a:lnTo>
                <a:lnTo>
                  <a:pt x="1199390" y="4601741"/>
                </a:lnTo>
                <a:lnTo>
                  <a:pt x="1198274" y="4576366"/>
                </a:lnTo>
                <a:lnTo>
                  <a:pt x="1293789" y="4546741"/>
                </a:lnTo>
                <a:lnTo>
                  <a:pt x="1179208" y="4551780"/>
                </a:lnTo>
                <a:lnTo>
                  <a:pt x="3186699" y="2518528"/>
                </a:lnTo>
                <a:lnTo>
                  <a:pt x="3298705" y="2513603"/>
                </a:lnTo>
                <a:lnTo>
                  <a:pt x="3305908" y="2487862"/>
                </a:lnTo>
                <a:lnTo>
                  <a:pt x="3457403" y="2481200"/>
                </a:lnTo>
                <a:lnTo>
                  <a:pt x="3316431" y="2461975"/>
                </a:lnTo>
                <a:lnTo>
                  <a:pt x="3315078" y="2436610"/>
                </a:lnTo>
                <a:lnTo>
                  <a:pt x="3299463" y="2411872"/>
                </a:lnTo>
                <a:close/>
              </a:path>
              <a:path w="5285740" h="5819775">
                <a:moveTo>
                  <a:pt x="1197491" y="4601825"/>
                </a:moveTo>
                <a:lnTo>
                  <a:pt x="1033952" y="4609016"/>
                </a:lnTo>
                <a:lnTo>
                  <a:pt x="1048832" y="4633786"/>
                </a:lnTo>
                <a:lnTo>
                  <a:pt x="1051372" y="4659099"/>
                </a:lnTo>
                <a:lnTo>
                  <a:pt x="1182399" y="4653337"/>
                </a:lnTo>
                <a:lnTo>
                  <a:pt x="1197491" y="4601825"/>
                </a:lnTo>
                <a:close/>
              </a:path>
              <a:path w="5285740" h="5819775">
                <a:moveTo>
                  <a:pt x="4511269" y="4481536"/>
                </a:moveTo>
                <a:lnTo>
                  <a:pt x="4359283" y="4488219"/>
                </a:lnTo>
                <a:lnTo>
                  <a:pt x="4380839" y="4512695"/>
                </a:lnTo>
                <a:lnTo>
                  <a:pt x="4504304" y="4507266"/>
                </a:lnTo>
                <a:lnTo>
                  <a:pt x="4511269" y="4481536"/>
                </a:lnTo>
                <a:close/>
              </a:path>
              <a:path w="5285740" h="5819775">
                <a:moveTo>
                  <a:pt x="3298705" y="2513603"/>
                </a:moveTo>
                <a:lnTo>
                  <a:pt x="3274747" y="2514657"/>
                </a:lnTo>
                <a:lnTo>
                  <a:pt x="4007196" y="3410445"/>
                </a:lnTo>
                <a:lnTo>
                  <a:pt x="3490806" y="3878082"/>
                </a:lnTo>
                <a:lnTo>
                  <a:pt x="1185379" y="4551508"/>
                </a:lnTo>
                <a:lnTo>
                  <a:pt x="1293789" y="4546741"/>
                </a:lnTo>
                <a:lnTo>
                  <a:pt x="3492304" y="3903440"/>
                </a:lnTo>
                <a:lnTo>
                  <a:pt x="3689912" y="3894751"/>
                </a:lnTo>
                <a:lnTo>
                  <a:pt x="3529470" y="3876381"/>
                </a:lnTo>
                <a:lnTo>
                  <a:pt x="3981131" y="3462440"/>
                </a:lnTo>
                <a:lnTo>
                  <a:pt x="4017152" y="3460857"/>
                </a:lnTo>
                <a:lnTo>
                  <a:pt x="4040365" y="3408987"/>
                </a:lnTo>
                <a:lnTo>
                  <a:pt x="4042502" y="3408893"/>
                </a:lnTo>
                <a:lnTo>
                  <a:pt x="4027506" y="3333279"/>
                </a:lnTo>
                <a:lnTo>
                  <a:pt x="4003071" y="3334353"/>
                </a:lnTo>
                <a:lnTo>
                  <a:pt x="3298705" y="2513603"/>
                </a:lnTo>
                <a:close/>
              </a:path>
              <a:path w="5285740" h="5819775">
                <a:moveTo>
                  <a:pt x="4454585" y="4395042"/>
                </a:moveTo>
                <a:lnTo>
                  <a:pt x="4418039" y="4396649"/>
                </a:lnTo>
                <a:lnTo>
                  <a:pt x="4383948" y="4410860"/>
                </a:lnTo>
                <a:lnTo>
                  <a:pt x="4496436" y="4405914"/>
                </a:lnTo>
                <a:lnTo>
                  <a:pt x="4454585" y="4395042"/>
                </a:lnTo>
                <a:close/>
              </a:path>
              <a:path w="5285740" h="5819775">
                <a:moveTo>
                  <a:pt x="340" y="3294253"/>
                </a:moveTo>
                <a:lnTo>
                  <a:pt x="135" y="3332399"/>
                </a:lnTo>
                <a:lnTo>
                  <a:pt x="421015" y="3644411"/>
                </a:lnTo>
                <a:lnTo>
                  <a:pt x="505" y="3662901"/>
                </a:lnTo>
                <a:lnTo>
                  <a:pt x="338" y="3675621"/>
                </a:lnTo>
                <a:lnTo>
                  <a:pt x="455299" y="3655616"/>
                </a:lnTo>
                <a:lnTo>
                  <a:pt x="1057741" y="4544409"/>
                </a:lnTo>
                <a:lnTo>
                  <a:pt x="1151300" y="4540295"/>
                </a:lnTo>
                <a:lnTo>
                  <a:pt x="1158513" y="4514553"/>
                </a:lnTo>
                <a:lnTo>
                  <a:pt x="1079663" y="4518020"/>
                </a:lnTo>
                <a:lnTo>
                  <a:pt x="474221" y="3642071"/>
                </a:lnTo>
                <a:lnTo>
                  <a:pt x="421015" y="3644411"/>
                </a:lnTo>
                <a:lnTo>
                  <a:pt x="250" y="3650200"/>
                </a:lnTo>
                <a:lnTo>
                  <a:pt x="474479" y="3629348"/>
                </a:lnTo>
                <a:lnTo>
                  <a:pt x="474738" y="3616624"/>
                </a:lnTo>
                <a:lnTo>
                  <a:pt x="449589" y="3617730"/>
                </a:lnTo>
                <a:lnTo>
                  <a:pt x="340" y="3294253"/>
                </a:lnTo>
                <a:close/>
              </a:path>
              <a:path w="5285740" h="5819775">
                <a:moveTo>
                  <a:pt x="434" y="1222148"/>
                </a:moveTo>
                <a:lnTo>
                  <a:pt x="353" y="1273001"/>
                </a:lnTo>
                <a:lnTo>
                  <a:pt x="443572" y="1787427"/>
                </a:lnTo>
                <a:lnTo>
                  <a:pt x="426806" y="1800877"/>
                </a:lnTo>
                <a:lnTo>
                  <a:pt x="429037" y="1851628"/>
                </a:lnTo>
                <a:lnTo>
                  <a:pt x="436323" y="1876732"/>
                </a:lnTo>
                <a:lnTo>
                  <a:pt x="445584" y="1876325"/>
                </a:lnTo>
                <a:lnTo>
                  <a:pt x="450971" y="1901512"/>
                </a:lnTo>
                <a:lnTo>
                  <a:pt x="550709" y="1897127"/>
                </a:lnTo>
                <a:lnTo>
                  <a:pt x="1586559" y="2995683"/>
                </a:lnTo>
                <a:lnTo>
                  <a:pt x="1562031" y="3022186"/>
                </a:lnTo>
                <a:lnTo>
                  <a:pt x="1582214" y="3021298"/>
                </a:lnTo>
                <a:lnTo>
                  <a:pt x="1121938" y="4516161"/>
                </a:lnTo>
                <a:lnTo>
                  <a:pt x="1158513" y="4514553"/>
                </a:lnTo>
                <a:lnTo>
                  <a:pt x="1617418" y="2994326"/>
                </a:lnTo>
                <a:lnTo>
                  <a:pt x="1676495" y="2966303"/>
                </a:lnTo>
                <a:lnTo>
                  <a:pt x="1607276" y="2969347"/>
                </a:lnTo>
                <a:lnTo>
                  <a:pt x="574750" y="1870645"/>
                </a:lnTo>
                <a:lnTo>
                  <a:pt x="590484" y="1844528"/>
                </a:lnTo>
                <a:lnTo>
                  <a:pt x="589605" y="1819143"/>
                </a:lnTo>
                <a:lnTo>
                  <a:pt x="701122" y="1788814"/>
                </a:lnTo>
                <a:lnTo>
                  <a:pt x="579716" y="1794153"/>
                </a:lnTo>
                <a:lnTo>
                  <a:pt x="613866" y="1779939"/>
                </a:lnTo>
                <a:lnTo>
                  <a:pt x="561825" y="1782227"/>
                </a:lnTo>
                <a:lnTo>
                  <a:pt x="576562" y="1756155"/>
                </a:lnTo>
                <a:lnTo>
                  <a:pt x="467637" y="1760944"/>
                </a:lnTo>
                <a:lnTo>
                  <a:pt x="434" y="1222148"/>
                </a:lnTo>
                <a:close/>
              </a:path>
              <a:path w="5285740" h="5819775">
                <a:moveTo>
                  <a:pt x="3824486" y="3990532"/>
                </a:moveTo>
                <a:lnTo>
                  <a:pt x="3718643" y="3995186"/>
                </a:lnTo>
                <a:lnTo>
                  <a:pt x="3755357" y="4018996"/>
                </a:lnTo>
                <a:lnTo>
                  <a:pt x="3790954" y="4017431"/>
                </a:lnTo>
                <a:lnTo>
                  <a:pt x="3824486" y="3990532"/>
                </a:lnTo>
                <a:close/>
              </a:path>
              <a:path w="5285740" h="5819775">
                <a:moveTo>
                  <a:pt x="4017152" y="3460857"/>
                </a:moveTo>
                <a:lnTo>
                  <a:pt x="3981131" y="3462440"/>
                </a:lnTo>
                <a:lnTo>
                  <a:pt x="3790313" y="3852199"/>
                </a:lnTo>
                <a:lnTo>
                  <a:pt x="3747358" y="3854088"/>
                </a:lnTo>
                <a:lnTo>
                  <a:pt x="3707572" y="3868550"/>
                </a:lnTo>
                <a:lnTo>
                  <a:pt x="3818172" y="3863687"/>
                </a:lnTo>
                <a:lnTo>
                  <a:pt x="4017152" y="3460857"/>
                </a:lnTo>
                <a:close/>
              </a:path>
              <a:path w="5285740" h="5819775">
                <a:moveTo>
                  <a:pt x="516985" y="1898609"/>
                </a:moveTo>
                <a:lnTo>
                  <a:pt x="491808" y="1899717"/>
                </a:lnTo>
                <a:lnTo>
                  <a:pt x="449589" y="3617730"/>
                </a:lnTo>
                <a:lnTo>
                  <a:pt x="474738" y="3616624"/>
                </a:lnTo>
                <a:lnTo>
                  <a:pt x="516985" y="1898609"/>
                </a:lnTo>
                <a:close/>
              </a:path>
              <a:path w="5285740" h="5819775">
                <a:moveTo>
                  <a:pt x="3614571" y="2474289"/>
                </a:moveTo>
                <a:lnTo>
                  <a:pt x="3310662" y="2487653"/>
                </a:lnTo>
                <a:lnTo>
                  <a:pt x="3451633" y="2506879"/>
                </a:lnTo>
                <a:lnTo>
                  <a:pt x="3452749" y="2532254"/>
                </a:lnTo>
                <a:lnTo>
                  <a:pt x="3462256" y="2531836"/>
                </a:lnTo>
                <a:lnTo>
                  <a:pt x="3463610" y="2557201"/>
                </a:lnTo>
                <a:lnTo>
                  <a:pt x="3606317" y="2550926"/>
                </a:lnTo>
                <a:lnTo>
                  <a:pt x="3846315" y="2603934"/>
                </a:lnTo>
                <a:lnTo>
                  <a:pt x="4003071" y="3334353"/>
                </a:lnTo>
                <a:lnTo>
                  <a:pt x="4027506" y="3333279"/>
                </a:lnTo>
                <a:lnTo>
                  <a:pt x="3874776" y="2602683"/>
                </a:lnTo>
                <a:lnTo>
                  <a:pt x="3865753" y="2603079"/>
                </a:lnTo>
                <a:lnTo>
                  <a:pt x="3617041" y="2525030"/>
                </a:lnTo>
                <a:lnTo>
                  <a:pt x="3615925" y="2499654"/>
                </a:lnTo>
                <a:lnTo>
                  <a:pt x="3614571" y="2474289"/>
                </a:lnTo>
                <a:close/>
              </a:path>
              <a:path w="5285740" h="5819775">
                <a:moveTo>
                  <a:pt x="2977614" y="1243783"/>
                </a:moveTo>
                <a:lnTo>
                  <a:pt x="2821614" y="1250642"/>
                </a:lnTo>
                <a:lnTo>
                  <a:pt x="2836277" y="1275422"/>
                </a:lnTo>
                <a:lnTo>
                  <a:pt x="1607276" y="2969347"/>
                </a:lnTo>
                <a:lnTo>
                  <a:pt x="1676495" y="2966303"/>
                </a:lnTo>
                <a:lnTo>
                  <a:pt x="1735571" y="2938281"/>
                </a:lnTo>
                <a:lnTo>
                  <a:pt x="1647985" y="2942132"/>
                </a:lnTo>
                <a:lnTo>
                  <a:pt x="2859269" y="1299836"/>
                </a:lnTo>
                <a:lnTo>
                  <a:pt x="2960118" y="1295401"/>
                </a:lnTo>
                <a:lnTo>
                  <a:pt x="2977614" y="1243783"/>
                </a:lnTo>
                <a:close/>
              </a:path>
              <a:path w="5285740" h="5819775">
                <a:moveTo>
                  <a:pt x="3356032" y="2129714"/>
                </a:moveTo>
                <a:lnTo>
                  <a:pt x="3278244" y="2133135"/>
                </a:lnTo>
                <a:lnTo>
                  <a:pt x="3260273" y="2184774"/>
                </a:lnTo>
                <a:lnTo>
                  <a:pt x="3261389" y="2210150"/>
                </a:lnTo>
                <a:lnTo>
                  <a:pt x="1647985" y="2942132"/>
                </a:lnTo>
                <a:lnTo>
                  <a:pt x="1735571" y="2938281"/>
                </a:lnTo>
                <a:lnTo>
                  <a:pt x="3273241" y="2247765"/>
                </a:lnTo>
                <a:lnTo>
                  <a:pt x="3412568" y="2241639"/>
                </a:lnTo>
                <a:lnTo>
                  <a:pt x="3421910" y="2215803"/>
                </a:lnTo>
                <a:lnTo>
                  <a:pt x="3422148" y="2215793"/>
                </a:lnTo>
                <a:lnTo>
                  <a:pt x="3420474" y="2177730"/>
                </a:lnTo>
                <a:lnTo>
                  <a:pt x="3398918" y="2153253"/>
                </a:lnTo>
                <a:lnTo>
                  <a:pt x="3396542" y="2153357"/>
                </a:lnTo>
                <a:lnTo>
                  <a:pt x="3356032" y="2129714"/>
                </a:lnTo>
                <a:close/>
              </a:path>
              <a:path w="5285740" h="5819775">
                <a:moveTo>
                  <a:pt x="3594435" y="2551448"/>
                </a:moveTo>
                <a:lnTo>
                  <a:pt x="3476918" y="2556616"/>
                </a:lnTo>
                <a:lnTo>
                  <a:pt x="3498442" y="2581094"/>
                </a:lnTo>
                <a:lnTo>
                  <a:pt x="3576566" y="2577659"/>
                </a:lnTo>
                <a:lnTo>
                  <a:pt x="3594435" y="2551448"/>
                </a:lnTo>
                <a:close/>
              </a:path>
              <a:path w="5285740" h="5819775">
                <a:moveTo>
                  <a:pt x="3274747" y="2514657"/>
                </a:moveTo>
                <a:lnTo>
                  <a:pt x="3195007" y="2518163"/>
                </a:lnTo>
                <a:lnTo>
                  <a:pt x="3218905" y="2542537"/>
                </a:lnTo>
                <a:lnTo>
                  <a:pt x="3257827" y="2540825"/>
                </a:lnTo>
                <a:lnTo>
                  <a:pt x="3274747" y="2514657"/>
                </a:lnTo>
                <a:close/>
              </a:path>
              <a:path w="5285740" h="5819775">
                <a:moveTo>
                  <a:pt x="3601096" y="2449457"/>
                </a:moveTo>
                <a:lnTo>
                  <a:pt x="3471261" y="2455166"/>
                </a:lnTo>
                <a:lnTo>
                  <a:pt x="3463820" y="2480918"/>
                </a:lnTo>
                <a:lnTo>
                  <a:pt x="3603400" y="2474781"/>
                </a:lnTo>
                <a:lnTo>
                  <a:pt x="3601096" y="2449457"/>
                </a:lnTo>
                <a:close/>
              </a:path>
              <a:path w="5285740" h="5819775">
                <a:moveTo>
                  <a:pt x="3569589" y="2425418"/>
                </a:moveTo>
                <a:lnTo>
                  <a:pt x="3491505" y="2428852"/>
                </a:lnTo>
                <a:lnTo>
                  <a:pt x="3473161" y="2455083"/>
                </a:lnTo>
                <a:lnTo>
                  <a:pt x="3590640" y="2449917"/>
                </a:lnTo>
                <a:lnTo>
                  <a:pt x="3569589" y="2425418"/>
                </a:lnTo>
                <a:close/>
              </a:path>
              <a:path w="5285740" h="5819775">
                <a:moveTo>
                  <a:pt x="3293439" y="2399424"/>
                </a:moveTo>
                <a:lnTo>
                  <a:pt x="3170005" y="2404852"/>
                </a:lnTo>
                <a:lnTo>
                  <a:pt x="3160343" y="2417989"/>
                </a:lnTo>
                <a:lnTo>
                  <a:pt x="3299226" y="2411882"/>
                </a:lnTo>
                <a:lnTo>
                  <a:pt x="3293439" y="2399424"/>
                </a:lnTo>
                <a:close/>
              </a:path>
              <a:path w="5285740" h="5819775">
                <a:moveTo>
                  <a:pt x="3412568" y="2241639"/>
                </a:moveTo>
                <a:lnTo>
                  <a:pt x="3283698" y="2247305"/>
                </a:lnTo>
                <a:lnTo>
                  <a:pt x="3301901" y="2271929"/>
                </a:lnTo>
                <a:lnTo>
                  <a:pt x="3254563" y="2375709"/>
                </a:lnTo>
                <a:lnTo>
                  <a:pt x="3212081" y="2377577"/>
                </a:lnTo>
                <a:lnTo>
                  <a:pt x="3173327" y="2404706"/>
                </a:lnTo>
                <a:lnTo>
                  <a:pt x="3281335" y="2399957"/>
                </a:lnTo>
                <a:lnTo>
                  <a:pt x="3329585" y="2296137"/>
                </a:lnTo>
                <a:lnTo>
                  <a:pt x="3363284" y="2294655"/>
                </a:lnTo>
                <a:lnTo>
                  <a:pt x="3402037" y="2267526"/>
                </a:lnTo>
                <a:lnTo>
                  <a:pt x="3403226" y="2267474"/>
                </a:lnTo>
                <a:lnTo>
                  <a:pt x="3412568" y="2241639"/>
                </a:lnTo>
                <a:close/>
              </a:path>
              <a:path w="5285740" h="5819775">
                <a:moveTo>
                  <a:pt x="2940895" y="1296246"/>
                </a:moveTo>
                <a:lnTo>
                  <a:pt x="2915275" y="1297373"/>
                </a:lnTo>
                <a:lnTo>
                  <a:pt x="3296520" y="2132331"/>
                </a:lnTo>
                <a:lnTo>
                  <a:pt x="3319960" y="2131300"/>
                </a:lnTo>
                <a:lnTo>
                  <a:pt x="2940895" y="1296246"/>
                </a:lnTo>
                <a:close/>
              </a:path>
              <a:path w="5285740" h="5819775">
                <a:moveTo>
                  <a:pt x="1805727" y="1028355"/>
                </a:moveTo>
                <a:lnTo>
                  <a:pt x="1688926" y="1033491"/>
                </a:lnTo>
                <a:lnTo>
                  <a:pt x="2812911" y="1225600"/>
                </a:lnTo>
                <a:lnTo>
                  <a:pt x="580902" y="1794101"/>
                </a:lnTo>
                <a:lnTo>
                  <a:pt x="701122" y="1788814"/>
                </a:lnTo>
                <a:lnTo>
                  <a:pt x="2821614" y="1250642"/>
                </a:lnTo>
                <a:lnTo>
                  <a:pt x="2977614" y="1243783"/>
                </a:lnTo>
                <a:lnTo>
                  <a:pt x="2975382" y="1193032"/>
                </a:lnTo>
                <a:lnTo>
                  <a:pt x="2817257" y="1199985"/>
                </a:lnTo>
                <a:lnTo>
                  <a:pt x="1805727" y="1028355"/>
                </a:lnTo>
                <a:close/>
              </a:path>
              <a:path w="5285740" h="5819775">
                <a:moveTo>
                  <a:pt x="1670074" y="945334"/>
                </a:moveTo>
                <a:lnTo>
                  <a:pt x="1549433" y="950639"/>
                </a:lnTo>
                <a:lnTo>
                  <a:pt x="1531730" y="1002267"/>
                </a:lnTo>
                <a:lnTo>
                  <a:pt x="1532288" y="1014954"/>
                </a:lnTo>
                <a:lnTo>
                  <a:pt x="1539811" y="1040048"/>
                </a:lnTo>
                <a:lnTo>
                  <a:pt x="563724" y="1782144"/>
                </a:lnTo>
                <a:lnTo>
                  <a:pt x="613866" y="1779939"/>
                </a:lnTo>
                <a:lnTo>
                  <a:pt x="1556123" y="1064755"/>
                </a:lnTo>
                <a:lnTo>
                  <a:pt x="1675565" y="1059503"/>
                </a:lnTo>
                <a:lnTo>
                  <a:pt x="1688926" y="1033491"/>
                </a:lnTo>
                <a:lnTo>
                  <a:pt x="1805727" y="1028355"/>
                </a:lnTo>
                <a:lnTo>
                  <a:pt x="1693272" y="1007876"/>
                </a:lnTo>
                <a:lnTo>
                  <a:pt x="1692477" y="995198"/>
                </a:lnTo>
                <a:lnTo>
                  <a:pt x="1670074" y="945334"/>
                </a:lnTo>
                <a:close/>
              </a:path>
              <a:path w="5285740" h="5819775">
                <a:moveTo>
                  <a:pt x="491473" y="348834"/>
                </a:moveTo>
                <a:lnTo>
                  <a:pt x="369373" y="354203"/>
                </a:lnTo>
                <a:lnTo>
                  <a:pt x="1295251" y="504174"/>
                </a:lnTo>
                <a:lnTo>
                  <a:pt x="538407" y="1757832"/>
                </a:lnTo>
                <a:lnTo>
                  <a:pt x="576562" y="1756155"/>
                </a:lnTo>
                <a:lnTo>
                  <a:pt x="1316770" y="528653"/>
                </a:lnTo>
                <a:lnTo>
                  <a:pt x="1343468" y="527479"/>
                </a:lnTo>
                <a:lnTo>
                  <a:pt x="1329411" y="502672"/>
                </a:lnTo>
                <a:lnTo>
                  <a:pt x="1335300" y="476989"/>
                </a:lnTo>
                <a:lnTo>
                  <a:pt x="1306933" y="478236"/>
                </a:lnTo>
                <a:lnTo>
                  <a:pt x="491473" y="348834"/>
                </a:lnTo>
                <a:close/>
              </a:path>
              <a:path w="5285740" h="5819775">
                <a:moveTo>
                  <a:pt x="547769" y="117538"/>
                </a:moveTo>
                <a:lnTo>
                  <a:pt x="397560" y="124143"/>
                </a:lnTo>
                <a:lnTo>
                  <a:pt x="1303380" y="224147"/>
                </a:lnTo>
                <a:lnTo>
                  <a:pt x="1302907" y="224168"/>
                </a:lnTo>
                <a:lnTo>
                  <a:pt x="1304023" y="249543"/>
                </a:lnTo>
                <a:lnTo>
                  <a:pt x="1304260" y="249533"/>
                </a:lnTo>
                <a:lnTo>
                  <a:pt x="1312258" y="274606"/>
                </a:lnTo>
                <a:lnTo>
                  <a:pt x="1312733" y="274585"/>
                </a:lnTo>
                <a:lnTo>
                  <a:pt x="1326818" y="286678"/>
                </a:lnTo>
                <a:lnTo>
                  <a:pt x="1444363" y="281509"/>
                </a:lnTo>
                <a:lnTo>
                  <a:pt x="2818994" y="1174484"/>
                </a:lnTo>
                <a:lnTo>
                  <a:pt x="2817257" y="1199985"/>
                </a:lnTo>
                <a:lnTo>
                  <a:pt x="2974907" y="1193053"/>
                </a:lnTo>
                <a:lnTo>
                  <a:pt x="2954064" y="1168545"/>
                </a:lnTo>
                <a:lnTo>
                  <a:pt x="2951049" y="1143253"/>
                </a:lnTo>
                <a:lnTo>
                  <a:pt x="2830730" y="1148543"/>
                </a:lnTo>
                <a:lnTo>
                  <a:pt x="1455948" y="268287"/>
                </a:lnTo>
                <a:lnTo>
                  <a:pt x="1462663" y="242567"/>
                </a:lnTo>
                <a:lnTo>
                  <a:pt x="1461548" y="217192"/>
                </a:lnTo>
                <a:lnTo>
                  <a:pt x="1453787" y="192109"/>
                </a:lnTo>
                <a:lnTo>
                  <a:pt x="1302527" y="198760"/>
                </a:lnTo>
                <a:lnTo>
                  <a:pt x="547769" y="117538"/>
                </a:lnTo>
                <a:close/>
              </a:path>
              <a:path w="5285740" h="5819775">
                <a:moveTo>
                  <a:pt x="1672005" y="1059660"/>
                </a:moveTo>
                <a:lnTo>
                  <a:pt x="1564182" y="1064401"/>
                </a:lnTo>
                <a:lnTo>
                  <a:pt x="1597597" y="1088356"/>
                </a:lnTo>
                <a:lnTo>
                  <a:pt x="1634171" y="1086748"/>
                </a:lnTo>
                <a:lnTo>
                  <a:pt x="1672005" y="1059660"/>
                </a:lnTo>
                <a:close/>
              </a:path>
              <a:path w="5285740" h="5819775">
                <a:moveTo>
                  <a:pt x="1343468" y="527479"/>
                </a:moveTo>
                <a:lnTo>
                  <a:pt x="1316770" y="528653"/>
                </a:lnTo>
                <a:lnTo>
                  <a:pt x="1558693" y="950232"/>
                </a:lnTo>
                <a:lnTo>
                  <a:pt x="1666751" y="945480"/>
                </a:lnTo>
                <a:lnTo>
                  <a:pt x="1626923" y="921807"/>
                </a:lnTo>
                <a:lnTo>
                  <a:pt x="1581315" y="923813"/>
                </a:lnTo>
                <a:lnTo>
                  <a:pt x="1343468" y="527479"/>
                </a:lnTo>
                <a:close/>
              </a:path>
              <a:path w="5285740" h="5819775">
                <a:moveTo>
                  <a:pt x="351937" y="265984"/>
                </a:moveTo>
                <a:lnTo>
                  <a:pt x="227522" y="271455"/>
                </a:lnTo>
                <a:lnTo>
                  <a:pt x="226028" y="296945"/>
                </a:lnTo>
                <a:lnTo>
                  <a:pt x="210057" y="323072"/>
                </a:lnTo>
                <a:lnTo>
                  <a:pt x="211731" y="361135"/>
                </a:lnTo>
                <a:lnTo>
                  <a:pt x="227797" y="385853"/>
                </a:lnTo>
                <a:lnTo>
                  <a:pt x="503" y="650093"/>
                </a:lnTo>
                <a:lnTo>
                  <a:pt x="18" y="688251"/>
                </a:lnTo>
                <a:lnTo>
                  <a:pt x="251443" y="410238"/>
                </a:lnTo>
                <a:lnTo>
                  <a:pt x="320556" y="407199"/>
                </a:lnTo>
                <a:lnTo>
                  <a:pt x="352690" y="380361"/>
                </a:lnTo>
                <a:lnTo>
                  <a:pt x="356250" y="380205"/>
                </a:lnTo>
                <a:lnTo>
                  <a:pt x="369373" y="354203"/>
                </a:lnTo>
                <a:lnTo>
                  <a:pt x="491473" y="348834"/>
                </a:lnTo>
                <a:lnTo>
                  <a:pt x="374899" y="328535"/>
                </a:lnTo>
                <a:lnTo>
                  <a:pt x="374104" y="315858"/>
                </a:lnTo>
                <a:lnTo>
                  <a:pt x="351937" y="265984"/>
                </a:lnTo>
                <a:close/>
              </a:path>
              <a:path w="5285740" h="5819775">
                <a:moveTo>
                  <a:pt x="1443889" y="281530"/>
                </a:moveTo>
                <a:lnTo>
                  <a:pt x="1352702" y="285539"/>
                </a:lnTo>
                <a:lnTo>
                  <a:pt x="1306933" y="478236"/>
                </a:lnTo>
                <a:lnTo>
                  <a:pt x="1335300" y="476989"/>
                </a:lnTo>
                <a:lnTo>
                  <a:pt x="1377080" y="309892"/>
                </a:lnTo>
                <a:lnTo>
                  <a:pt x="1404155" y="308701"/>
                </a:lnTo>
                <a:lnTo>
                  <a:pt x="1443889" y="281530"/>
                </a:lnTo>
                <a:close/>
              </a:path>
              <a:path w="5285740" h="5819775">
                <a:moveTo>
                  <a:pt x="379844" y="137634"/>
                </a:moveTo>
                <a:lnTo>
                  <a:pt x="270863" y="142426"/>
                </a:lnTo>
                <a:lnTo>
                  <a:pt x="295966" y="166747"/>
                </a:lnTo>
                <a:lnTo>
                  <a:pt x="286254" y="243447"/>
                </a:lnTo>
                <a:lnTo>
                  <a:pt x="269629" y="244178"/>
                </a:lnTo>
                <a:lnTo>
                  <a:pt x="230371" y="271329"/>
                </a:lnTo>
                <a:lnTo>
                  <a:pt x="349089" y="266109"/>
                </a:lnTo>
                <a:lnTo>
                  <a:pt x="315199" y="242175"/>
                </a:lnTo>
                <a:lnTo>
                  <a:pt x="324911" y="165474"/>
                </a:lnTo>
                <a:lnTo>
                  <a:pt x="342010" y="164722"/>
                </a:lnTo>
                <a:lnTo>
                  <a:pt x="379844" y="137634"/>
                </a:lnTo>
                <a:close/>
              </a:path>
              <a:path w="5285740" h="5819775">
                <a:moveTo>
                  <a:pt x="373187" y="23516"/>
                </a:moveTo>
                <a:lnTo>
                  <a:pt x="251119" y="28884"/>
                </a:lnTo>
                <a:lnTo>
                  <a:pt x="236976" y="80355"/>
                </a:lnTo>
                <a:lnTo>
                  <a:pt x="238092" y="105730"/>
                </a:lnTo>
                <a:lnTo>
                  <a:pt x="513" y="230588"/>
                </a:lnTo>
                <a:lnTo>
                  <a:pt x="187" y="256026"/>
                </a:lnTo>
                <a:lnTo>
                  <a:pt x="252500" y="130521"/>
                </a:lnTo>
                <a:lnTo>
                  <a:pt x="547769" y="117538"/>
                </a:lnTo>
                <a:lnTo>
                  <a:pt x="396706" y="98756"/>
                </a:lnTo>
                <a:lnTo>
                  <a:pt x="395353" y="73391"/>
                </a:lnTo>
                <a:lnTo>
                  <a:pt x="373187" y="23516"/>
                </a:lnTo>
                <a:close/>
              </a:path>
              <a:path w="5285740" h="5819775">
                <a:moveTo>
                  <a:pt x="1439381" y="167317"/>
                </a:moveTo>
                <a:lnTo>
                  <a:pt x="1312090" y="172915"/>
                </a:lnTo>
                <a:lnTo>
                  <a:pt x="1302527" y="198760"/>
                </a:lnTo>
                <a:lnTo>
                  <a:pt x="1453312" y="192129"/>
                </a:lnTo>
                <a:lnTo>
                  <a:pt x="1439381" y="167317"/>
                </a:lnTo>
                <a:close/>
              </a:path>
              <a:path w="5285740" h="5819775">
                <a:moveTo>
                  <a:pt x="1418080" y="142830"/>
                </a:moveTo>
                <a:lnTo>
                  <a:pt x="1347544" y="145931"/>
                </a:lnTo>
                <a:lnTo>
                  <a:pt x="1319448" y="172591"/>
                </a:lnTo>
                <a:lnTo>
                  <a:pt x="1427033" y="167860"/>
                </a:lnTo>
                <a:lnTo>
                  <a:pt x="1418080" y="142830"/>
                </a:lnTo>
                <a:close/>
              </a:path>
              <a:path w="5285740" h="5819775">
                <a:moveTo>
                  <a:pt x="397560" y="124143"/>
                </a:moveTo>
                <a:lnTo>
                  <a:pt x="252500" y="130521"/>
                </a:lnTo>
                <a:lnTo>
                  <a:pt x="258753" y="142959"/>
                </a:lnTo>
                <a:lnTo>
                  <a:pt x="385777" y="137373"/>
                </a:lnTo>
                <a:lnTo>
                  <a:pt x="397560" y="124143"/>
                </a:lnTo>
                <a:close/>
              </a:path>
              <a:path w="5285740" h="5819775">
                <a:moveTo>
                  <a:pt x="329799" y="0"/>
                </a:moveTo>
                <a:lnTo>
                  <a:pt x="294649" y="1545"/>
                </a:lnTo>
                <a:lnTo>
                  <a:pt x="256341" y="28654"/>
                </a:lnTo>
                <a:lnTo>
                  <a:pt x="362501" y="23986"/>
                </a:lnTo>
                <a:lnTo>
                  <a:pt x="329799" y="0"/>
                </a:lnTo>
                <a:close/>
              </a:path>
            </a:pathLst>
          </a:custGeom>
          <a:solidFill>
            <a:srgbClr val="005EC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99442" y="7817332"/>
            <a:ext cx="7783691" cy="24654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582671" cy="10286999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6182" rIns="0" bIns="0" rtlCol="0" vert="horz">
            <a:spAutoFit/>
          </a:bodyPr>
          <a:lstStyle/>
          <a:p>
            <a:pPr marL="1294130" marR="5080" indent="-351155">
              <a:lnSpc>
                <a:spcPts val="7430"/>
              </a:lnSpc>
              <a:spcBef>
                <a:spcPts val="580"/>
              </a:spcBef>
            </a:pPr>
            <a:r>
              <a:rPr dirty="0" sz="6500" spc="110"/>
              <a:t>¿QUÉ</a:t>
            </a:r>
            <a:r>
              <a:rPr dirty="0" sz="6500" spc="-260"/>
              <a:t> </a:t>
            </a:r>
            <a:r>
              <a:rPr dirty="0" sz="6500" spc="315"/>
              <a:t>PROBLEMA</a:t>
            </a:r>
            <a:r>
              <a:rPr dirty="0" sz="6500" spc="-254"/>
              <a:t> </a:t>
            </a:r>
            <a:r>
              <a:rPr dirty="0" sz="6500" spc="225"/>
              <a:t>BUSCA </a:t>
            </a:r>
            <a:r>
              <a:rPr dirty="0" sz="6500" spc="114"/>
              <a:t>R</a:t>
            </a:r>
            <a:r>
              <a:rPr dirty="0" sz="6500" spc="204"/>
              <a:t>ES</a:t>
            </a:r>
            <a:r>
              <a:rPr dirty="0" sz="6500" spc="200"/>
              <a:t>O</a:t>
            </a:r>
            <a:r>
              <a:rPr dirty="0" sz="6500" spc="-370"/>
              <a:t>L</a:t>
            </a:r>
            <a:r>
              <a:rPr dirty="0" sz="6500" spc="80"/>
              <a:t>V</a:t>
            </a:r>
            <a:r>
              <a:rPr dirty="0" sz="6500" spc="204"/>
              <a:t>E</a:t>
            </a:r>
            <a:r>
              <a:rPr dirty="0" sz="6500" spc="210"/>
              <a:t>R</a:t>
            </a:r>
            <a:r>
              <a:rPr dirty="0" sz="6500" spc="-229"/>
              <a:t> </a:t>
            </a:r>
            <a:r>
              <a:rPr dirty="0" sz="6500" spc="-55"/>
              <a:t>ENCI-</a:t>
            </a:r>
            <a:r>
              <a:rPr dirty="0" sz="6500" spc="-10"/>
              <a:t>INTEL?</a:t>
            </a:r>
            <a:endParaRPr sz="6500"/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38399" y="4450522"/>
            <a:ext cx="781049" cy="9048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71381" y="5914264"/>
            <a:ext cx="1238249" cy="10572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645562" y="7593452"/>
            <a:ext cx="952499" cy="93344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7625" rIns="0" bIns="0" rtlCol="0" vert="horz">
            <a:spAutoFit/>
          </a:bodyPr>
          <a:lstStyle/>
          <a:p>
            <a:pPr marL="12700" marR="772160">
              <a:lnSpc>
                <a:spcPts val="3150"/>
              </a:lnSpc>
              <a:spcBef>
                <a:spcPts val="375"/>
              </a:spcBef>
            </a:pPr>
            <a:r>
              <a:rPr dirty="0" sz="2800" spc="80"/>
              <a:t>La</a:t>
            </a:r>
            <a:r>
              <a:rPr dirty="0" sz="2800" spc="-150"/>
              <a:t> </a:t>
            </a:r>
            <a:r>
              <a:rPr dirty="0" sz="2800" spc="-25"/>
              <a:t>inteligencia</a:t>
            </a:r>
            <a:r>
              <a:rPr dirty="0" sz="2800" spc="-145"/>
              <a:t> </a:t>
            </a:r>
            <a:r>
              <a:rPr dirty="0" sz="2800" spc="-50"/>
              <a:t>competitiva</a:t>
            </a:r>
            <a:r>
              <a:rPr dirty="0" sz="2800" spc="-150"/>
              <a:t> </a:t>
            </a:r>
            <a:r>
              <a:rPr dirty="0" sz="2800" spc="-40"/>
              <a:t>requiere</a:t>
            </a:r>
            <a:r>
              <a:rPr dirty="0" sz="2800" spc="-145"/>
              <a:t> </a:t>
            </a:r>
            <a:r>
              <a:rPr dirty="0" sz="2800" spc="-25"/>
              <a:t>revisar</a:t>
            </a:r>
            <a:r>
              <a:rPr dirty="0" sz="2800" spc="-150"/>
              <a:t> </a:t>
            </a:r>
            <a:r>
              <a:rPr dirty="0" sz="2800" spc="-25"/>
              <a:t>información</a:t>
            </a:r>
            <a:r>
              <a:rPr dirty="0" sz="2800" spc="-145"/>
              <a:t> </a:t>
            </a:r>
            <a:r>
              <a:rPr dirty="0" sz="2800" spc="-25"/>
              <a:t>de </a:t>
            </a:r>
            <a:r>
              <a:rPr dirty="0" sz="2800" spc="-60"/>
              <a:t>competidores,</a:t>
            </a:r>
            <a:r>
              <a:rPr dirty="0" sz="2800" spc="-170"/>
              <a:t> </a:t>
            </a:r>
            <a:r>
              <a:rPr dirty="0" sz="2800" spc="-40"/>
              <a:t>productos</a:t>
            </a:r>
            <a:r>
              <a:rPr dirty="0" sz="2800" spc="-165"/>
              <a:t> </a:t>
            </a:r>
            <a:r>
              <a:rPr dirty="0" sz="2800" spc="95"/>
              <a:t>y</a:t>
            </a:r>
            <a:r>
              <a:rPr dirty="0" sz="2800" spc="-165"/>
              <a:t> </a:t>
            </a:r>
            <a:r>
              <a:rPr dirty="0" sz="2800" spc="-50"/>
              <a:t>fuentes</a:t>
            </a:r>
            <a:r>
              <a:rPr dirty="0" sz="2800" spc="-165"/>
              <a:t> </a:t>
            </a:r>
            <a:r>
              <a:rPr dirty="0" sz="2800" spc="-65"/>
              <a:t>externas</a:t>
            </a:r>
            <a:r>
              <a:rPr dirty="0" sz="2800" spc="-165"/>
              <a:t> </a:t>
            </a:r>
            <a:r>
              <a:rPr dirty="0" sz="2800" spc="-45"/>
              <a:t>de</a:t>
            </a:r>
            <a:r>
              <a:rPr dirty="0" sz="2800" spc="-165"/>
              <a:t> </a:t>
            </a:r>
            <a:r>
              <a:rPr dirty="0" sz="2800" spc="-25"/>
              <a:t>forma</a:t>
            </a:r>
            <a:r>
              <a:rPr dirty="0" sz="2800" spc="-165"/>
              <a:t> </a:t>
            </a:r>
            <a:r>
              <a:rPr dirty="0" sz="2800" spc="-35"/>
              <a:t>continua</a:t>
            </a:r>
            <a:r>
              <a:rPr dirty="0" sz="2800" spc="-165"/>
              <a:t> </a:t>
            </a:r>
            <a:r>
              <a:rPr dirty="0" sz="2800" spc="45"/>
              <a:t>y </a:t>
            </a:r>
            <a:r>
              <a:rPr dirty="0" sz="2800" spc="-10"/>
              <a:t>estructurada.</a:t>
            </a:r>
            <a:endParaRPr sz="2800"/>
          </a:p>
          <a:p>
            <a:pPr marL="12700" marR="379095">
              <a:lnSpc>
                <a:spcPts val="3150"/>
              </a:lnSpc>
              <a:spcBef>
                <a:spcPts val="2680"/>
              </a:spcBef>
            </a:pPr>
            <a:r>
              <a:rPr dirty="0" sz="2800"/>
              <a:t>Los</a:t>
            </a:r>
            <a:r>
              <a:rPr dirty="0" sz="2800" spc="-160"/>
              <a:t> </a:t>
            </a:r>
            <a:r>
              <a:rPr dirty="0" sz="2800" spc="-40"/>
              <a:t>procesos</a:t>
            </a:r>
            <a:r>
              <a:rPr dirty="0" sz="2800" spc="-160"/>
              <a:t> </a:t>
            </a:r>
            <a:r>
              <a:rPr dirty="0" sz="2800" spc="-35"/>
              <a:t>manuales</a:t>
            </a:r>
            <a:r>
              <a:rPr dirty="0" sz="2800" spc="-155"/>
              <a:t> </a:t>
            </a:r>
            <a:r>
              <a:rPr dirty="0" sz="2800" spc="-50"/>
              <a:t>consumen</a:t>
            </a:r>
            <a:r>
              <a:rPr dirty="0" sz="2800" spc="-160"/>
              <a:t> </a:t>
            </a:r>
            <a:r>
              <a:rPr dirty="0" sz="2800" spc="-85"/>
              <a:t>tiempo,</a:t>
            </a:r>
            <a:r>
              <a:rPr dirty="0" sz="2800" spc="-155"/>
              <a:t> </a:t>
            </a:r>
            <a:r>
              <a:rPr dirty="0" sz="2800" spc="-20"/>
              <a:t>dispersan</a:t>
            </a:r>
            <a:r>
              <a:rPr dirty="0" sz="2800" spc="-160"/>
              <a:t> </a:t>
            </a:r>
            <a:r>
              <a:rPr dirty="0" sz="2800" spc="-25"/>
              <a:t>información</a:t>
            </a:r>
            <a:r>
              <a:rPr dirty="0" sz="2800" spc="-155"/>
              <a:t> </a:t>
            </a:r>
            <a:r>
              <a:rPr dirty="0" sz="2800" spc="45"/>
              <a:t>y </a:t>
            </a:r>
            <a:r>
              <a:rPr dirty="0" sz="2800"/>
              <a:t>dificultan</a:t>
            </a:r>
            <a:r>
              <a:rPr dirty="0" sz="2800" spc="-160"/>
              <a:t> </a:t>
            </a:r>
            <a:r>
              <a:rPr dirty="0" sz="2800" spc="-45"/>
              <a:t>mantenerla</a:t>
            </a:r>
            <a:r>
              <a:rPr dirty="0" sz="2800" spc="-155"/>
              <a:t> </a:t>
            </a:r>
            <a:r>
              <a:rPr dirty="0" sz="2800" spc="-40"/>
              <a:t>actualizada,</a:t>
            </a:r>
            <a:r>
              <a:rPr dirty="0" sz="2800" spc="-155"/>
              <a:t> </a:t>
            </a:r>
            <a:r>
              <a:rPr dirty="0" sz="2800" spc="-55"/>
              <a:t>generando</a:t>
            </a:r>
            <a:r>
              <a:rPr dirty="0" sz="2800" spc="-155"/>
              <a:t> </a:t>
            </a:r>
            <a:r>
              <a:rPr dirty="0" sz="2800" spc="-20"/>
              <a:t>decisiones</a:t>
            </a:r>
            <a:r>
              <a:rPr dirty="0" sz="2800" spc="-155"/>
              <a:t> </a:t>
            </a:r>
            <a:r>
              <a:rPr dirty="0" sz="2800" spc="-35"/>
              <a:t>lentas</a:t>
            </a:r>
            <a:r>
              <a:rPr dirty="0" sz="2800" spc="-155"/>
              <a:t> </a:t>
            </a:r>
            <a:r>
              <a:rPr dirty="0" sz="2800" spc="-50"/>
              <a:t>e </a:t>
            </a:r>
            <a:r>
              <a:rPr dirty="0" sz="2800" spc="-10"/>
              <a:t>imprecisas.</a:t>
            </a:r>
            <a:endParaRPr sz="2800"/>
          </a:p>
          <a:p>
            <a:pPr marL="12700" marR="5080">
              <a:lnSpc>
                <a:spcPts val="3150"/>
              </a:lnSpc>
              <a:spcBef>
                <a:spcPts val="2720"/>
              </a:spcBef>
            </a:pPr>
            <a:r>
              <a:rPr dirty="0" sz="2800"/>
              <a:t>Enci-</a:t>
            </a:r>
            <a:r>
              <a:rPr dirty="0" sz="2800" spc="-114"/>
              <a:t>Intel</a:t>
            </a:r>
            <a:r>
              <a:rPr dirty="0" sz="2800" spc="-160"/>
              <a:t> </a:t>
            </a:r>
            <a:r>
              <a:rPr dirty="0" sz="2800"/>
              <a:t>busca</a:t>
            </a:r>
            <a:r>
              <a:rPr dirty="0" sz="2800" spc="-160"/>
              <a:t> </a:t>
            </a:r>
            <a:r>
              <a:rPr dirty="0" sz="2800" spc="-20"/>
              <a:t>centralizar</a:t>
            </a:r>
            <a:r>
              <a:rPr dirty="0" sz="2800" spc="-160"/>
              <a:t> </a:t>
            </a:r>
            <a:r>
              <a:rPr dirty="0" sz="2800" spc="-20"/>
              <a:t>esta</a:t>
            </a:r>
            <a:r>
              <a:rPr dirty="0" sz="2800" spc="-160"/>
              <a:t> </a:t>
            </a:r>
            <a:r>
              <a:rPr dirty="0" sz="2800" spc="-25"/>
              <a:t>información</a:t>
            </a:r>
            <a:r>
              <a:rPr dirty="0" sz="2800" spc="-160"/>
              <a:t> </a:t>
            </a:r>
            <a:r>
              <a:rPr dirty="0" sz="2800" spc="95"/>
              <a:t>y</a:t>
            </a:r>
            <a:r>
              <a:rPr dirty="0" sz="2800" spc="-160"/>
              <a:t> </a:t>
            </a:r>
            <a:r>
              <a:rPr dirty="0" sz="2800" spc="-35"/>
              <a:t>preparar</a:t>
            </a:r>
            <a:r>
              <a:rPr dirty="0" sz="2800" spc="-160"/>
              <a:t> </a:t>
            </a:r>
            <a:r>
              <a:rPr dirty="0" sz="2800" spc="-25"/>
              <a:t>una </a:t>
            </a:r>
            <a:r>
              <a:rPr dirty="0" sz="2800" spc="-30"/>
              <a:t>plataforma</a:t>
            </a:r>
            <a:r>
              <a:rPr dirty="0" sz="2800" spc="-140"/>
              <a:t> </a:t>
            </a:r>
            <a:r>
              <a:rPr dirty="0" sz="2800" spc="-60"/>
              <a:t>donde</a:t>
            </a:r>
            <a:r>
              <a:rPr dirty="0" sz="2800" spc="-140"/>
              <a:t> </a:t>
            </a:r>
            <a:r>
              <a:rPr dirty="0" sz="2800" spc="-40"/>
              <a:t>agentes</a:t>
            </a:r>
            <a:r>
              <a:rPr dirty="0" sz="2800" spc="-140"/>
              <a:t> </a:t>
            </a:r>
            <a:r>
              <a:rPr dirty="0" sz="2800" spc="-20"/>
              <a:t>especializados</a:t>
            </a:r>
            <a:r>
              <a:rPr dirty="0" sz="2800" spc="-140"/>
              <a:t> </a:t>
            </a:r>
            <a:r>
              <a:rPr dirty="0" sz="2800" spc="-35"/>
              <a:t>puedan</a:t>
            </a:r>
            <a:r>
              <a:rPr dirty="0" sz="2800" spc="-140"/>
              <a:t> </a:t>
            </a:r>
            <a:r>
              <a:rPr dirty="0" sz="2800" spc="-40"/>
              <a:t>monitorear</a:t>
            </a:r>
            <a:r>
              <a:rPr dirty="0" sz="2800" spc="-140"/>
              <a:t> </a:t>
            </a:r>
            <a:r>
              <a:rPr dirty="0" sz="2800" spc="-10"/>
              <a:t>fuentes </a:t>
            </a:r>
            <a:r>
              <a:rPr dirty="0" sz="2800" spc="95"/>
              <a:t>y</a:t>
            </a:r>
            <a:r>
              <a:rPr dirty="0" sz="2800" spc="-170"/>
              <a:t> </a:t>
            </a:r>
            <a:r>
              <a:rPr dirty="0" sz="2800" spc="-35"/>
              <a:t>generar</a:t>
            </a:r>
            <a:r>
              <a:rPr dirty="0" sz="2800" spc="-165"/>
              <a:t> </a:t>
            </a:r>
            <a:r>
              <a:rPr dirty="0" sz="2800" spc="-25"/>
              <a:t>inteligencia</a:t>
            </a:r>
            <a:r>
              <a:rPr dirty="0" sz="2800" spc="-165"/>
              <a:t> </a:t>
            </a:r>
            <a:r>
              <a:rPr dirty="0" sz="2800" spc="-45"/>
              <a:t>de</a:t>
            </a:r>
            <a:r>
              <a:rPr dirty="0" sz="2800" spc="-165"/>
              <a:t> </a:t>
            </a:r>
            <a:r>
              <a:rPr dirty="0" sz="2800" spc="-30"/>
              <a:t>mercado</a:t>
            </a:r>
            <a:r>
              <a:rPr dirty="0" sz="2800" spc="-170"/>
              <a:t> </a:t>
            </a:r>
            <a:r>
              <a:rPr dirty="0" sz="2800" spc="-10"/>
              <a:t>estructurada.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458978" y="0"/>
            <a:ext cx="2829020" cy="10286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92299" rIns="0" bIns="0" rtlCol="0" vert="horz">
            <a:spAutoFit/>
          </a:bodyPr>
          <a:lstStyle/>
          <a:p>
            <a:pPr marL="4845050" marR="5080" indent="-3081020">
              <a:lnSpc>
                <a:spcPts val="3080"/>
              </a:lnSpc>
              <a:spcBef>
                <a:spcPts val="345"/>
              </a:spcBef>
            </a:pPr>
            <a:r>
              <a:rPr dirty="0" sz="2700" spc="65">
                <a:solidFill>
                  <a:srgbClr val="005EC2"/>
                </a:solidFill>
              </a:rPr>
              <a:t>DE</a:t>
            </a:r>
            <a:r>
              <a:rPr dirty="0" sz="2700" spc="-80">
                <a:solidFill>
                  <a:srgbClr val="005EC2"/>
                </a:solidFill>
              </a:rPr>
              <a:t> </a:t>
            </a:r>
            <a:r>
              <a:rPr dirty="0" sz="2700" spc="130">
                <a:solidFill>
                  <a:srgbClr val="005EC2"/>
                </a:solidFill>
              </a:rPr>
              <a:t>UNA</a:t>
            </a:r>
            <a:r>
              <a:rPr dirty="0" sz="2700" spc="-80">
                <a:solidFill>
                  <a:srgbClr val="005EC2"/>
                </a:solidFill>
              </a:rPr>
              <a:t> </a:t>
            </a:r>
            <a:r>
              <a:rPr dirty="0" sz="2700">
                <a:solidFill>
                  <a:srgbClr val="005EC2"/>
                </a:solidFill>
              </a:rPr>
              <a:t>SOLUCIÓN</a:t>
            </a:r>
            <a:r>
              <a:rPr dirty="0" sz="2700" spc="-80">
                <a:solidFill>
                  <a:srgbClr val="005EC2"/>
                </a:solidFill>
              </a:rPr>
              <a:t> </a:t>
            </a:r>
            <a:r>
              <a:rPr dirty="0" sz="2700" spc="45">
                <a:solidFill>
                  <a:srgbClr val="005EC2"/>
                </a:solidFill>
              </a:rPr>
              <a:t>ESPECÍFICA</a:t>
            </a:r>
            <a:r>
              <a:rPr dirty="0" sz="2700" spc="-80">
                <a:solidFill>
                  <a:srgbClr val="005EC2"/>
                </a:solidFill>
              </a:rPr>
              <a:t> </a:t>
            </a:r>
            <a:r>
              <a:rPr dirty="0" sz="2700" spc="150">
                <a:solidFill>
                  <a:srgbClr val="005EC2"/>
                </a:solidFill>
              </a:rPr>
              <a:t>A</a:t>
            </a:r>
            <a:r>
              <a:rPr dirty="0" sz="2700" spc="-75">
                <a:solidFill>
                  <a:srgbClr val="005EC2"/>
                </a:solidFill>
              </a:rPr>
              <a:t> </a:t>
            </a:r>
            <a:r>
              <a:rPr dirty="0" sz="2700" spc="130">
                <a:solidFill>
                  <a:srgbClr val="005EC2"/>
                </a:solidFill>
              </a:rPr>
              <a:t>UNA</a:t>
            </a:r>
            <a:r>
              <a:rPr dirty="0" sz="2700" spc="-80">
                <a:solidFill>
                  <a:srgbClr val="005EC2"/>
                </a:solidFill>
              </a:rPr>
              <a:t> </a:t>
            </a:r>
            <a:r>
              <a:rPr dirty="0" sz="2700" spc="85">
                <a:solidFill>
                  <a:srgbClr val="005EC2"/>
                </a:solidFill>
              </a:rPr>
              <a:t>PLATAFORMA </a:t>
            </a:r>
            <a:r>
              <a:rPr dirty="0" sz="2700" spc="40">
                <a:solidFill>
                  <a:srgbClr val="005EC2"/>
                </a:solidFill>
              </a:rPr>
              <a:t>REUTILIZABLE</a:t>
            </a:r>
            <a:endParaRPr sz="27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290867" cy="473227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616802" y="3820323"/>
            <a:ext cx="4666615" cy="3305175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12700" marR="15240">
              <a:lnSpc>
                <a:spcPts val="2850"/>
              </a:lnSpc>
              <a:spcBef>
                <a:spcPts val="335"/>
              </a:spcBef>
            </a:pPr>
            <a:r>
              <a:rPr dirty="0" sz="2500" spc="-30">
                <a:solidFill>
                  <a:srgbClr val="005EC2"/>
                </a:solidFill>
                <a:latin typeface="Tahoma"/>
                <a:cs typeface="Tahoma"/>
              </a:rPr>
              <a:t>EQUIPO</a:t>
            </a:r>
            <a:r>
              <a:rPr dirty="0" sz="2500" spc="-15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440">
                <a:solidFill>
                  <a:srgbClr val="005EC2"/>
                </a:solidFill>
                <a:latin typeface="Tahoma"/>
                <a:cs typeface="Tahoma"/>
              </a:rPr>
              <a:t>1</a:t>
            </a:r>
            <a:r>
              <a:rPr dirty="0" sz="2500" spc="-15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455">
                <a:solidFill>
                  <a:srgbClr val="005EC2"/>
                </a:solidFill>
                <a:latin typeface="Tahoma"/>
                <a:cs typeface="Tahoma"/>
              </a:rPr>
              <a:t>—</a:t>
            </a:r>
            <a:r>
              <a:rPr dirty="0" sz="2500" spc="-15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35">
                <a:solidFill>
                  <a:srgbClr val="005EC2"/>
                </a:solidFill>
                <a:latin typeface="Tahoma"/>
                <a:cs typeface="Tahoma"/>
              </a:rPr>
              <a:t>(Nuestro</a:t>
            </a:r>
            <a:r>
              <a:rPr dirty="0" sz="2500" spc="-15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005EC2"/>
                </a:solidFill>
                <a:latin typeface="Tahoma"/>
                <a:cs typeface="Tahoma"/>
              </a:rPr>
              <a:t>equipo) </a:t>
            </a:r>
            <a:r>
              <a:rPr dirty="0" sz="2500" spc="-35">
                <a:solidFill>
                  <a:srgbClr val="005EC2"/>
                </a:solidFill>
                <a:latin typeface="Tahoma"/>
                <a:cs typeface="Tahoma"/>
              </a:rPr>
              <a:t>Infraestructura</a:t>
            </a:r>
            <a:r>
              <a:rPr dirty="0" sz="2500" spc="-12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50">
                <a:solidFill>
                  <a:srgbClr val="005EC2"/>
                </a:solidFill>
                <a:latin typeface="Tahoma"/>
                <a:cs typeface="Tahoma"/>
              </a:rPr>
              <a:t>Base</a:t>
            </a:r>
            <a:r>
              <a:rPr dirty="0" sz="2500" spc="-12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005EC2"/>
                </a:solidFill>
                <a:latin typeface="Tahoma"/>
                <a:cs typeface="Tahoma"/>
              </a:rPr>
              <a:t>Multitenant </a:t>
            </a:r>
            <a:r>
              <a:rPr dirty="0" sz="2500" spc="-55">
                <a:solidFill>
                  <a:srgbClr val="005EC2"/>
                </a:solidFill>
                <a:latin typeface="Tahoma"/>
                <a:cs typeface="Tahoma"/>
              </a:rPr>
              <a:t>Empresas,</a:t>
            </a:r>
            <a:r>
              <a:rPr dirty="0" sz="2500" spc="-14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40">
                <a:solidFill>
                  <a:srgbClr val="005EC2"/>
                </a:solidFill>
                <a:latin typeface="Tahoma"/>
                <a:cs typeface="Tahoma"/>
              </a:rPr>
              <a:t>usuarios,</a:t>
            </a:r>
            <a:r>
              <a:rPr dirty="0" sz="2500" spc="-14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005EC2"/>
                </a:solidFill>
                <a:latin typeface="Tahoma"/>
                <a:cs typeface="Tahoma"/>
              </a:rPr>
              <a:t>roles</a:t>
            </a:r>
            <a:r>
              <a:rPr dirty="0" sz="2500" spc="-14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50">
                <a:solidFill>
                  <a:srgbClr val="005EC2"/>
                </a:solidFill>
                <a:latin typeface="Tahoma"/>
                <a:cs typeface="Tahoma"/>
              </a:rPr>
              <a:t>y </a:t>
            </a:r>
            <a:r>
              <a:rPr dirty="0" sz="2500" spc="-35">
                <a:solidFill>
                  <a:srgbClr val="005EC2"/>
                </a:solidFill>
                <a:latin typeface="Tahoma"/>
                <a:cs typeface="Tahoma"/>
              </a:rPr>
              <a:t>privilegios,</a:t>
            </a:r>
            <a:r>
              <a:rPr dirty="0" sz="2500" spc="-13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005EC2"/>
                </a:solidFill>
                <a:latin typeface="Tahoma"/>
                <a:cs typeface="Tahoma"/>
              </a:rPr>
              <a:t>competidores, </a:t>
            </a:r>
            <a:r>
              <a:rPr dirty="0" sz="2500" spc="-55">
                <a:solidFill>
                  <a:srgbClr val="005EC2"/>
                </a:solidFill>
                <a:latin typeface="Tahoma"/>
                <a:cs typeface="Tahoma"/>
              </a:rPr>
              <a:t>productos,</a:t>
            </a:r>
            <a:r>
              <a:rPr dirty="0" sz="2500" spc="-14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005EC2"/>
                </a:solidFill>
                <a:latin typeface="Tahoma"/>
                <a:cs typeface="Tahoma"/>
              </a:rPr>
              <a:t>dashboard</a:t>
            </a:r>
            <a:r>
              <a:rPr dirty="0" sz="2500" spc="-14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005EC2"/>
                </a:solidFill>
                <a:latin typeface="Tahoma"/>
                <a:cs typeface="Tahoma"/>
              </a:rPr>
              <a:t>base, </a:t>
            </a:r>
            <a:r>
              <a:rPr dirty="0" sz="2500" spc="-45">
                <a:solidFill>
                  <a:srgbClr val="005EC2"/>
                </a:solidFill>
                <a:latin typeface="Tahoma"/>
                <a:cs typeface="Tahoma"/>
              </a:rPr>
              <a:t>entorno</a:t>
            </a:r>
            <a:r>
              <a:rPr dirty="0" sz="2500" spc="-14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20">
                <a:solidFill>
                  <a:srgbClr val="005EC2"/>
                </a:solidFill>
                <a:latin typeface="Tahoma"/>
                <a:cs typeface="Tahoma"/>
              </a:rPr>
              <a:t>Vercel</a:t>
            </a:r>
            <a:r>
              <a:rPr dirty="0" sz="2500" spc="-14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75">
                <a:solidFill>
                  <a:srgbClr val="005EC2"/>
                </a:solidFill>
                <a:latin typeface="Tahoma"/>
                <a:cs typeface="Tahoma"/>
              </a:rPr>
              <a:t>e</a:t>
            </a:r>
            <a:r>
              <a:rPr dirty="0" sz="2500" spc="-13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20">
                <a:solidFill>
                  <a:srgbClr val="005EC2"/>
                </a:solidFill>
                <a:latin typeface="Tahoma"/>
                <a:cs typeface="Tahoma"/>
              </a:rPr>
              <a:t>integración</a:t>
            </a:r>
            <a:r>
              <a:rPr dirty="0" sz="2500" spc="-14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005EC2"/>
                </a:solidFill>
                <a:latin typeface="Tahoma"/>
                <a:cs typeface="Tahoma"/>
              </a:rPr>
              <a:t>entre módulos.</a:t>
            </a:r>
            <a:endParaRPr sz="2500">
              <a:latin typeface="Tahoma"/>
              <a:cs typeface="Tahoma"/>
            </a:endParaRPr>
          </a:p>
          <a:p>
            <a:pPr marL="12700" marR="5080">
              <a:lnSpc>
                <a:spcPts val="2850"/>
              </a:lnSpc>
            </a:pPr>
            <a:r>
              <a:rPr dirty="0" sz="2500" spc="-30">
                <a:solidFill>
                  <a:srgbClr val="005EC2"/>
                </a:solidFill>
                <a:latin typeface="Tahoma"/>
                <a:cs typeface="Tahoma"/>
              </a:rPr>
              <a:t>"Construimos</a:t>
            </a:r>
            <a:r>
              <a:rPr dirty="0" sz="2500" spc="-15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005EC2"/>
                </a:solidFill>
                <a:latin typeface="Tahoma"/>
                <a:cs typeface="Tahoma"/>
              </a:rPr>
              <a:t>la</a:t>
            </a:r>
            <a:r>
              <a:rPr dirty="0" sz="2500" spc="-14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005EC2"/>
                </a:solidFill>
                <a:latin typeface="Tahoma"/>
                <a:cs typeface="Tahoma"/>
              </a:rPr>
              <a:t>base</a:t>
            </a:r>
            <a:r>
              <a:rPr dirty="0" sz="2500" spc="-14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25">
                <a:solidFill>
                  <a:srgbClr val="005EC2"/>
                </a:solidFill>
                <a:latin typeface="Tahoma"/>
                <a:cs typeface="Tahoma"/>
              </a:rPr>
              <a:t>sobre</a:t>
            </a:r>
            <a:r>
              <a:rPr dirty="0" sz="2500" spc="-14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005EC2"/>
                </a:solidFill>
                <a:latin typeface="Tahoma"/>
                <a:cs typeface="Tahoma"/>
              </a:rPr>
              <a:t>la</a:t>
            </a:r>
            <a:r>
              <a:rPr dirty="0" sz="2500" spc="-14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25">
                <a:solidFill>
                  <a:srgbClr val="005EC2"/>
                </a:solidFill>
                <a:latin typeface="Tahoma"/>
                <a:cs typeface="Tahoma"/>
              </a:rPr>
              <a:t>que </a:t>
            </a:r>
            <a:r>
              <a:rPr dirty="0" sz="2500">
                <a:solidFill>
                  <a:srgbClr val="005EC2"/>
                </a:solidFill>
                <a:latin typeface="Tahoma"/>
                <a:cs typeface="Tahoma"/>
              </a:rPr>
              <a:t>se</a:t>
            </a:r>
            <a:r>
              <a:rPr dirty="0" sz="2500" spc="-15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25">
                <a:solidFill>
                  <a:srgbClr val="005EC2"/>
                </a:solidFill>
                <a:latin typeface="Tahoma"/>
                <a:cs typeface="Tahoma"/>
              </a:rPr>
              <a:t>integran</a:t>
            </a:r>
            <a:r>
              <a:rPr dirty="0" sz="2500" spc="-15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20">
                <a:solidFill>
                  <a:srgbClr val="005EC2"/>
                </a:solidFill>
                <a:latin typeface="Tahoma"/>
                <a:cs typeface="Tahoma"/>
              </a:rPr>
              <a:t>los</a:t>
            </a:r>
            <a:r>
              <a:rPr dirty="0" sz="2500" spc="-15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005EC2"/>
                </a:solidFill>
                <a:latin typeface="Tahoma"/>
                <a:cs typeface="Tahoma"/>
              </a:rPr>
              <a:t>demás</a:t>
            </a:r>
            <a:r>
              <a:rPr dirty="0" sz="2500" spc="-15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005EC2"/>
                </a:solidFill>
                <a:latin typeface="Tahoma"/>
                <a:cs typeface="Tahoma"/>
              </a:rPr>
              <a:t>módulos."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30025" y="5218402"/>
            <a:ext cx="4161154" cy="294322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2925"/>
              </a:lnSpc>
              <a:spcBef>
                <a:spcPts val="114"/>
              </a:spcBef>
            </a:pPr>
            <a:r>
              <a:rPr dirty="0" sz="2500" spc="-30">
                <a:solidFill>
                  <a:srgbClr val="005EC2"/>
                </a:solidFill>
                <a:latin typeface="Tahoma"/>
                <a:cs typeface="Tahoma"/>
              </a:rPr>
              <a:t>EQUIPO</a:t>
            </a:r>
            <a:r>
              <a:rPr dirty="0" sz="2500" spc="-15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70">
                <a:solidFill>
                  <a:srgbClr val="005EC2"/>
                </a:solidFill>
                <a:latin typeface="Tahoma"/>
                <a:cs typeface="Tahoma"/>
              </a:rPr>
              <a:t>2</a:t>
            </a:r>
            <a:endParaRPr sz="2500">
              <a:latin typeface="Tahoma"/>
              <a:cs typeface="Tahoma"/>
            </a:endParaRPr>
          </a:p>
          <a:p>
            <a:pPr marL="12700" marR="5080">
              <a:lnSpc>
                <a:spcPts val="2850"/>
              </a:lnSpc>
              <a:spcBef>
                <a:spcPts val="145"/>
              </a:spcBef>
            </a:pPr>
            <a:r>
              <a:rPr dirty="0" sz="2500" spc="-10">
                <a:solidFill>
                  <a:srgbClr val="005EC2"/>
                </a:solidFill>
                <a:latin typeface="Tahoma"/>
                <a:cs typeface="Tahoma"/>
              </a:rPr>
              <a:t>Agentes</a:t>
            </a:r>
            <a:r>
              <a:rPr dirty="0" sz="2500" spc="-13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005EC2"/>
                </a:solidFill>
                <a:latin typeface="Tahoma"/>
                <a:cs typeface="Tahoma"/>
              </a:rPr>
              <a:t>Configurables Agentes</a:t>
            </a:r>
            <a:r>
              <a:rPr dirty="0" sz="2500" spc="-13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005EC2"/>
                </a:solidFill>
                <a:latin typeface="Tahoma"/>
                <a:cs typeface="Tahoma"/>
              </a:rPr>
              <a:t>especializados configurables</a:t>
            </a:r>
            <a:r>
              <a:rPr dirty="0" sz="2500" spc="-15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005EC2"/>
                </a:solidFill>
                <a:latin typeface="Tahoma"/>
                <a:cs typeface="Tahoma"/>
              </a:rPr>
              <a:t>para</a:t>
            </a:r>
            <a:r>
              <a:rPr dirty="0" sz="2500" spc="-15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005EC2"/>
                </a:solidFill>
                <a:latin typeface="Tahoma"/>
                <a:cs typeface="Tahoma"/>
              </a:rPr>
              <a:t>monitoreo </a:t>
            </a:r>
            <a:r>
              <a:rPr dirty="0" sz="2500" spc="-20">
                <a:solidFill>
                  <a:srgbClr val="005EC2"/>
                </a:solidFill>
                <a:latin typeface="Tahoma"/>
                <a:cs typeface="Tahoma"/>
              </a:rPr>
              <a:t>de</a:t>
            </a:r>
            <a:r>
              <a:rPr dirty="0" sz="2500" spc="-14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30">
                <a:solidFill>
                  <a:srgbClr val="005EC2"/>
                </a:solidFill>
                <a:latin typeface="Tahoma"/>
                <a:cs typeface="Tahoma"/>
              </a:rPr>
              <a:t>competidores</a:t>
            </a:r>
            <a:r>
              <a:rPr dirty="0" sz="2500" spc="-14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100">
                <a:solidFill>
                  <a:srgbClr val="005EC2"/>
                </a:solidFill>
                <a:latin typeface="Tahoma"/>
                <a:cs typeface="Tahoma"/>
              </a:rPr>
              <a:t>y</a:t>
            </a:r>
            <a:r>
              <a:rPr dirty="0" sz="2500" spc="-14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005EC2"/>
                </a:solidFill>
                <a:latin typeface="Tahoma"/>
                <a:cs typeface="Tahoma"/>
              </a:rPr>
              <a:t>productos, </a:t>
            </a:r>
            <a:r>
              <a:rPr dirty="0" sz="2500" spc="-20">
                <a:solidFill>
                  <a:srgbClr val="005EC2"/>
                </a:solidFill>
                <a:latin typeface="Tahoma"/>
                <a:cs typeface="Tahoma"/>
              </a:rPr>
              <a:t>actualizando</a:t>
            </a:r>
            <a:r>
              <a:rPr dirty="0" sz="2500" spc="-13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005EC2"/>
                </a:solidFill>
                <a:latin typeface="Tahoma"/>
                <a:cs typeface="Tahoma"/>
              </a:rPr>
              <a:t>inteligencia</a:t>
            </a:r>
            <a:r>
              <a:rPr dirty="0" sz="2500" spc="-13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25">
                <a:solidFill>
                  <a:srgbClr val="005EC2"/>
                </a:solidFill>
                <a:latin typeface="Tahoma"/>
                <a:cs typeface="Tahoma"/>
              </a:rPr>
              <a:t>de </a:t>
            </a:r>
            <a:r>
              <a:rPr dirty="0" sz="2500" spc="-20">
                <a:solidFill>
                  <a:srgbClr val="005EC2"/>
                </a:solidFill>
                <a:latin typeface="Tahoma"/>
                <a:cs typeface="Tahoma"/>
              </a:rPr>
              <a:t>mercado</a:t>
            </a:r>
            <a:r>
              <a:rPr dirty="0" sz="2500" spc="-14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20">
                <a:solidFill>
                  <a:srgbClr val="005EC2"/>
                </a:solidFill>
                <a:latin typeface="Tahoma"/>
                <a:cs typeface="Tahoma"/>
              </a:rPr>
              <a:t>de</a:t>
            </a:r>
            <a:r>
              <a:rPr dirty="0" sz="2500" spc="-14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005EC2"/>
                </a:solidFill>
                <a:latin typeface="Tahoma"/>
                <a:cs typeface="Tahoma"/>
              </a:rPr>
              <a:t>forma</a:t>
            </a:r>
            <a:r>
              <a:rPr dirty="0" sz="2500" spc="-14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005EC2"/>
                </a:solidFill>
                <a:latin typeface="Tahoma"/>
                <a:cs typeface="Tahoma"/>
              </a:rPr>
              <a:t>periódica</a:t>
            </a:r>
            <a:r>
              <a:rPr dirty="0" sz="2500" spc="-14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50">
                <a:solidFill>
                  <a:srgbClr val="005EC2"/>
                </a:solidFill>
                <a:latin typeface="Tahoma"/>
                <a:cs typeface="Tahoma"/>
              </a:rPr>
              <a:t>y </a:t>
            </a:r>
            <a:r>
              <a:rPr dirty="0" sz="2500" spc="-10">
                <a:solidFill>
                  <a:srgbClr val="005EC2"/>
                </a:solidFill>
                <a:latin typeface="Tahoma"/>
                <a:cs typeface="Tahoma"/>
              </a:rPr>
              <a:t>automatizada.</a:t>
            </a:r>
            <a:endParaRPr sz="25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88736" y="3667745"/>
            <a:ext cx="10999263" cy="661925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216707" y="3820323"/>
            <a:ext cx="4617085" cy="25812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2925"/>
              </a:lnSpc>
              <a:spcBef>
                <a:spcPts val="114"/>
              </a:spcBef>
            </a:pPr>
            <a:r>
              <a:rPr dirty="0" sz="2500" spc="-30">
                <a:solidFill>
                  <a:srgbClr val="005EC2"/>
                </a:solidFill>
                <a:latin typeface="Tahoma"/>
                <a:cs typeface="Tahoma"/>
              </a:rPr>
              <a:t>EQUIPO</a:t>
            </a:r>
            <a:r>
              <a:rPr dirty="0" sz="2500" spc="-15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125">
                <a:solidFill>
                  <a:srgbClr val="005EC2"/>
                </a:solidFill>
                <a:latin typeface="Tahoma"/>
                <a:cs typeface="Tahoma"/>
              </a:rPr>
              <a:t>3</a:t>
            </a:r>
            <a:endParaRPr sz="2500">
              <a:latin typeface="Tahoma"/>
              <a:cs typeface="Tahoma"/>
            </a:endParaRPr>
          </a:p>
          <a:p>
            <a:pPr marL="12700" marR="597535">
              <a:lnSpc>
                <a:spcPts val="2850"/>
              </a:lnSpc>
              <a:spcBef>
                <a:spcPts val="145"/>
              </a:spcBef>
            </a:pPr>
            <a:r>
              <a:rPr dirty="0" sz="2500" spc="-10">
                <a:solidFill>
                  <a:srgbClr val="005EC2"/>
                </a:solidFill>
                <a:latin typeface="Tahoma"/>
                <a:cs typeface="Tahoma"/>
              </a:rPr>
              <a:t>Agentes</a:t>
            </a:r>
            <a:r>
              <a:rPr dirty="0" sz="2500" spc="-13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005EC2"/>
                </a:solidFill>
                <a:latin typeface="Tahoma"/>
                <a:cs typeface="Tahoma"/>
              </a:rPr>
              <a:t>Regulatorios Agentes</a:t>
            </a:r>
            <a:r>
              <a:rPr dirty="0" sz="2500" spc="-13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25">
                <a:solidFill>
                  <a:srgbClr val="005EC2"/>
                </a:solidFill>
                <a:latin typeface="Tahoma"/>
                <a:cs typeface="Tahoma"/>
              </a:rPr>
              <a:t>orientados</a:t>
            </a:r>
            <a:r>
              <a:rPr dirty="0" sz="2500" spc="-13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005EC2"/>
                </a:solidFill>
                <a:latin typeface="Tahoma"/>
                <a:cs typeface="Tahoma"/>
              </a:rPr>
              <a:t>a</a:t>
            </a:r>
            <a:r>
              <a:rPr dirty="0" sz="2500" spc="-13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25">
                <a:solidFill>
                  <a:srgbClr val="005EC2"/>
                </a:solidFill>
                <a:latin typeface="Tahoma"/>
                <a:cs typeface="Tahoma"/>
              </a:rPr>
              <a:t>fuentes</a:t>
            </a:r>
            <a:endParaRPr sz="2500">
              <a:latin typeface="Tahoma"/>
              <a:cs typeface="Tahoma"/>
            </a:endParaRPr>
          </a:p>
          <a:p>
            <a:pPr marL="12700" marR="5080">
              <a:lnSpc>
                <a:spcPts val="2850"/>
              </a:lnSpc>
            </a:pPr>
            <a:r>
              <a:rPr dirty="0" sz="2500" spc="-10">
                <a:solidFill>
                  <a:srgbClr val="005EC2"/>
                </a:solidFill>
                <a:latin typeface="Tahoma"/>
                <a:cs typeface="Tahoma"/>
              </a:rPr>
              <a:t>regulatorias</a:t>
            </a:r>
            <a:r>
              <a:rPr dirty="0" sz="2500" spc="-14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100">
                <a:solidFill>
                  <a:srgbClr val="005EC2"/>
                </a:solidFill>
                <a:latin typeface="Tahoma"/>
                <a:cs typeface="Tahoma"/>
              </a:rPr>
              <a:t>y</a:t>
            </a:r>
            <a:r>
              <a:rPr dirty="0" sz="2500" spc="-13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005EC2"/>
                </a:solidFill>
                <a:latin typeface="Tahoma"/>
                <a:cs typeface="Tahoma"/>
              </a:rPr>
              <a:t>gubernamentales, </a:t>
            </a:r>
            <a:r>
              <a:rPr dirty="0" sz="2500" spc="-40">
                <a:solidFill>
                  <a:srgbClr val="005EC2"/>
                </a:solidFill>
                <a:latin typeface="Tahoma"/>
                <a:cs typeface="Tahoma"/>
              </a:rPr>
              <a:t>como</a:t>
            </a:r>
            <a:r>
              <a:rPr dirty="0" sz="2500" spc="-15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65">
                <a:solidFill>
                  <a:srgbClr val="005EC2"/>
                </a:solidFill>
                <a:latin typeface="Tahoma"/>
                <a:cs typeface="Tahoma"/>
              </a:rPr>
              <a:t>SAG</a:t>
            </a:r>
            <a:r>
              <a:rPr dirty="0" sz="2500" spc="-15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100">
                <a:solidFill>
                  <a:srgbClr val="005EC2"/>
                </a:solidFill>
                <a:latin typeface="Tahoma"/>
                <a:cs typeface="Tahoma"/>
              </a:rPr>
              <a:t>y</a:t>
            </a:r>
            <a:r>
              <a:rPr dirty="0" sz="2500" spc="-15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25">
                <a:solidFill>
                  <a:srgbClr val="005EC2"/>
                </a:solidFill>
                <a:latin typeface="Tahoma"/>
                <a:cs typeface="Tahoma"/>
              </a:rPr>
              <a:t>Aduanas,</a:t>
            </a:r>
            <a:r>
              <a:rPr dirty="0" sz="2500" spc="-15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20">
                <a:solidFill>
                  <a:srgbClr val="005EC2"/>
                </a:solidFill>
                <a:latin typeface="Tahoma"/>
                <a:cs typeface="Tahoma"/>
              </a:rPr>
              <a:t>para </a:t>
            </a:r>
            <a:r>
              <a:rPr dirty="0" sz="2500" spc="-10">
                <a:solidFill>
                  <a:srgbClr val="005EC2"/>
                </a:solidFill>
                <a:latin typeface="Tahoma"/>
                <a:cs typeface="Tahoma"/>
              </a:rPr>
              <a:t>integrar</a:t>
            </a:r>
            <a:r>
              <a:rPr dirty="0" sz="2500" spc="-13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20">
                <a:solidFill>
                  <a:srgbClr val="005EC2"/>
                </a:solidFill>
                <a:latin typeface="Tahoma"/>
                <a:cs typeface="Tahoma"/>
              </a:rPr>
              <a:t>información</a:t>
            </a:r>
            <a:r>
              <a:rPr dirty="0" sz="2500" spc="-12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25">
                <a:solidFill>
                  <a:srgbClr val="005EC2"/>
                </a:solidFill>
                <a:latin typeface="Tahoma"/>
                <a:cs typeface="Tahoma"/>
              </a:rPr>
              <a:t>normativa</a:t>
            </a:r>
            <a:r>
              <a:rPr dirty="0" sz="2500" spc="-13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25">
                <a:solidFill>
                  <a:srgbClr val="005EC2"/>
                </a:solidFill>
                <a:latin typeface="Tahoma"/>
                <a:cs typeface="Tahoma"/>
              </a:rPr>
              <a:t>al </a:t>
            </a:r>
            <a:r>
              <a:rPr dirty="0" sz="2500" spc="-30">
                <a:solidFill>
                  <a:srgbClr val="005EC2"/>
                </a:solidFill>
                <a:latin typeface="Tahoma"/>
                <a:cs typeface="Tahoma"/>
              </a:rPr>
              <a:t>ecosistema</a:t>
            </a:r>
            <a:r>
              <a:rPr dirty="0" sz="2500" spc="-2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005EC2"/>
                </a:solidFill>
                <a:latin typeface="Tahoma"/>
                <a:cs typeface="Tahoma"/>
              </a:rPr>
              <a:t>Enci-</a:t>
            </a:r>
            <a:r>
              <a:rPr dirty="0" sz="2500" spc="-10">
                <a:solidFill>
                  <a:srgbClr val="005EC2"/>
                </a:solidFill>
                <a:latin typeface="Tahoma"/>
                <a:cs typeface="Tahoma"/>
              </a:rPr>
              <a:t>Intel.</a:t>
            </a:r>
            <a:endParaRPr sz="25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061648" y="4391101"/>
            <a:ext cx="5784215" cy="3266440"/>
            <a:chOff x="9061648" y="4391101"/>
            <a:chExt cx="5784215" cy="3266440"/>
          </a:xfrm>
        </p:grpSpPr>
        <p:sp>
          <p:nvSpPr>
            <p:cNvPr id="12" name="object 12"/>
            <p:cNvSpPr/>
            <p:nvPr/>
          </p:nvSpPr>
          <p:spPr>
            <a:xfrm>
              <a:off x="14169488" y="6981025"/>
              <a:ext cx="676275" cy="676275"/>
            </a:xfrm>
            <a:custGeom>
              <a:avLst/>
              <a:gdLst/>
              <a:ahLst/>
              <a:cxnLst/>
              <a:rect l="l" t="t" r="r" b="b"/>
              <a:pathLst>
                <a:path w="676275" h="676275">
                  <a:moveTo>
                    <a:pt x="381595" y="676275"/>
                  </a:moveTo>
                  <a:lnTo>
                    <a:pt x="297507" y="676275"/>
                  </a:lnTo>
                  <a:lnTo>
                    <a:pt x="293476" y="676003"/>
                  </a:lnTo>
                  <a:lnTo>
                    <a:pt x="249285" y="666974"/>
                  </a:lnTo>
                  <a:lnTo>
                    <a:pt x="207382" y="652419"/>
                  </a:lnTo>
                  <a:lnTo>
                    <a:pt x="168173" y="632744"/>
                  </a:lnTo>
                  <a:lnTo>
                    <a:pt x="132061" y="608353"/>
                  </a:lnTo>
                  <a:lnTo>
                    <a:pt x="99452" y="579651"/>
                  </a:lnTo>
                  <a:lnTo>
                    <a:pt x="70749" y="547041"/>
                  </a:lnTo>
                  <a:lnTo>
                    <a:pt x="46358" y="510930"/>
                  </a:lnTo>
                  <a:lnTo>
                    <a:pt x="26683" y="471720"/>
                  </a:lnTo>
                  <a:lnTo>
                    <a:pt x="12128" y="429818"/>
                  </a:lnTo>
                  <a:lnTo>
                    <a:pt x="3099" y="385626"/>
                  </a:lnTo>
                  <a:lnTo>
                    <a:pt x="0" y="339551"/>
                  </a:lnTo>
                  <a:lnTo>
                    <a:pt x="3099" y="293476"/>
                  </a:lnTo>
                  <a:lnTo>
                    <a:pt x="12128" y="249285"/>
                  </a:lnTo>
                  <a:lnTo>
                    <a:pt x="26683" y="207382"/>
                  </a:lnTo>
                  <a:lnTo>
                    <a:pt x="46358" y="168173"/>
                  </a:lnTo>
                  <a:lnTo>
                    <a:pt x="70749" y="132061"/>
                  </a:lnTo>
                  <a:lnTo>
                    <a:pt x="99452" y="99452"/>
                  </a:lnTo>
                  <a:lnTo>
                    <a:pt x="132061" y="70749"/>
                  </a:lnTo>
                  <a:lnTo>
                    <a:pt x="168173" y="46358"/>
                  </a:lnTo>
                  <a:lnTo>
                    <a:pt x="207382" y="26683"/>
                  </a:lnTo>
                  <a:lnTo>
                    <a:pt x="249285" y="12128"/>
                  </a:lnTo>
                  <a:lnTo>
                    <a:pt x="293476" y="3099"/>
                  </a:lnTo>
                  <a:lnTo>
                    <a:pt x="339551" y="0"/>
                  </a:lnTo>
                  <a:lnTo>
                    <a:pt x="385626" y="3099"/>
                  </a:lnTo>
                  <a:lnTo>
                    <a:pt x="429817" y="12128"/>
                  </a:lnTo>
                  <a:lnTo>
                    <a:pt x="471720" y="26683"/>
                  </a:lnTo>
                  <a:lnTo>
                    <a:pt x="510929" y="46358"/>
                  </a:lnTo>
                  <a:lnTo>
                    <a:pt x="547041" y="70749"/>
                  </a:lnTo>
                  <a:lnTo>
                    <a:pt x="579650" y="99452"/>
                  </a:lnTo>
                  <a:lnTo>
                    <a:pt x="608352" y="132061"/>
                  </a:lnTo>
                  <a:lnTo>
                    <a:pt x="632743" y="168173"/>
                  </a:lnTo>
                  <a:lnTo>
                    <a:pt x="652418" y="207382"/>
                  </a:lnTo>
                  <a:lnTo>
                    <a:pt x="666973" y="249285"/>
                  </a:lnTo>
                  <a:lnTo>
                    <a:pt x="676002" y="293476"/>
                  </a:lnTo>
                  <a:lnTo>
                    <a:pt x="676275" y="297522"/>
                  </a:lnTo>
                  <a:lnTo>
                    <a:pt x="676275" y="381580"/>
                  </a:lnTo>
                  <a:lnTo>
                    <a:pt x="666973" y="429818"/>
                  </a:lnTo>
                  <a:lnTo>
                    <a:pt x="652418" y="471720"/>
                  </a:lnTo>
                  <a:lnTo>
                    <a:pt x="632743" y="510930"/>
                  </a:lnTo>
                  <a:lnTo>
                    <a:pt x="608352" y="547041"/>
                  </a:lnTo>
                  <a:lnTo>
                    <a:pt x="579650" y="579651"/>
                  </a:lnTo>
                  <a:lnTo>
                    <a:pt x="547041" y="608353"/>
                  </a:lnTo>
                  <a:lnTo>
                    <a:pt x="510929" y="632744"/>
                  </a:lnTo>
                  <a:lnTo>
                    <a:pt x="471720" y="652419"/>
                  </a:lnTo>
                  <a:lnTo>
                    <a:pt x="429817" y="666974"/>
                  </a:lnTo>
                  <a:lnTo>
                    <a:pt x="385626" y="676003"/>
                  </a:lnTo>
                  <a:lnTo>
                    <a:pt x="381595" y="676275"/>
                  </a:lnTo>
                  <a:close/>
                </a:path>
              </a:pathLst>
            </a:custGeom>
            <a:solidFill>
              <a:srgbClr val="005E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4304857" y="7168560"/>
              <a:ext cx="408940" cy="313690"/>
            </a:xfrm>
            <a:custGeom>
              <a:avLst/>
              <a:gdLst/>
              <a:ahLst/>
              <a:cxnLst/>
              <a:rect l="l" t="t" r="r" b="b"/>
              <a:pathLst>
                <a:path w="408940" h="313690">
                  <a:moveTo>
                    <a:pt x="113620" y="313329"/>
                  </a:moveTo>
                  <a:lnTo>
                    <a:pt x="0" y="199700"/>
                  </a:lnTo>
                  <a:lnTo>
                    <a:pt x="18582" y="181118"/>
                  </a:lnTo>
                  <a:lnTo>
                    <a:pt x="113620" y="276155"/>
                  </a:lnTo>
                  <a:lnTo>
                    <a:pt x="389780" y="0"/>
                  </a:lnTo>
                  <a:lnTo>
                    <a:pt x="408363" y="18582"/>
                  </a:lnTo>
                  <a:lnTo>
                    <a:pt x="113620" y="313329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9061648" y="4391101"/>
              <a:ext cx="676275" cy="676275"/>
            </a:xfrm>
            <a:custGeom>
              <a:avLst/>
              <a:gdLst/>
              <a:ahLst/>
              <a:cxnLst/>
              <a:rect l="l" t="t" r="r" b="b"/>
              <a:pathLst>
                <a:path w="676275" h="676275">
                  <a:moveTo>
                    <a:pt x="381596" y="676275"/>
                  </a:moveTo>
                  <a:lnTo>
                    <a:pt x="297506" y="676275"/>
                  </a:lnTo>
                  <a:lnTo>
                    <a:pt x="293476" y="676003"/>
                  </a:lnTo>
                  <a:lnTo>
                    <a:pt x="249285" y="666974"/>
                  </a:lnTo>
                  <a:lnTo>
                    <a:pt x="207382" y="652419"/>
                  </a:lnTo>
                  <a:lnTo>
                    <a:pt x="168173" y="632744"/>
                  </a:lnTo>
                  <a:lnTo>
                    <a:pt x="132061" y="608353"/>
                  </a:lnTo>
                  <a:lnTo>
                    <a:pt x="99452" y="579651"/>
                  </a:lnTo>
                  <a:lnTo>
                    <a:pt x="70749" y="547041"/>
                  </a:lnTo>
                  <a:lnTo>
                    <a:pt x="46358" y="510930"/>
                  </a:lnTo>
                  <a:lnTo>
                    <a:pt x="26683" y="471720"/>
                  </a:lnTo>
                  <a:lnTo>
                    <a:pt x="12128" y="429818"/>
                  </a:lnTo>
                  <a:lnTo>
                    <a:pt x="3099" y="385626"/>
                  </a:lnTo>
                  <a:lnTo>
                    <a:pt x="0" y="339551"/>
                  </a:lnTo>
                  <a:lnTo>
                    <a:pt x="3099" y="293476"/>
                  </a:lnTo>
                  <a:lnTo>
                    <a:pt x="12128" y="249285"/>
                  </a:lnTo>
                  <a:lnTo>
                    <a:pt x="26683" y="207382"/>
                  </a:lnTo>
                  <a:lnTo>
                    <a:pt x="46358" y="168173"/>
                  </a:lnTo>
                  <a:lnTo>
                    <a:pt x="70749" y="132061"/>
                  </a:lnTo>
                  <a:lnTo>
                    <a:pt x="99452" y="99452"/>
                  </a:lnTo>
                  <a:lnTo>
                    <a:pt x="132061" y="70749"/>
                  </a:lnTo>
                  <a:lnTo>
                    <a:pt x="168173" y="46358"/>
                  </a:lnTo>
                  <a:lnTo>
                    <a:pt x="207382" y="26683"/>
                  </a:lnTo>
                  <a:lnTo>
                    <a:pt x="249285" y="12129"/>
                  </a:lnTo>
                  <a:lnTo>
                    <a:pt x="293476" y="3099"/>
                  </a:lnTo>
                  <a:lnTo>
                    <a:pt x="339551" y="0"/>
                  </a:lnTo>
                  <a:lnTo>
                    <a:pt x="385626" y="3099"/>
                  </a:lnTo>
                  <a:lnTo>
                    <a:pt x="429817" y="12129"/>
                  </a:lnTo>
                  <a:lnTo>
                    <a:pt x="471720" y="26683"/>
                  </a:lnTo>
                  <a:lnTo>
                    <a:pt x="510929" y="46358"/>
                  </a:lnTo>
                  <a:lnTo>
                    <a:pt x="547041" y="70749"/>
                  </a:lnTo>
                  <a:lnTo>
                    <a:pt x="579650" y="99452"/>
                  </a:lnTo>
                  <a:lnTo>
                    <a:pt x="608353" y="132061"/>
                  </a:lnTo>
                  <a:lnTo>
                    <a:pt x="632744" y="168173"/>
                  </a:lnTo>
                  <a:lnTo>
                    <a:pt x="652419" y="207382"/>
                  </a:lnTo>
                  <a:lnTo>
                    <a:pt x="666973" y="249285"/>
                  </a:lnTo>
                  <a:lnTo>
                    <a:pt x="676002" y="293476"/>
                  </a:lnTo>
                  <a:lnTo>
                    <a:pt x="676275" y="297521"/>
                  </a:lnTo>
                  <a:lnTo>
                    <a:pt x="676275" y="381582"/>
                  </a:lnTo>
                  <a:lnTo>
                    <a:pt x="666973" y="429818"/>
                  </a:lnTo>
                  <a:lnTo>
                    <a:pt x="652419" y="471720"/>
                  </a:lnTo>
                  <a:lnTo>
                    <a:pt x="632744" y="510930"/>
                  </a:lnTo>
                  <a:lnTo>
                    <a:pt x="608353" y="547041"/>
                  </a:lnTo>
                  <a:lnTo>
                    <a:pt x="579650" y="579651"/>
                  </a:lnTo>
                  <a:lnTo>
                    <a:pt x="547041" y="608353"/>
                  </a:lnTo>
                  <a:lnTo>
                    <a:pt x="510929" y="632744"/>
                  </a:lnTo>
                  <a:lnTo>
                    <a:pt x="471720" y="652419"/>
                  </a:lnTo>
                  <a:lnTo>
                    <a:pt x="429817" y="666974"/>
                  </a:lnTo>
                  <a:lnTo>
                    <a:pt x="385626" y="676003"/>
                  </a:lnTo>
                  <a:lnTo>
                    <a:pt x="381596" y="676275"/>
                  </a:lnTo>
                  <a:close/>
                </a:path>
              </a:pathLst>
            </a:custGeom>
            <a:solidFill>
              <a:srgbClr val="005E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9197018" y="4578636"/>
              <a:ext cx="408940" cy="313690"/>
            </a:xfrm>
            <a:custGeom>
              <a:avLst/>
              <a:gdLst/>
              <a:ahLst/>
              <a:cxnLst/>
              <a:rect l="l" t="t" r="r" b="b"/>
              <a:pathLst>
                <a:path w="408940" h="313689">
                  <a:moveTo>
                    <a:pt x="113620" y="313329"/>
                  </a:moveTo>
                  <a:lnTo>
                    <a:pt x="0" y="199700"/>
                  </a:lnTo>
                  <a:lnTo>
                    <a:pt x="18582" y="181118"/>
                  </a:lnTo>
                  <a:lnTo>
                    <a:pt x="113620" y="276155"/>
                  </a:lnTo>
                  <a:lnTo>
                    <a:pt x="389780" y="0"/>
                  </a:lnTo>
                  <a:lnTo>
                    <a:pt x="408363" y="18582"/>
                  </a:lnTo>
                  <a:lnTo>
                    <a:pt x="113620" y="313329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3953809" y="7660195"/>
            <a:ext cx="676275" cy="676275"/>
            <a:chOff x="3953809" y="7660195"/>
            <a:chExt cx="676275" cy="676275"/>
          </a:xfrm>
        </p:grpSpPr>
        <p:sp>
          <p:nvSpPr>
            <p:cNvPr id="9" name="object 9"/>
            <p:cNvSpPr/>
            <p:nvPr/>
          </p:nvSpPr>
          <p:spPr>
            <a:xfrm>
              <a:off x="3953809" y="7660195"/>
              <a:ext cx="676275" cy="676275"/>
            </a:xfrm>
            <a:custGeom>
              <a:avLst/>
              <a:gdLst/>
              <a:ahLst/>
              <a:cxnLst/>
              <a:rect l="l" t="t" r="r" b="b"/>
              <a:pathLst>
                <a:path w="676275" h="676275">
                  <a:moveTo>
                    <a:pt x="381595" y="676275"/>
                  </a:moveTo>
                  <a:lnTo>
                    <a:pt x="297507" y="676275"/>
                  </a:lnTo>
                  <a:lnTo>
                    <a:pt x="293476" y="676003"/>
                  </a:lnTo>
                  <a:lnTo>
                    <a:pt x="249285" y="666974"/>
                  </a:lnTo>
                  <a:lnTo>
                    <a:pt x="207382" y="652419"/>
                  </a:lnTo>
                  <a:lnTo>
                    <a:pt x="168173" y="632744"/>
                  </a:lnTo>
                  <a:lnTo>
                    <a:pt x="132061" y="608353"/>
                  </a:lnTo>
                  <a:lnTo>
                    <a:pt x="99452" y="579651"/>
                  </a:lnTo>
                  <a:lnTo>
                    <a:pt x="70749" y="547041"/>
                  </a:lnTo>
                  <a:lnTo>
                    <a:pt x="46358" y="510930"/>
                  </a:lnTo>
                  <a:lnTo>
                    <a:pt x="26683" y="471720"/>
                  </a:lnTo>
                  <a:lnTo>
                    <a:pt x="12129" y="429818"/>
                  </a:lnTo>
                  <a:lnTo>
                    <a:pt x="3099" y="385626"/>
                  </a:lnTo>
                  <a:lnTo>
                    <a:pt x="0" y="339551"/>
                  </a:lnTo>
                  <a:lnTo>
                    <a:pt x="3099" y="293476"/>
                  </a:lnTo>
                  <a:lnTo>
                    <a:pt x="12129" y="249285"/>
                  </a:lnTo>
                  <a:lnTo>
                    <a:pt x="26683" y="207382"/>
                  </a:lnTo>
                  <a:lnTo>
                    <a:pt x="46358" y="168173"/>
                  </a:lnTo>
                  <a:lnTo>
                    <a:pt x="70749" y="132061"/>
                  </a:lnTo>
                  <a:lnTo>
                    <a:pt x="99452" y="99452"/>
                  </a:lnTo>
                  <a:lnTo>
                    <a:pt x="132061" y="70749"/>
                  </a:lnTo>
                  <a:lnTo>
                    <a:pt x="168173" y="46358"/>
                  </a:lnTo>
                  <a:lnTo>
                    <a:pt x="207382" y="26683"/>
                  </a:lnTo>
                  <a:lnTo>
                    <a:pt x="249285" y="12128"/>
                  </a:lnTo>
                  <a:lnTo>
                    <a:pt x="293476" y="3099"/>
                  </a:lnTo>
                  <a:lnTo>
                    <a:pt x="339551" y="0"/>
                  </a:lnTo>
                  <a:lnTo>
                    <a:pt x="385626" y="3099"/>
                  </a:lnTo>
                  <a:lnTo>
                    <a:pt x="429818" y="12128"/>
                  </a:lnTo>
                  <a:lnTo>
                    <a:pt x="471720" y="26683"/>
                  </a:lnTo>
                  <a:lnTo>
                    <a:pt x="510929" y="46358"/>
                  </a:lnTo>
                  <a:lnTo>
                    <a:pt x="547041" y="70749"/>
                  </a:lnTo>
                  <a:lnTo>
                    <a:pt x="579650" y="99452"/>
                  </a:lnTo>
                  <a:lnTo>
                    <a:pt x="608353" y="132061"/>
                  </a:lnTo>
                  <a:lnTo>
                    <a:pt x="632744" y="168173"/>
                  </a:lnTo>
                  <a:lnTo>
                    <a:pt x="652419" y="207382"/>
                  </a:lnTo>
                  <a:lnTo>
                    <a:pt x="666973" y="249285"/>
                  </a:lnTo>
                  <a:lnTo>
                    <a:pt x="676002" y="293476"/>
                  </a:lnTo>
                  <a:lnTo>
                    <a:pt x="676275" y="297519"/>
                  </a:lnTo>
                  <a:lnTo>
                    <a:pt x="676275" y="381583"/>
                  </a:lnTo>
                  <a:lnTo>
                    <a:pt x="666973" y="429818"/>
                  </a:lnTo>
                  <a:lnTo>
                    <a:pt x="652419" y="471720"/>
                  </a:lnTo>
                  <a:lnTo>
                    <a:pt x="632744" y="510930"/>
                  </a:lnTo>
                  <a:lnTo>
                    <a:pt x="608353" y="547041"/>
                  </a:lnTo>
                  <a:lnTo>
                    <a:pt x="579650" y="579651"/>
                  </a:lnTo>
                  <a:lnTo>
                    <a:pt x="547041" y="608353"/>
                  </a:lnTo>
                  <a:lnTo>
                    <a:pt x="510929" y="632744"/>
                  </a:lnTo>
                  <a:lnTo>
                    <a:pt x="471720" y="652419"/>
                  </a:lnTo>
                  <a:lnTo>
                    <a:pt x="429818" y="666974"/>
                  </a:lnTo>
                  <a:lnTo>
                    <a:pt x="385626" y="676003"/>
                  </a:lnTo>
                  <a:lnTo>
                    <a:pt x="381595" y="676275"/>
                  </a:lnTo>
                  <a:close/>
                </a:path>
              </a:pathLst>
            </a:custGeom>
            <a:solidFill>
              <a:srgbClr val="005E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089179" y="7847729"/>
              <a:ext cx="408940" cy="313690"/>
            </a:xfrm>
            <a:custGeom>
              <a:avLst/>
              <a:gdLst/>
              <a:ahLst/>
              <a:cxnLst/>
              <a:rect l="l" t="t" r="r" b="b"/>
              <a:pathLst>
                <a:path w="408939" h="313690">
                  <a:moveTo>
                    <a:pt x="113620" y="313329"/>
                  </a:moveTo>
                  <a:lnTo>
                    <a:pt x="0" y="199700"/>
                  </a:lnTo>
                  <a:lnTo>
                    <a:pt x="18582" y="181118"/>
                  </a:lnTo>
                  <a:lnTo>
                    <a:pt x="113620" y="276155"/>
                  </a:lnTo>
                  <a:lnTo>
                    <a:pt x="389780" y="0"/>
                  </a:lnTo>
                  <a:lnTo>
                    <a:pt x="408363" y="18582"/>
                  </a:lnTo>
                  <a:lnTo>
                    <a:pt x="113620" y="313329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7470" rIns="0" bIns="0" rtlCol="0" vert="horz">
            <a:spAutoFit/>
          </a:bodyPr>
          <a:lstStyle/>
          <a:p>
            <a:pPr marL="898525" marR="5080">
              <a:lnSpc>
                <a:spcPts val="7580"/>
              </a:lnSpc>
              <a:spcBef>
                <a:spcPts val="610"/>
              </a:spcBef>
            </a:pPr>
            <a:r>
              <a:rPr dirty="0" sz="6650" spc="110">
                <a:solidFill>
                  <a:srgbClr val="005EC2"/>
                </a:solidFill>
              </a:rPr>
              <a:t>¿QUÉ</a:t>
            </a:r>
            <a:r>
              <a:rPr dirty="0" sz="6650" spc="-265">
                <a:solidFill>
                  <a:srgbClr val="005EC2"/>
                </a:solidFill>
              </a:rPr>
              <a:t> </a:t>
            </a:r>
            <a:r>
              <a:rPr dirty="0" sz="6650" spc="265">
                <a:solidFill>
                  <a:srgbClr val="005EC2"/>
                </a:solidFill>
              </a:rPr>
              <a:t>DESARROLLAMOS </a:t>
            </a:r>
            <a:r>
              <a:rPr dirty="0" sz="6650" spc="135">
                <a:solidFill>
                  <a:srgbClr val="005EC2"/>
                </a:solidFill>
              </a:rPr>
              <a:t>NOSOTROS?</a:t>
            </a:r>
            <a:endParaRPr sz="6650"/>
          </a:p>
        </p:txBody>
      </p:sp>
      <p:sp>
        <p:nvSpPr>
          <p:cNvPr id="2" name="object 2"/>
          <p:cNvSpPr/>
          <p:nvPr/>
        </p:nvSpPr>
        <p:spPr>
          <a:xfrm>
            <a:off x="1618300" y="4087774"/>
            <a:ext cx="13561694" cy="5374640"/>
          </a:xfrm>
          <a:custGeom>
            <a:avLst/>
            <a:gdLst/>
            <a:ahLst/>
            <a:cxnLst/>
            <a:rect l="l" t="t" r="r" b="b"/>
            <a:pathLst>
              <a:path w="13561694" h="5374640">
                <a:moveTo>
                  <a:pt x="13561209" y="5374101"/>
                </a:moveTo>
                <a:lnTo>
                  <a:pt x="0" y="5374101"/>
                </a:lnTo>
                <a:lnTo>
                  <a:pt x="0" y="0"/>
                </a:lnTo>
                <a:lnTo>
                  <a:pt x="13561209" y="0"/>
                </a:lnTo>
                <a:lnTo>
                  <a:pt x="13561209" y="5374101"/>
                </a:lnTo>
                <a:close/>
              </a:path>
            </a:pathLst>
          </a:custGeom>
          <a:solidFill>
            <a:srgbClr val="005E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843230" y="4299508"/>
            <a:ext cx="12963525" cy="4275455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12700" marR="5080">
              <a:lnSpc>
                <a:spcPts val="2220"/>
              </a:lnSpc>
              <a:spcBef>
                <a:spcPts val="310"/>
              </a:spcBef>
            </a:pPr>
            <a:r>
              <a:rPr dirty="0" sz="1950" spc="-40">
                <a:solidFill>
                  <a:srgbClr val="FFFFFF"/>
                </a:solidFill>
                <a:latin typeface="Tahoma"/>
                <a:cs typeface="Tahoma"/>
              </a:rPr>
              <a:t>Objetivo</a:t>
            </a:r>
            <a:r>
              <a:rPr dirty="0" sz="195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-45">
                <a:solidFill>
                  <a:srgbClr val="FFFFFF"/>
                </a:solidFill>
                <a:latin typeface="Tahoma"/>
                <a:cs typeface="Tahoma"/>
              </a:rPr>
              <a:t>General:</a:t>
            </a:r>
            <a:r>
              <a:rPr dirty="0" sz="195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Diseñar</a:t>
            </a:r>
            <a:r>
              <a:rPr dirty="0" sz="1950" spc="-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dirty="0" sz="195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Tahoma"/>
                <a:cs typeface="Tahoma"/>
              </a:rPr>
              <a:t>implementar</a:t>
            </a:r>
            <a:r>
              <a:rPr dirty="0" sz="1950" spc="-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la</a:t>
            </a:r>
            <a:r>
              <a:rPr dirty="0" sz="195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infraestructura</a:t>
            </a:r>
            <a:r>
              <a:rPr dirty="0" sz="1950" spc="-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base</a:t>
            </a:r>
            <a:r>
              <a:rPr dirty="0" sz="195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FFFFFF"/>
                </a:solidFill>
                <a:latin typeface="Tahoma"/>
                <a:cs typeface="Tahoma"/>
              </a:rPr>
              <a:t>multitenant</a:t>
            </a:r>
            <a:r>
              <a:rPr dirty="0" sz="1950" spc="-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195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Enci-</a:t>
            </a:r>
            <a:r>
              <a:rPr dirty="0" sz="1950" spc="-90">
                <a:solidFill>
                  <a:srgbClr val="FFFFFF"/>
                </a:solidFill>
                <a:latin typeface="Tahoma"/>
                <a:cs typeface="Tahoma"/>
              </a:rPr>
              <a:t>Intel,</a:t>
            </a:r>
            <a:r>
              <a:rPr dirty="0" sz="1950" spc="-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Tahoma"/>
                <a:cs typeface="Tahoma"/>
              </a:rPr>
              <a:t>permitiendo</a:t>
            </a:r>
            <a:r>
              <a:rPr dirty="0" sz="195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la</a:t>
            </a:r>
            <a:r>
              <a:rPr dirty="0" sz="1950" spc="-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Tahoma"/>
                <a:cs typeface="Tahoma"/>
              </a:rPr>
              <a:t>administración </a:t>
            </a:r>
            <a:r>
              <a:rPr dirty="0" sz="1950" spc="-20">
                <a:solidFill>
                  <a:srgbClr val="FFFFFF"/>
                </a:solidFill>
                <a:latin typeface="Tahoma"/>
                <a:cs typeface="Tahoma"/>
              </a:rPr>
              <a:t>independiente</a:t>
            </a:r>
            <a:r>
              <a:rPr dirty="0" sz="195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85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dirty="0" sz="195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segura</a:t>
            </a:r>
            <a:r>
              <a:rPr dirty="0" sz="195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195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-45">
                <a:solidFill>
                  <a:srgbClr val="FFFFFF"/>
                </a:solidFill>
                <a:latin typeface="Tahoma"/>
                <a:cs typeface="Tahoma"/>
              </a:rPr>
              <a:t>empresas,</a:t>
            </a:r>
            <a:r>
              <a:rPr dirty="0" sz="195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FFFFFF"/>
                </a:solidFill>
                <a:latin typeface="Tahoma"/>
                <a:cs typeface="Tahoma"/>
              </a:rPr>
              <a:t>usuarios,</a:t>
            </a:r>
            <a:r>
              <a:rPr dirty="0" sz="195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FFFFFF"/>
                </a:solidFill>
                <a:latin typeface="Tahoma"/>
                <a:cs typeface="Tahoma"/>
              </a:rPr>
              <a:t>roles,</a:t>
            </a:r>
            <a:r>
              <a:rPr dirty="0" sz="195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Tahoma"/>
                <a:cs typeface="Tahoma"/>
              </a:rPr>
              <a:t>competidores</a:t>
            </a:r>
            <a:r>
              <a:rPr dirty="0" sz="195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85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dirty="0" sz="195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-35">
                <a:solidFill>
                  <a:srgbClr val="FFFFFF"/>
                </a:solidFill>
                <a:latin typeface="Tahoma"/>
                <a:cs typeface="Tahoma"/>
              </a:rPr>
              <a:t>productos,</a:t>
            </a:r>
            <a:r>
              <a:rPr dirty="0" sz="195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-25">
                <a:solidFill>
                  <a:srgbClr val="FFFFFF"/>
                </a:solidFill>
                <a:latin typeface="Tahoma"/>
                <a:cs typeface="Tahoma"/>
              </a:rPr>
              <a:t>dejando</a:t>
            </a:r>
            <a:r>
              <a:rPr dirty="0" sz="195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preparada</a:t>
            </a:r>
            <a:r>
              <a:rPr dirty="0" sz="195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la</a:t>
            </a:r>
            <a:r>
              <a:rPr dirty="0" sz="195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plataforma</a:t>
            </a:r>
            <a:r>
              <a:rPr dirty="0" sz="195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FFFFFF"/>
                </a:solidFill>
                <a:latin typeface="Tahoma"/>
                <a:cs typeface="Tahoma"/>
              </a:rPr>
              <a:t>para</a:t>
            </a:r>
            <a:r>
              <a:rPr dirty="0" sz="1950" spc="5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la</a:t>
            </a:r>
            <a:r>
              <a:rPr dirty="0" sz="195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integración</a:t>
            </a:r>
            <a:r>
              <a:rPr dirty="0" sz="195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posterior</a:t>
            </a:r>
            <a:r>
              <a:rPr dirty="0" sz="195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195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Tahoma"/>
                <a:cs typeface="Tahoma"/>
              </a:rPr>
              <a:t>módulos</a:t>
            </a:r>
            <a:r>
              <a:rPr dirty="0" sz="195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85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dirty="0" sz="195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Tahoma"/>
                <a:cs typeface="Tahoma"/>
              </a:rPr>
              <a:t>agentes</a:t>
            </a:r>
            <a:r>
              <a:rPr dirty="0" sz="195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195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inteligencia</a:t>
            </a:r>
            <a:r>
              <a:rPr dirty="0" sz="195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195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Tahoma"/>
                <a:cs typeface="Tahoma"/>
              </a:rPr>
              <a:t>mercado.</a:t>
            </a:r>
            <a:endParaRPr sz="1950">
              <a:latin typeface="Tahoma"/>
              <a:cs typeface="Tahoma"/>
            </a:endParaRPr>
          </a:p>
          <a:p>
            <a:pPr marL="12700">
              <a:lnSpc>
                <a:spcPts val="1955"/>
              </a:lnSpc>
            </a:pPr>
            <a:r>
              <a:rPr dirty="0" sz="1950" spc="50">
                <a:solidFill>
                  <a:srgbClr val="FFFFFF"/>
                </a:solidFill>
                <a:latin typeface="Tahoma"/>
                <a:cs typeface="Tahoma"/>
              </a:rPr>
              <a:t>DENTRO</a:t>
            </a:r>
            <a:r>
              <a:rPr dirty="0" sz="195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75">
                <a:solidFill>
                  <a:srgbClr val="FFFFFF"/>
                </a:solidFill>
                <a:latin typeface="Tahoma"/>
                <a:cs typeface="Tahoma"/>
              </a:rPr>
              <a:t>DEL</a:t>
            </a:r>
            <a:r>
              <a:rPr dirty="0" sz="195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70">
                <a:solidFill>
                  <a:srgbClr val="FFFFFF"/>
                </a:solidFill>
                <a:latin typeface="Tahoma"/>
                <a:cs typeface="Tahoma"/>
              </a:rPr>
              <a:t>ALCANCE</a:t>
            </a:r>
            <a:endParaRPr sz="1950">
              <a:latin typeface="Tahoma"/>
              <a:cs typeface="Tahoma"/>
            </a:endParaRPr>
          </a:p>
          <a:p>
            <a:pPr marL="12700">
              <a:lnSpc>
                <a:spcPts val="2250"/>
              </a:lnSpc>
            </a:pPr>
            <a:r>
              <a:rPr dirty="0" sz="2250" spc="735">
                <a:solidFill>
                  <a:srgbClr val="FFFFFF"/>
                </a:solidFill>
                <a:latin typeface="Segoe UI Symbol"/>
                <a:cs typeface="Segoe UI Symbol"/>
              </a:rPr>
              <a:t>✔</a:t>
            </a:r>
            <a:r>
              <a:rPr dirty="0" sz="2250" spc="-21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Tahoma"/>
                <a:cs typeface="Tahoma"/>
              </a:rPr>
              <a:t>Empresas</a:t>
            </a:r>
            <a:r>
              <a:rPr dirty="0" sz="195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75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dirty="0" sz="195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Tenants</a:t>
            </a:r>
            <a:r>
              <a:rPr dirty="0" sz="1950" spc="6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250" spc="735">
                <a:solidFill>
                  <a:srgbClr val="FFFFFF"/>
                </a:solidFill>
                <a:latin typeface="Segoe UI Symbol"/>
                <a:cs typeface="Segoe UI Symbol"/>
              </a:rPr>
              <a:t>✔</a:t>
            </a:r>
            <a:r>
              <a:rPr dirty="0" sz="2250" spc="-21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Usuarios</a:t>
            </a:r>
            <a:r>
              <a:rPr dirty="0" sz="195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85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dirty="0" sz="195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Tahoma"/>
                <a:cs typeface="Tahoma"/>
              </a:rPr>
              <a:t>autenticación</a:t>
            </a:r>
            <a:endParaRPr sz="1950">
              <a:latin typeface="Tahoma"/>
              <a:cs typeface="Tahoma"/>
            </a:endParaRPr>
          </a:p>
          <a:p>
            <a:pPr marL="12700">
              <a:lnSpc>
                <a:spcPts val="2220"/>
              </a:lnSpc>
            </a:pPr>
            <a:r>
              <a:rPr dirty="0" sz="2250" spc="735">
                <a:solidFill>
                  <a:srgbClr val="FFFFFF"/>
                </a:solidFill>
                <a:latin typeface="Segoe UI Symbol"/>
                <a:cs typeface="Segoe UI Symbol"/>
              </a:rPr>
              <a:t>✔</a:t>
            </a:r>
            <a:r>
              <a:rPr dirty="0" sz="2250" spc="-19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Roles</a:t>
            </a:r>
            <a:r>
              <a:rPr dirty="0" sz="195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85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dirty="0" sz="195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privilegios</a:t>
            </a:r>
            <a:r>
              <a:rPr dirty="0" sz="1950" spc="16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dirty="0" sz="2250" spc="735">
                <a:solidFill>
                  <a:srgbClr val="FFFFFF"/>
                </a:solidFill>
                <a:latin typeface="Segoe UI Symbol"/>
                <a:cs typeface="Segoe UI Symbol"/>
              </a:rPr>
              <a:t>✔</a:t>
            </a:r>
            <a:r>
              <a:rPr dirty="0" sz="2250" spc="-19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Protección</a:t>
            </a:r>
            <a:r>
              <a:rPr dirty="0" sz="195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195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Tahoma"/>
                <a:cs typeface="Tahoma"/>
              </a:rPr>
              <a:t>rutas</a:t>
            </a:r>
            <a:endParaRPr sz="1950">
              <a:latin typeface="Tahoma"/>
              <a:cs typeface="Tahoma"/>
            </a:endParaRPr>
          </a:p>
          <a:p>
            <a:pPr marL="12700">
              <a:lnSpc>
                <a:spcPts val="2220"/>
              </a:lnSpc>
            </a:pPr>
            <a:r>
              <a:rPr dirty="0" sz="2250" spc="735">
                <a:solidFill>
                  <a:srgbClr val="FFFFFF"/>
                </a:solidFill>
                <a:latin typeface="Segoe UI Symbol"/>
                <a:cs typeface="Segoe UI Symbol"/>
              </a:rPr>
              <a:t>✔</a:t>
            </a:r>
            <a:r>
              <a:rPr dirty="0" sz="2250" spc="-21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Aislamiento</a:t>
            </a:r>
            <a:r>
              <a:rPr dirty="0" sz="195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por</a:t>
            </a:r>
            <a:r>
              <a:rPr dirty="0" sz="195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empresaId</a:t>
            </a:r>
            <a:r>
              <a:rPr dirty="0" sz="1950" spc="6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dirty="0" sz="2250" spc="735">
                <a:solidFill>
                  <a:srgbClr val="FFFFFF"/>
                </a:solidFill>
                <a:latin typeface="Segoe UI Symbol"/>
                <a:cs typeface="Segoe UI Symbol"/>
              </a:rPr>
              <a:t>✔</a:t>
            </a:r>
            <a:r>
              <a:rPr dirty="0" sz="2250" spc="-21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Tahoma"/>
                <a:cs typeface="Tahoma"/>
              </a:rPr>
              <a:t>Competidores</a:t>
            </a:r>
            <a:r>
              <a:rPr dirty="0" sz="195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85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dirty="0" sz="195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Tahoma"/>
                <a:cs typeface="Tahoma"/>
              </a:rPr>
              <a:t>productos</a:t>
            </a:r>
            <a:endParaRPr sz="1950">
              <a:latin typeface="Tahoma"/>
              <a:cs typeface="Tahoma"/>
            </a:endParaRPr>
          </a:p>
          <a:p>
            <a:pPr marL="12700">
              <a:lnSpc>
                <a:spcPts val="2220"/>
              </a:lnSpc>
            </a:pPr>
            <a:r>
              <a:rPr dirty="0" sz="2250" spc="735">
                <a:solidFill>
                  <a:srgbClr val="FFFFFF"/>
                </a:solidFill>
                <a:latin typeface="Segoe UI Symbol"/>
                <a:cs typeface="Segoe UI Symbol"/>
              </a:rPr>
              <a:t>✔</a:t>
            </a:r>
            <a:r>
              <a:rPr dirty="0" sz="2250" spc="-19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Dashboard</a:t>
            </a:r>
            <a:r>
              <a:rPr dirty="0" sz="1950" spc="-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base</a:t>
            </a:r>
            <a:r>
              <a:rPr dirty="0" sz="1950" spc="17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dirty="0" sz="2250" spc="735">
                <a:solidFill>
                  <a:srgbClr val="FFFFFF"/>
                </a:solidFill>
                <a:latin typeface="Segoe UI Symbol"/>
                <a:cs typeface="Segoe UI Symbol"/>
              </a:rPr>
              <a:t>✔</a:t>
            </a:r>
            <a:r>
              <a:rPr dirty="0" sz="2250" spc="-18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Firebase</a:t>
            </a:r>
            <a:r>
              <a:rPr dirty="0" sz="1950" spc="-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75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dirty="0" sz="1950" spc="-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Tahoma"/>
                <a:cs typeface="Tahoma"/>
              </a:rPr>
              <a:t>Firestore</a:t>
            </a:r>
            <a:endParaRPr sz="1950">
              <a:latin typeface="Tahoma"/>
              <a:cs typeface="Tahoma"/>
            </a:endParaRPr>
          </a:p>
          <a:p>
            <a:pPr marL="12700">
              <a:lnSpc>
                <a:spcPts val="2220"/>
              </a:lnSpc>
            </a:pPr>
            <a:r>
              <a:rPr dirty="0" sz="2250" spc="735">
                <a:solidFill>
                  <a:srgbClr val="FFFFFF"/>
                </a:solidFill>
                <a:latin typeface="Segoe UI Symbol"/>
                <a:cs typeface="Segoe UI Symbol"/>
              </a:rPr>
              <a:t>✔</a:t>
            </a:r>
            <a:r>
              <a:rPr dirty="0" sz="2250" spc="-21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Vercel</a:t>
            </a:r>
            <a:r>
              <a:rPr dirty="0" sz="1950" spc="135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dirty="0" sz="2250" spc="735">
                <a:solidFill>
                  <a:srgbClr val="FFFFFF"/>
                </a:solidFill>
                <a:latin typeface="Segoe UI Symbol"/>
                <a:cs typeface="Segoe UI Symbol"/>
              </a:rPr>
              <a:t>✔</a:t>
            </a:r>
            <a:r>
              <a:rPr dirty="0" sz="2250" spc="-204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Usuarios</a:t>
            </a:r>
            <a:r>
              <a:rPr dirty="0" sz="195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195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Tahoma"/>
                <a:cs typeface="Tahoma"/>
              </a:rPr>
              <a:t>prueba</a:t>
            </a:r>
            <a:endParaRPr sz="1950">
              <a:latin typeface="Tahoma"/>
              <a:cs typeface="Tahoma"/>
            </a:endParaRPr>
          </a:p>
          <a:p>
            <a:pPr marL="12700" marR="8569960">
              <a:lnSpc>
                <a:spcPts val="2220"/>
              </a:lnSpc>
              <a:spcBef>
                <a:spcPts val="235"/>
              </a:spcBef>
            </a:pPr>
            <a:r>
              <a:rPr dirty="0" sz="2250" spc="735">
                <a:solidFill>
                  <a:srgbClr val="FFFFFF"/>
                </a:solidFill>
                <a:latin typeface="Segoe UI Symbol"/>
                <a:cs typeface="Segoe UI Symbol"/>
              </a:rPr>
              <a:t>✔</a:t>
            </a:r>
            <a:r>
              <a:rPr dirty="0" sz="2250" spc="-18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Pruebas</a:t>
            </a:r>
            <a:r>
              <a:rPr dirty="0" sz="195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1950" spc="-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Tahoma"/>
                <a:cs typeface="Tahoma"/>
              </a:rPr>
              <a:t>aislamiento</a:t>
            </a:r>
            <a:r>
              <a:rPr dirty="0" sz="195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-5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dirty="0" sz="195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Tahoma"/>
                <a:cs typeface="Tahoma"/>
              </a:rPr>
              <a:t>integración </a:t>
            </a:r>
            <a:r>
              <a:rPr dirty="0" sz="1950" spc="90">
                <a:solidFill>
                  <a:srgbClr val="FFFFFF"/>
                </a:solidFill>
                <a:latin typeface="Tahoma"/>
                <a:cs typeface="Tahoma"/>
              </a:rPr>
              <a:t>FUERA</a:t>
            </a:r>
            <a:r>
              <a:rPr dirty="0" sz="195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75">
                <a:solidFill>
                  <a:srgbClr val="FFFFFF"/>
                </a:solidFill>
                <a:latin typeface="Tahoma"/>
                <a:cs typeface="Tahoma"/>
              </a:rPr>
              <a:t>DEL</a:t>
            </a:r>
            <a:r>
              <a:rPr dirty="0" sz="195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70">
                <a:solidFill>
                  <a:srgbClr val="FFFFFF"/>
                </a:solidFill>
                <a:latin typeface="Tahoma"/>
                <a:cs typeface="Tahoma"/>
              </a:rPr>
              <a:t>ALCANCE</a:t>
            </a:r>
            <a:endParaRPr sz="1950">
              <a:latin typeface="Tahoma"/>
              <a:cs typeface="Tahoma"/>
            </a:endParaRPr>
          </a:p>
          <a:p>
            <a:pPr marL="12700">
              <a:lnSpc>
                <a:spcPts val="2105"/>
              </a:lnSpc>
            </a:pPr>
            <a:r>
              <a:rPr dirty="0" sz="1950">
                <a:solidFill>
                  <a:srgbClr val="FFFFFF"/>
                </a:solidFill>
                <a:latin typeface="Segoe UI Symbol"/>
                <a:cs typeface="Segoe UI Symbol"/>
              </a:rPr>
              <a:t>✘</a:t>
            </a:r>
            <a:r>
              <a:rPr dirty="0" sz="1950" spc="-13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Motor</a:t>
            </a:r>
            <a:r>
              <a:rPr dirty="0" sz="195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195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Tahoma"/>
                <a:cs typeface="Tahoma"/>
              </a:rPr>
              <a:t>agentes</a:t>
            </a:r>
            <a:r>
              <a:rPr dirty="0" sz="195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autónomos</a:t>
            </a:r>
            <a:r>
              <a:rPr dirty="0" sz="1950" spc="6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dirty="0" sz="1950">
                <a:solidFill>
                  <a:srgbClr val="FFFFFF"/>
                </a:solidFill>
                <a:latin typeface="Segoe UI Symbol"/>
                <a:cs typeface="Segoe UI Symbol"/>
              </a:rPr>
              <a:t>✘</a:t>
            </a:r>
            <a:r>
              <a:rPr dirty="0" sz="1950" spc="-8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Tahoma"/>
                <a:cs typeface="Tahoma"/>
              </a:rPr>
              <a:t>Scraping</a:t>
            </a:r>
            <a:endParaRPr sz="1950">
              <a:latin typeface="Tahoma"/>
              <a:cs typeface="Tahoma"/>
            </a:endParaRPr>
          </a:p>
          <a:p>
            <a:pPr marL="12700">
              <a:lnSpc>
                <a:spcPts val="2220"/>
              </a:lnSpc>
            </a:pPr>
            <a:r>
              <a:rPr dirty="0" sz="1950">
                <a:solidFill>
                  <a:srgbClr val="FFFFFF"/>
                </a:solidFill>
                <a:latin typeface="Segoe UI Symbol"/>
                <a:cs typeface="Segoe UI Symbol"/>
              </a:rPr>
              <a:t>✘</a:t>
            </a:r>
            <a:r>
              <a:rPr dirty="0" sz="1950" spc="-7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Agentes</a:t>
            </a:r>
            <a:r>
              <a:rPr dirty="0" sz="195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195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competidores</a:t>
            </a:r>
            <a:r>
              <a:rPr dirty="0" sz="1950" spc="85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dirty="0" sz="1950">
                <a:solidFill>
                  <a:srgbClr val="FFFFFF"/>
                </a:solidFill>
                <a:latin typeface="Segoe UI Symbol"/>
                <a:cs typeface="Segoe UI Symbol"/>
              </a:rPr>
              <a:t>✘</a:t>
            </a:r>
            <a:r>
              <a:rPr dirty="0" sz="1950" spc="-7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Agentes</a:t>
            </a:r>
            <a:r>
              <a:rPr dirty="0" sz="195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Tahoma"/>
                <a:cs typeface="Tahoma"/>
              </a:rPr>
              <a:t>SAG/Aduanas</a:t>
            </a:r>
            <a:endParaRPr sz="1950">
              <a:latin typeface="Tahoma"/>
              <a:cs typeface="Tahoma"/>
            </a:endParaRPr>
          </a:p>
          <a:p>
            <a:pPr marL="12700">
              <a:lnSpc>
                <a:spcPts val="2220"/>
              </a:lnSpc>
            </a:pPr>
            <a:r>
              <a:rPr dirty="0" sz="1950">
                <a:solidFill>
                  <a:srgbClr val="FFFFFF"/>
                </a:solidFill>
                <a:latin typeface="Segoe UI Symbol"/>
                <a:cs typeface="Segoe UI Symbol"/>
              </a:rPr>
              <a:t>✘</a:t>
            </a:r>
            <a:r>
              <a:rPr dirty="0" sz="1950" spc="-6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1950" spc="50">
                <a:solidFill>
                  <a:srgbClr val="FFFFFF"/>
                </a:solidFill>
                <a:latin typeface="Tahoma"/>
                <a:cs typeface="Tahoma"/>
              </a:rPr>
              <a:t>RAG</a:t>
            </a:r>
            <a:r>
              <a:rPr dirty="0" sz="1950" spc="-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75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dirty="0" sz="1950" spc="-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Tahoma"/>
                <a:cs typeface="Tahoma"/>
              </a:rPr>
              <a:t>Consultor</a:t>
            </a:r>
            <a:r>
              <a:rPr dirty="0" sz="1950" spc="-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IA</a:t>
            </a:r>
            <a:r>
              <a:rPr dirty="0" sz="1950" spc="11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dirty="0" sz="1950">
                <a:solidFill>
                  <a:srgbClr val="FFFFFF"/>
                </a:solidFill>
                <a:latin typeface="Segoe UI Symbol"/>
                <a:cs typeface="Segoe UI Symbol"/>
              </a:rPr>
              <a:t>✘</a:t>
            </a:r>
            <a:r>
              <a:rPr dirty="0" sz="1950" spc="-5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1950" spc="-20">
                <a:solidFill>
                  <a:srgbClr val="FFFFFF"/>
                </a:solidFill>
                <a:latin typeface="Tahoma"/>
                <a:cs typeface="Tahoma"/>
              </a:rPr>
              <a:t>Contenido</a:t>
            </a:r>
            <a:r>
              <a:rPr dirty="0" sz="1950" spc="-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real</a:t>
            </a:r>
            <a:r>
              <a:rPr dirty="0" sz="1950" spc="-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Tahoma"/>
                <a:cs typeface="Tahoma"/>
              </a:rPr>
              <a:t>generado</a:t>
            </a:r>
            <a:r>
              <a:rPr dirty="0" sz="1950" spc="-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por</a:t>
            </a:r>
            <a:r>
              <a:rPr dirty="0" sz="1950" spc="-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Tahoma"/>
                <a:cs typeface="Tahoma"/>
              </a:rPr>
              <a:t>agentes</a:t>
            </a:r>
            <a:endParaRPr sz="1950">
              <a:latin typeface="Tahoma"/>
              <a:cs typeface="Tahoma"/>
            </a:endParaRPr>
          </a:p>
          <a:p>
            <a:pPr marL="12700">
              <a:lnSpc>
                <a:spcPts val="2280"/>
              </a:lnSpc>
            </a:pPr>
            <a:r>
              <a:rPr dirty="0" sz="1950">
                <a:solidFill>
                  <a:srgbClr val="FFFFFF"/>
                </a:solidFill>
                <a:latin typeface="Segoe UI Symbol"/>
                <a:cs typeface="Segoe UI Symbol"/>
              </a:rPr>
              <a:t>✘</a:t>
            </a:r>
            <a:r>
              <a:rPr dirty="0" sz="1950" spc="-3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Analítica</a:t>
            </a:r>
            <a:r>
              <a:rPr dirty="0" sz="195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Tahoma"/>
                <a:cs typeface="Tahoma"/>
              </a:rPr>
              <a:t>avanzada</a:t>
            </a:r>
            <a:r>
              <a:rPr dirty="0" sz="195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195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-20">
                <a:solidFill>
                  <a:srgbClr val="FFFFFF"/>
                </a:solidFill>
                <a:latin typeface="Tahoma"/>
                <a:cs typeface="Tahoma"/>
              </a:rPr>
              <a:t>otros</a:t>
            </a:r>
            <a:r>
              <a:rPr dirty="0" sz="195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Tahoma"/>
                <a:cs typeface="Tahoma"/>
              </a:rPr>
              <a:t>equipos</a:t>
            </a:r>
            <a:endParaRPr sz="195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4290867" cy="47322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89209" y="3548530"/>
            <a:ext cx="11198791" cy="67384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665980" cy="10287000"/>
            <a:chOff x="0" y="0"/>
            <a:chExt cx="466598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583200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53110" y="4355074"/>
              <a:ext cx="1133474" cy="9048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13711" y="6032903"/>
              <a:ext cx="828674" cy="8762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60971" y="7626522"/>
              <a:ext cx="1104899" cy="828674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0565" rIns="0" bIns="0" rtlCol="0" vert="horz">
            <a:spAutoFit/>
          </a:bodyPr>
          <a:lstStyle/>
          <a:p>
            <a:pPr marL="2278380" marR="5080" indent="-709930">
              <a:lnSpc>
                <a:spcPts val="5700"/>
              </a:lnSpc>
              <a:spcBef>
                <a:spcPts val="525"/>
              </a:spcBef>
            </a:pPr>
            <a:r>
              <a:rPr dirty="0" sz="5000" spc="254"/>
              <a:t>UNA</a:t>
            </a:r>
            <a:r>
              <a:rPr dirty="0" sz="5000" spc="-200"/>
              <a:t> </a:t>
            </a:r>
            <a:r>
              <a:rPr dirty="0" sz="5000" spc="585"/>
              <a:t>MISMA</a:t>
            </a:r>
            <a:r>
              <a:rPr dirty="0" sz="5000" spc="-195"/>
              <a:t> </a:t>
            </a:r>
            <a:r>
              <a:rPr dirty="0" sz="5000" spc="125"/>
              <a:t>PLATAFORMA, </a:t>
            </a:r>
            <a:r>
              <a:rPr dirty="0" sz="5000" spc="130"/>
              <a:t>MÚLTIPLES</a:t>
            </a:r>
            <a:r>
              <a:rPr dirty="0" sz="5000" spc="-185"/>
              <a:t> </a:t>
            </a:r>
            <a:r>
              <a:rPr dirty="0" sz="5000" spc="335"/>
              <a:t>EMPRESAS</a:t>
            </a:r>
            <a:endParaRPr sz="5000"/>
          </a:p>
        </p:txBody>
      </p:sp>
      <p:sp>
        <p:nvSpPr>
          <p:cNvPr id="8" name="object 8"/>
          <p:cNvSpPr txBox="1"/>
          <p:nvPr/>
        </p:nvSpPr>
        <p:spPr>
          <a:xfrm>
            <a:off x="4801145" y="4262474"/>
            <a:ext cx="10606405" cy="4042410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12700" marR="492759">
              <a:lnSpc>
                <a:spcPts val="2400"/>
              </a:lnSpc>
              <a:spcBef>
                <a:spcPts val="285"/>
              </a:spcBef>
            </a:pPr>
            <a:r>
              <a:rPr dirty="0" sz="2100">
                <a:solidFill>
                  <a:srgbClr val="FFFFFF"/>
                </a:solidFill>
                <a:latin typeface="Tahoma"/>
                <a:cs typeface="Tahoma"/>
              </a:rPr>
              <a:t>Una</a:t>
            </a:r>
            <a:r>
              <a:rPr dirty="0" sz="21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20">
                <a:solidFill>
                  <a:srgbClr val="FFFFFF"/>
                </a:solidFill>
                <a:latin typeface="Tahoma"/>
                <a:cs typeface="Tahoma"/>
              </a:rPr>
              <a:t>arquitectura</a:t>
            </a:r>
            <a:r>
              <a:rPr dirty="0" sz="21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35">
                <a:solidFill>
                  <a:srgbClr val="FFFFFF"/>
                </a:solidFill>
                <a:latin typeface="Tahoma"/>
                <a:cs typeface="Tahoma"/>
              </a:rPr>
              <a:t>multitenant</a:t>
            </a:r>
            <a:r>
              <a:rPr dirty="0" sz="21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20">
                <a:solidFill>
                  <a:srgbClr val="FFFFFF"/>
                </a:solidFill>
                <a:latin typeface="Tahoma"/>
                <a:cs typeface="Tahoma"/>
              </a:rPr>
              <a:t>permite</a:t>
            </a:r>
            <a:r>
              <a:rPr dirty="0" sz="21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45">
                <a:solidFill>
                  <a:srgbClr val="FFFFFF"/>
                </a:solidFill>
                <a:latin typeface="Tahoma"/>
                <a:cs typeface="Tahoma"/>
              </a:rPr>
              <a:t>que</a:t>
            </a:r>
            <a:r>
              <a:rPr dirty="0" sz="21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FFFFF"/>
                </a:solidFill>
                <a:latin typeface="Tahoma"/>
                <a:cs typeface="Tahoma"/>
              </a:rPr>
              <a:t>varias</a:t>
            </a:r>
            <a:r>
              <a:rPr dirty="0" sz="21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20">
                <a:solidFill>
                  <a:srgbClr val="FFFFFF"/>
                </a:solidFill>
                <a:latin typeface="Tahoma"/>
                <a:cs typeface="Tahoma"/>
              </a:rPr>
              <a:t>organizaciones</a:t>
            </a:r>
            <a:r>
              <a:rPr dirty="0" sz="21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Tahoma"/>
                <a:cs typeface="Tahoma"/>
              </a:rPr>
              <a:t>utilicen</a:t>
            </a:r>
            <a:r>
              <a:rPr dirty="0" sz="21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20">
                <a:solidFill>
                  <a:srgbClr val="FFFFFF"/>
                </a:solidFill>
                <a:latin typeface="Tahoma"/>
                <a:cs typeface="Tahoma"/>
              </a:rPr>
              <a:t>una</a:t>
            </a:r>
            <a:r>
              <a:rPr dirty="0" sz="21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Tahoma"/>
                <a:cs typeface="Tahoma"/>
              </a:rPr>
              <a:t>misma </a:t>
            </a:r>
            <a:r>
              <a:rPr dirty="0" sz="2100">
                <a:solidFill>
                  <a:srgbClr val="FFFFFF"/>
                </a:solidFill>
                <a:latin typeface="Tahoma"/>
                <a:cs typeface="Tahoma"/>
              </a:rPr>
              <a:t>aplicación</a:t>
            </a:r>
            <a:r>
              <a:rPr dirty="0" sz="21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40">
                <a:solidFill>
                  <a:srgbClr val="FFFFFF"/>
                </a:solidFill>
                <a:latin typeface="Tahoma"/>
                <a:cs typeface="Tahoma"/>
              </a:rPr>
              <a:t>manteniendo</a:t>
            </a:r>
            <a:r>
              <a:rPr dirty="0" sz="21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20">
                <a:solidFill>
                  <a:srgbClr val="FFFFFF"/>
                </a:solidFill>
                <a:latin typeface="Tahoma"/>
                <a:cs typeface="Tahoma"/>
              </a:rPr>
              <a:t>sus</a:t>
            </a:r>
            <a:r>
              <a:rPr dirty="0" sz="210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Tahoma"/>
                <a:cs typeface="Tahoma"/>
              </a:rPr>
              <a:t>usuarios</a:t>
            </a:r>
            <a:r>
              <a:rPr dirty="0" sz="21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dirty="0" sz="21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25">
                <a:solidFill>
                  <a:srgbClr val="FFFFFF"/>
                </a:solidFill>
                <a:latin typeface="Tahoma"/>
                <a:cs typeface="Tahoma"/>
              </a:rPr>
              <a:t>datos</a:t>
            </a:r>
            <a:r>
              <a:rPr dirty="0" sz="210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45">
                <a:solidFill>
                  <a:srgbClr val="FFFFFF"/>
                </a:solidFill>
                <a:latin typeface="Tahoma"/>
                <a:cs typeface="Tahoma"/>
              </a:rPr>
              <a:t>completamente</a:t>
            </a:r>
            <a:r>
              <a:rPr dirty="0" sz="21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45">
                <a:solidFill>
                  <a:srgbClr val="FFFFFF"/>
                </a:solidFill>
                <a:latin typeface="Tahoma"/>
                <a:cs typeface="Tahoma"/>
              </a:rPr>
              <a:t>separados:</a:t>
            </a:r>
            <a:r>
              <a:rPr dirty="0" sz="21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FFFFF"/>
                </a:solidFill>
                <a:latin typeface="Tahoma"/>
                <a:cs typeface="Tahoma"/>
              </a:rPr>
              <a:t>Enci-</a:t>
            </a:r>
            <a:r>
              <a:rPr dirty="0" sz="2100" spc="-80">
                <a:solidFill>
                  <a:srgbClr val="FFFFFF"/>
                </a:solidFill>
                <a:latin typeface="Tahoma"/>
                <a:cs typeface="Tahoma"/>
              </a:rPr>
              <a:t>Intel</a:t>
            </a:r>
            <a:r>
              <a:rPr dirty="0" sz="210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515">
                <a:solidFill>
                  <a:srgbClr val="FFFFFF"/>
                </a:solidFill>
                <a:latin typeface="Tahoma"/>
                <a:cs typeface="Tahoma"/>
              </a:rPr>
              <a:t>→</a:t>
            </a:r>
            <a:r>
              <a:rPr dirty="0" sz="2100" spc="-30">
                <a:solidFill>
                  <a:srgbClr val="FFFFFF"/>
                </a:solidFill>
                <a:latin typeface="Tahoma"/>
                <a:cs typeface="Tahoma"/>
              </a:rPr>
              <a:t> Empresa</a:t>
            </a:r>
            <a:r>
              <a:rPr dirty="0" sz="21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125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21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30">
                <a:solidFill>
                  <a:srgbClr val="FFFFFF"/>
                </a:solidFill>
                <a:latin typeface="Tahoma"/>
                <a:cs typeface="Tahoma"/>
              </a:rPr>
              <a:t>(Usuarios</a:t>
            </a:r>
            <a:r>
              <a:rPr dirty="0" sz="21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315">
                <a:solidFill>
                  <a:srgbClr val="FFFFFF"/>
                </a:solidFill>
                <a:latin typeface="Tahoma"/>
                <a:cs typeface="Tahoma"/>
              </a:rPr>
              <a:t>|</a:t>
            </a:r>
            <a:r>
              <a:rPr dirty="0" sz="21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FFFFF"/>
                </a:solidFill>
                <a:latin typeface="Tahoma"/>
                <a:cs typeface="Tahoma"/>
              </a:rPr>
              <a:t>Roles</a:t>
            </a:r>
            <a:r>
              <a:rPr dirty="0" sz="21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315">
                <a:solidFill>
                  <a:srgbClr val="FFFFFF"/>
                </a:solidFill>
                <a:latin typeface="Tahoma"/>
                <a:cs typeface="Tahoma"/>
              </a:rPr>
              <a:t>|</a:t>
            </a:r>
            <a:r>
              <a:rPr dirty="0" sz="21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30">
                <a:solidFill>
                  <a:srgbClr val="FFFFFF"/>
                </a:solidFill>
                <a:latin typeface="Tahoma"/>
                <a:cs typeface="Tahoma"/>
              </a:rPr>
              <a:t>Competidores</a:t>
            </a:r>
            <a:r>
              <a:rPr dirty="0" sz="21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315">
                <a:solidFill>
                  <a:srgbClr val="FFFFFF"/>
                </a:solidFill>
                <a:latin typeface="Tahoma"/>
                <a:cs typeface="Tahoma"/>
              </a:rPr>
              <a:t>|</a:t>
            </a:r>
            <a:r>
              <a:rPr dirty="0" sz="21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25">
                <a:solidFill>
                  <a:srgbClr val="FFFFFF"/>
                </a:solidFill>
                <a:latin typeface="Tahoma"/>
                <a:cs typeface="Tahoma"/>
              </a:rPr>
              <a:t>Productos)</a:t>
            </a:r>
            <a:r>
              <a:rPr dirty="0" sz="21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dirty="0" sz="21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30">
                <a:solidFill>
                  <a:srgbClr val="FFFFFF"/>
                </a:solidFill>
                <a:latin typeface="Tahoma"/>
                <a:cs typeface="Tahoma"/>
              </a:rPr>
              <a:t>Empresa</a:t>
            </a:r>
            <a:r>
              <a:rPr dirty="0" sz="21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16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r>
              <a:rPr dirty="0" sz="21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30">
                <a:solidFill>
                  <a:srgbClr val="FFFFFF"/>
                </a:solidFill>
                <a:latin typeface="Tahoma"/>
                <a:cs typeface="Tahoma"/>
              </a:rPr>
              <a:t>(Usuarios</a:t>
            </a:r>
            <a:r>
              <a:rPr dirty="0" sz="21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315">
                <a:solidFill>
                  <a:srgbClr val="FFFFFF"/>
                </a:solidFill>
                <a:latin typeface="Tahoma"/>
                <a:cs typeface="Tahoma"/>
              </a:rPr>
              <a:t>|</a:t>
            </a:r>
            <a:r>
              <a:rPr dirty="0" sz="21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FFFFF"/>
                </a:solidFill>
                <a:latin typeface="Tahoma"/>
                <a:cs typeface="Tahoma"/>
              </a:rPr>
              <a:t>Roles</a:t>
            </a:r>
            <a:r>
              <a:rPr dirty="0" sz="21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365">
                <a:solidFill>
                  <a:srgbClr val="FFFFFF"/>
                </a:solidFill>
                <a:latin typeface="Tahoma"/>
                <a:cs typeface="Tahoma"/>
              </a:rPr>
              <a:t>| </a:t>
            </a:r>
            <a:r>
              <a:rPr dirty="0" sz="2100" spc="-30">
                <a:solidFill>
                  <a:srgbClr val="FFFFFF"/>
                </a:solidFill>
                <a:latin typeface="Tahoma"/>
                <a:cs typeface="Tahoma"/>
              </a:rPr>
              <a:t>Competidores</a:t>
            </a:r>
            <a:r>
              <a:rPr dirty="0" sz="21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315">
                <a:solidFill>
                  <a:srgbClr val="FFFFFF"/>
                </a:solidFill>
                <a:latin typeface="Tahoma"/>
                <a:cs typeface="Tahoma"/>
              </a:rPr>
              <a:t>|</a:t>
            </a:r>
            <a:r>
              <a:rPr dirty="0" sz="2100" spc="-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Tahoma"/>
                <a:cs typeface="Tahoma"/>
              </a:rPr>
              <a:t>Productos).</a:t>
            </a:r>
            <a:endParaRPr sz="2100">
              <a:latin typeface="Tahoma"/>
              <a:cs typeface="Tahoma"/>
            </a:endParaRPr>
          </a:p>
          <a:p>
            <a:pPr algn="just" marL="12700" marR="5080">
              <a:lnSpc>
                <a:spcPts val="2400"/>
              </a:lnSpc>
              <a:spcBef>
                <a:spcPts val="2530"/>
              </a:spcBef>
            </a:pPr>
            <a:r>
              <a:rPr dirty="0" sz="2100">
                <a:solidFill>
                  <a:srgbClr val="FFFFFF"/>
                </a:solidFill>
                <a:latin typeface="Tahoma"/>
                <a:cs typeface="Tahoma"/>
              </a:rPr>
              <a:t>Regla</a:t>
            </a:r>
            <a:r>
              <a:rPr dirty="0" sz="21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80">
                <a:solidFill>
                  <a:srgbClr val="FFFFFF"/>
                </a:solidFill>
                <a:latin typeface="Tahoma"/>
                <a:cs typeface="Tahoma"/>
              </a:rPr>
              <a:t>clave:</a:t>
            </a:r>
            <a:r>
              <a:rPr dirty="0" sz="21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FFFFF"/>
                </a:solidFill>
                <a:latin typeface="Tahoma"/>
                <a:cs typeface="Tahoma"/>
              </a:rPr>
              <a:t>Un</a:t>
            </a:r>
            <a:r>
              <a:rPr dirty="0" sz="2100" spc="-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Tahoma"/>
                <a:cs typeface="Tahoma"/>
              </a:rPr>
              <a:t>usuario</a:t>
            </a:r>
            <a:r>
              <a:rPr dirty="0" sz="21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2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21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30">
                <a:solidFill>
                  <a:srgbClr val="FFFFFF"/>
                </a:solidFill>
                <a:latin typeface="Tahoma"/>
                <a:cs typeface="Tahoma"/>
              </a:rPr>
              <a:t>Empresa</a:t>
            </a:r>
            <a:r>
              <a:rPr dirty="0" sz="21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125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21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75">
                <a:solidFill>
                  <a:srgbClr val="FFFFFF"/>
                </a:solidFill>
                <a:latin typeface="Tahoma"/>
                <a:cs typeface="Tahoma"/>
              </a:rPr>
              <a:t>no</a:t>
            </a:r>
            <a:r>
              <a:rPr dirty="0" sz="2100" spc="-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25">
                <a:solidFill>
                  <a:srgbClr val="FFFFFF"/>
                </a:solidFill>
                <a:latin typeface="Tahoma"/>
                <a:cs typeface="Tahoma"/>
              </a:rPr>
              <a:t>puede</a:t>
            </a:r>
            <a:r>
              <a:rPr dirty="0" sz="21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Tahoma"/>
                <a:cs typeface="Tahoma"/>
              </a:rPr>
              <a:t>leer</a:t>
            </a:r>
            <a:r>
              <a:rPr dirty="0" sz="21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FFFFF"/>
                </a:solidFill>
                <a:latin typeface="Tahoma"/>
                <a:cs typeface="Tahoma"/>
              </a:rPr>
              <a:t>ni</a:t>
            </a:r>
            <a:r>
              <a:rPr dirty="0" sz="21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FFFFF"/>
                </a:solidFill>
                <a:latin typeface="Tahoma"/>
                <a:cs typeface="Tahoma"/>
              </a:rPr>
              <a:t>modificar</a:t>
            </a:r>
            <a:r>
              <a:rPr dirty="0" sz="21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20">
                <a:solidFill>
                  <a:srgbClr val="FFFFFF"/>
                </a:solidFill>
                <a:latin typeface="Tahoma"/>
                <a:cs typeface="Tahoma"/>
              </a:rPr>
              <a:t>información</a:t>
            </a:r>
            <a:r>
              <a:rPr dirty="0" sz="21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2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21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30">
                <a:solidFill>
                  <a:srgbClr val="FFFFFF"/>
                </a:solidFill>
                <a:latin typeface="Tahoma"/>
                <a:cs typeface="Tahoma"/>
              </a:rPr>
              <a:t>Empresa</a:t>
            </a:r>
            <a:r>
              <a:rPr dirty="0" sz="21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25">
                <a:solidFill>
                  <a:srgbClr val="FFFFFF"/>
                </a:solidFill>
                <a:latin typeface="Tahoma"/>
                <a:cs typeface="Tahoma"/>
              </a:rPr>
              <a:t>B. </a:t>
            </a:r>
            <a:r>
              <a:rPr dirty="0" sz="2100">
                <a:solidFill>
                  <a:srgbClr val="FFFFFF"/>
                </a:solidFill>
                <a:latin typeface="Tahoma"/>
                <a:cs typeface="Tahoma"/>
              </a:rPr>
              <a:t>El</a:t>
            </a:r>
            <a:r>
              <a:rPr dirty="0" sz="210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25">
                <a:solidFill>
                  <a:srgbClr val="FFFFFF"/>
                </a:solidFill>
                <a:latin typeface="Tahoma"/>
                <a:cs typeface="Tahoma"/>
              </a:rPr>
              <a:t>aislamiento</a:t>
            </a:r>
            <a:r>
              <a:rPr dirty="0" sz="21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FFFFF"/>
                </a:solidFill>
                <a:latin typeface="Tahoma"/>
                <a:cs typeface="Tahoma"/>
              </a:rPr>
              <a:t>se</a:t>
            </a:r>
            <a:r>
              <a:rPr dirty="0" sz="21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35">
                <a:solidFill>
                  <a:srgbClr val="FFFFFF"/>
                </a:solidFill>
                <a:latin typeface="Tahoma"/>
                <a:cs typeface="Tahoma"/>
              </a:rPr>
              <a:t>implementa</a:t>
            </a:r>
            <a:r>
              <a:rPr dirty="0" sz="21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30">
                <a:solidFill>
                  <a:srgbClr val="FFFFFF"/>
                </a:solidFill>
                <a:latin typeface="Tahoma"/>
                <a:cs typeface="Tahoma"/>
              </a:rPr>
              <a:t>mediante</a:t>
            </a:r>
            <a:r>
              <a:rPr dirty="0" sz="21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60">
                <a:solidFill>
                  <a:srgbClr val="FFFFFF"/>
                </a:solidFill>
                <a:latin typeface="Tahoma"/>
                <a:cs typeface="Tahoma"/>
              </a:rPr>
              <a:t>empresaId</a:t>
            </a:r>
            <a:r>
              <a:rPr dirty="0" sz="21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80">
                <a:solidFill>
                  <a:srgbClr val="FFFFFF"/>
                </a:solidFill>
                <a:latin typeface="Tahoma"/>
                <a:cs typeface="Tahoma"/>
              </a:rPr>
              <a:t>en</a:t>
            </a:r>
            <a:r>
              <a:rPr dirty="0" sz="21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FFFFF"/>
                </a:solidFill>
                <a:latin typeface="Tahoma"/>
                <a:cs typeface="Tahoma"/>
              </a:rPr>
              <a:t>cada</a:t>
            </a:r>
            <a:r>
              <a:rPr dirty="0" sz="21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45">
                <a:solidFill>
                  <a:srgbClr val="FFFFFF"/>
                </a:solidFill>
                <a:latin typeface="Tahoma"/>
                <a:cs typeface="Tahoma"/>
              </a:rPr>
              <a:t>entidad,</a:t>
            </a:r>
            <a:r>
              <a:rPr dirty="0" sz="21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25">
                <a:solidFill>
                  <a:srgbClr val="FFFFFF"/>
                </a:solidFill>
                <a:latin typeface="Tahoma"/>
                <a:cs typeface="Tahoma"/>
              </a:rPr>
              <a:t>garantizando</a:t>
            </a:r>
            <a:r>
              <a:rPr dirty="0" sz="21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Tahoma"/>
                <a:cs typeface="Tahoma"/>
              </a:rPr>
              <a:t>separación </a:t>
            </a:r>
            <a:r>
              <a:rPr dirty="0" sz="2100">
                <a:solidFill>
                  <a:srgbClr val="FFFFFF"/>
                </a:solidFill>
                <a:latin typeface="Tahoma"/>
                <a:cs typeface="Tahoma"/>
              </a:rPr>
              <a:t>lógica</a:t>
            </a:r>
            <a:r>
              <a:rPr dirty="0" sz="210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25">
                <a:solidFill>
                  <a:srgbClr val="FFFFFF"/>
                </a:solidFill>
                <a:latin typeface="Tahoma"/>
                <a:cs typeface="Tahoma"/>
              </a:rPr>
              <a:t>total</a:t>
            </a:r>
            <a:r>
              <a:rPr dirty="0" sz="210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50">
                <a:solidFill>
                  <a:srgbClr val="FFFFFF"/>
                </a:solidFill>
                <a:latin typeface="Tahoma"/>
                <a:cs typeface="Tahoma"/>
              </a:rPr>
              <a:t>entre</a:t>
            </a:r>
            <a:r>
              <a:rPr dirty="0" sz="210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Tahoma"/>
                <a:cs typeface="Tahoma"/>
              </a:rPr>
              <a:t>organizaciones.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435"/>
              </a:spcBef>
            </a:pPr>
            <a:endParaRPr sz="2100">
              <a:latin typeface="Tahoma"/>
              <a:cs typeface="Tahoma"/>
            </a:endParaRPr>
          </a:p>
          <a:p>
            <a:pPr marL="12700" marR="467995">
              <a:lnSpc>
                <a:spcPts val="2400"/>
              </a:lnSpc>
            </a:pPr>
            <a:r>
              <a:rPr dirty="0" sz="2100" spc="-30">
                <a:solidFill>
                  <a:srgbClr val="FFFFFF"/>
                </a:solidFill>
                <a:latin typeface="Tahoma"/>
                <a:cs typeface="Tahoma"/>
              </a:rPr>
              <a:t>Beneficios:</a:t>
            </a:r>
            <a:r>
              <a:rPr dirty="0" sz="21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FFFFF"/>
                </a:solidFill>
                <a:latin typeface="Tahoma"/>
                <a:cs typeface="Tahoma"/>
              </a:rPr>
              <a:t>escalabilidad</a:t>
            </a:r>
            <a:r>
              <a:rPr dirty="0" sz="21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FFFFF"/>
                </a:solidFill>
                <a:latin typeface="Tahoma"/>
                <a:cs typeface="Tahoma"/>
              </a:rPr>
              <a:t>al</a:t>
            </a:r>
            <a:r>
              <a:rPr dirty="0" sz="21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FFFFF"/>
                </a:solidFill>
                <a:latin typeface="Tahoma"/>
                <a:cs typeface="Tahoma"/>
              </a:rPr>
              <a:t>incorporar</a:t>
            </a:r>
            <a:r>
              <a:rPr dirty="0" sz="21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45">
                <a:solidFill>
                  <a:srgbClr val="FFFFFF"/>
                </a:solidFill>
                <a:latin typeface="Tahoma"/>
                <a:cs typeface="Tahoma"/>
              </a:rPr>
              <a:t>nuevas</a:t>
            </a:r>
            <a:r>
              <a:rPr dirty="0" sz="21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40">
                <a:solidFill>
                  <a:srgbClr val="FFFFFF"/>
                </a:solidFill>
                <a:latin typeface="Tahoma"/>
                <a:cs typeface="Tahoma"/>
              </a:rPr>
              <a:t>empresas</a:t>
            </a:r>
            <a:r>
              <a:rPr dirty="0" sz="21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Tahoma"/>
                <a:cs typeface="Tahoma"/>
              </a:rPr>
              <a:t>sin</a:t>
            </a:r>
            <a:r>
              <a:rPr dirty="0" sz="21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50">
                <a:solidFill>
                  <a:srgbClr val="FFFFFF"/>
                </a:solidFill>
                <a:latin typeface="Tahoma"/>
                <a:cs typeface="Tahoma"/>
              </a:rPr>
              <a:t>reprogramar,</a:t>
            </a:r>
            <a:r>
              <a:rPr dirty="0" sz="21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Tahoma"/>
                <a:cs typeface="Tahoma"/>
              </a:rPr>
              <a:t>administración </a:t>
            </a:r>
            <a:r>
              <a:rPr dirty="0" sz="2100" spc="-30">
                <a:solidFill>
                  <a:srgbClr val="FFFFFF"/>
                </a:solidFill>
                <a:latin typeface="Tahoma"/>
                <a:cs typeface="Tahoma"/>
              </a:rPr>
              <a:t>centralizada,</a:t>
            </a:r>
            <a:r>
              <a:rPr dirty="0" sz="2100" spc="-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25">
                <a:solidFill>
                  <a:srgbClr val="FFFFFF"/>
                </a:solidFill>
                <a:latin typeface="Tahoma"/>
                <a:cs typeface="Tahoma"/>
              </a:rPr>
              <a:t>aislamiento</a:t>
            </a:r>
            <a:r>
              <a:rPr dirty="0" sz="2100" spc="-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FFFFF"/>
                </a:solidFill>
                <a:latin typeface="Tahoma"/>
                <a:cs typeface="Tahoma"/>
              </a:rPr>
              <a:t>lógico</a:t>
            </a:r>
            <a:r>
              <a:rPr dirty="0" sz="2100" spc="-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2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2100" spc="-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25">
                <a:solidFill>
                  <a:srgbClr val="FFFFFF"/>
                </a:solidFill>
                <a:latin typeface="Tahoma"/>
                <a:cs typeface="Tahoma"/>
              </a:rPr>
              <a:t>datos</a:t>
            </a:r>
            <a:r>
              <a:rPr dirty="0" sz="2100" spc="-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dirty="0" sz="2100" spc="-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FFFFF"/>
                </a:solidFill>
                <a:latin typeface="Tahoma"/>
                <a:cs typeface="Tahoma"/>
              </a:rPr>
              <a:t>base</a:t>
            </a:r>
            <a:r>
              <a:rPr dirty="0" sz="2100" spc="-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FFFFF"/>
                </a:solidFill>
                <a:latin typeface="Tahoma"/>
                <a:cs typeface="Tahoma"/>
              </a:rPr>
              <a:t>sólida</a:t>
            </a:r>
            <a:r>
              <a:rPr dirty="0" sz="2100" spc="-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FFFFF"/>
                </a:solidFill>
                <a:latin typeface="Tahoma"/>
                <a:cs typeface="Tahoma"/>
              </a:rPr>
              <a:t>para</a:t>
            </a:r>
            <a:r>
              <a:rPr dirty="0" sz="2100" spc="-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40">
                <a:solidFill>
                  <a:srgbClr val="FFFFFF"/>
                </a:solidFill>
                <a:latin typeface="Tahoma"/>
                <a:cs typeface="Tahoma"/>
              </a:rPr>
              <a:t>un</a:t>
            </a:r>
            <a:r>
              <a:rPr dirty="0" sz="2100" spc="-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35">
                <a:solidFill>
                  <a:srgbClr val="FFFFFF"/>
                </a:solidFill>
                <a:latin typeface="Tahoma"/>
                <a:cs typeface="Tahoma"/>
              </a:rPr>
              <a:t>modelo</a:t>
            </a:r>
            <a:r>
              <a:rPr dirty="0" sz="2100" spc="-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35">
                <a:solidFill>
                  <a:srgbClr val="FFFFFF"/>
                </a:solidFill>
                <a:latin typeface="Tahoma"/>
                <a:cs typeface="Tahoma"/>
              </a:rPr>
              <a:t>SaaS </a:t>
            </a:r>
            <a:r>
              <a:rPr dirty="0" sz="2100" spc="-10">
                <a:solidFill>
                  <a:srgbClr val="FFFFFF"/>
                </a:solidFill>
                <a:latin typeface="Tahoma"/>
                <a:cs typeface="Tahoma"/>
              </a:rPr>
              <a:t>multiorganización.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59630" y="1372537"/>
            <a:ext cx="8131175" cy="1163320"/>
          </a:xfrm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2379345" marR="5080" indent="-2367280">
              <a:lnSpc>
                <a:spcPts val="4350"/>
              </a:lnSpc>
              <a:spcBef>
                <a:spcPts val="455"/>
              </a:spcBef>
            </a:pPr>
            <a:r>
              <a:rPr dirty="0" sz="3850" spc="95">
                <a:solidFill>
                  <a:srgbClr val="005EC2"/>
                </a:solidFill>
              </a:rPr>
              <a:t>CÓMO</a:t>
            </a:r>
            <a:r>
              <a:rPr dirty="0" sz="3850" spc="-170">
                <a:solidFill>
                  <a:srgbClr val="005EC2"/>
                </a:solidFill>
              </a:rPr>
              <a:t> </a:t>
            </a:r>
            <a:r>
              <a:rPr dirty="0" sz="3850" spc="155">
                <a:solidFill>
                  <a:srgbClr val="005EC2"/>
                </a:solidFill>
              </a:rPr>
              <a:t>SE</a:t>
            </a:r>
            <a:r>
              <a:rPr dirty="0" sz="3850" spc="-170">
                <a:solidFill>
                  <a:srgbClr val="005EC2"/>
                </a:solidFill>
              </a:rPr>
              <a:t> </a:t>
            </a:r>
            <a:r>
              <a:rPr dirty="0" sz="3850" spc="105">
                <a:solidFill>
                  <a:srgbClr val="005EC2"/>
                </a:solidFill>
              </a:rPr>
              <a:t>ORGANIZA</a:t>
            </a:r>
            <a:r>
              <a:rPr dirty="0" sz="3850" spc="-165">
                <a:solidFill>
                  <a:srgbClr val="005EC2"/>
                </a:solidFill>
              </a:rPr>
              <a:t> </a:t>
            </a:r>
            <a:r>
              <a:rPr dirty="0" sz="3850" spc="185">
                <a:solidFill>
                  <a:srgbClr val="005EC2"/>
                </a:solidFill>
              </a:rPr>
              <a:t>Y</a:t>
            </a:r>
            <a:r>
              <a:rPr dirty="0" sz="3850" spc="-170">
                <a:solidFill>
                  <a:srgbClr val="005EC2"/>
                </a:solidFill>
              </a:rPr>
              <a:t> </a:t>
            </a:r>
            <a:r>
              <a:rPr dirty="0" sz="3850">
                <a:solidFill>
                  <a:srgbClr val="005EC2"/>
                </a:solidFill>
              </a:rPr>
              <a:t>PROTEGE</a:t>
            </a:r>
            <a:r>
              <a:rPr dirty="0" sz="3850" spc="-170">
                <a:solidFill>
                  <a:srgbClr val="005EC2"/>
                </a:solidFill>
              </a:rPr>
              <a:t> </a:t>
            </a:r>
            <a:r>
              <a:rPr dirty="0" sz="3850" spc="-25">
                <a:solidFill>
                  <a:srgbClr val="005EC2"/>
                </a:solidFill>
              </a:rPr>
              <a:t>LA </a:t>
            </a:r>
            <a:r>
              <a:rPr dirty="0" sz="3850" spc="120">
                <a:solidFill>
                  <a:srgbClr val="005EC2"/>
                </a:solidFill>
              </a:rPr>
              <a:t>INFORMACIÓN</a:t>
            </a:r>
            <a:endParaRPr sz="3850"/>
          </a:p>
        </p:txBody>
      </p:sp>
      <p:grpSp>
        <p:nvGrpSpPr>
          <p:cNvPr id="4" name="object 4"/>
          <p:cNvGrpSpPr/>
          <p:nvPr/>
        </p:nvGrpSpPr>
        <p:grpSpPr>
          <a:xfrm>
            <a:off x="0" y="2333237"/>
            <a:ext cx="6367780" cy="7954009"/>
            <a:chOff x="0" y="2333237"/>
            <a:chExt cx="6367780" cy="7954009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333237"/>
              <a:ext cx="6367668" cy="795376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015488" y="4017828"/>
              <a:ext cx="942975" cy="942975"/>
            </a:xfrm>
            <a:custGeom>
              <a:avLst/>
              <a:gdLst/>
              <a:ahLst/>
              <a:cxnLst/>
              <a:rect l="l" t="t" r="r" b="b"/>
              <a:pathLst>
                <a:path w="942975" h="942975">
                  <a:moveTo>
                    <a:pt x="535393" y="942974"/>
                  </a:moveTo>
                  <a:lnTo>
                    <a:pt x="412047" y="942974"/>
                  </a:lnTo>
                  <a:lnTo>
                    <a:pt x="378249" y="937816"/>
                  </a:lnTo>
                  <a:lnTo>
                    <a:pt x="332850" y="926143"/>
                  </a:lnTo>
                  <a:lnTo>
                    <a:pt x="289327" y="910213"/>
                  </a:lnTo>
                  <a:lnTo>
                    <a:pt x="247917" y="890265"/>
                  </a:lnTo>
                  <a:lnTo>
                    <a:pt x="208858" y="866536"/>
                  </a:lnTo>
                  <a:lnTo>
                    <a:pt x="172390" y="839266"/>
                  </a:lnTo>
                  <a:lnTo>
                    <a:pt x="138749" y="808691"/>
                  </a:lnTo>
                  <a:lnTo>
                    <a:pt x="108174" y="775050"/>
                  </a:lnTo>
                  <a:lnTo>
                    <a:pt x="80903" y="738582"/>
                  </a:lnTo>
                  <a:lnTo>
                    <a:pt x="57175" y="699523"/>
                  </a:lnTo>
                  <a:lnTo>
                    <a:pt x="37227" y="658113"/>
                  </a:lnTo>
                  <a:lnTo>
                    <a:pt x="21297" y="614590"/>
                  </a:lnTo>
                  <a:lnTo>
                    <a:pt x="9624" y="569191"/>
                  </a:lnTo>
                  <a:lnTo>
                    <a:pt x="2445" y="522155"/>
                  </a:lnTo>
                  <a:lnTo>
                    <a:pt x="0" y="473720"/>
                  </a:lnTo>
                  <a:lnTo>
                    <a:pt x="2445" y="425285"/>
                  </a:lnTo>
                  <a:lnTo>
                    <a:pt x="9624" y="378249"/>
                  </a:lnTo>
                  <a:lnTo>
                    <a:pt x="21297" y="332850"/>
                  </a:lnTo>
                  <a:lnTo>
                    <a:pt x="37227" y="289327"/>
                  </a:lnTo>
                  <a:lnTo>
                    <a:pt x="57175" y="247917"/>
                  </a:lnTo>
                  <a:lnTo>
                    <a:pt x="80903" y="208858"/>
                  </a:lnTo>
                  <a:lnTo>
                    <a:pt x="108174" y="172390"/>
                  </a:lnTo>
                  <a:lnTo>
                    <a:pt x="138749" y="138749"/>
                  </a:lnTo>
                  <a:lnTo>
                    <a:pt x="172390" y="108174"/>
                  </a:lnTo>
                  <a:lnTo>
                    <a:pt x="208858" y="80903"/>
                  </a:lnTo>
                  <a:lnTo>
                    <a:pt x="247917" y="57175"/>
                  </a:lnTo>
                  <a:lnTo>
                    <a:pt x="289327" y="37227"/>
                  </a:lnTo>
                  <a:lnTo>
                    <a:pt x="332850" y="21297"/>
                  </a:lnTo>
                  <a:lnTo>
                    <a:pt x="378249" y="9624"/>
                  </a:lnTo>
                  <a:lnTo>
                    <a:pt x="425285" y="2445"/>
                  </a:lnTo>
                  <a:lnTo>
                    <a:pt x="473720" y="0"/>
                  </a:lnTo>
                  <a:lnTo>
                    <a:pt x="522155" y="2445"/>
                  </a:lnTo>
                  <a:lnTo>
                    <a:pt x="569191" y="9624"/>
                  </a:lnTo>
                  <a:lnTo>
                    <a:pt x="614590" y="21297"/>
                  </a:lnTo>
                  <a:lnTo>
                    <a:pt x="658113" y="37227"/>
                  </a:lnTo>
                  <a:lnTo>
                    <a:pt x="699523" y="57175"/>
                  </a:lnTo>
                  <a:lnTo>
                    <a:pt x="738581" y="80903"/>
                  </a:lnTo>
                  <a:lnTo>
                    <a:pt x="775050" y="108174"/>
                  </a:lnTo>
                  <a:lnTo>
                    <a:pt x="808690" y="138749"/>
                  </a:lnTo>
                  <a:lnTo>
                    <a:pt x="839265" y="172390"/>
                  </a:lnTo>
                  <a:lnTo>
                    <a:pt x="866536" y="208858"/>
                  </a:lnTo>
                  <a:lnTo>
                    <a:pt x="890264" y="247917"/>
                  </a:lnTo>
                  <a:lnTo>
                    <a:pt x="910212" y="289327"/>
                  </a:lnTo>
                  <a:lnTo>
                    <a:pt x="926142" y="332850"/>
                  </a:lnTo>
                  <a:lnTo>
                    <a:pt x="937815" y="378249"/>
                  </a:lnTo>
                  <a:lnTo>
                    <a:pt x="942974" y="412056"/>
                  </a:lnTo>
                  <a:lnTo>
                    <a:pt x="942974" y="535384"/>
                  </a:lnTo>
                  <a:lnTo>
                    <a:pt x="926142" y="614590"/>
                  </a:lnTo>
                  <a:lnTo>
                    <a:pt x="910212" y="658113"/>
                  </a:lnTo>
                  <a:lnTo>
                    <a:pt x="890264" y="699523"/>
                  </a:lnTo>
                  <a:lnTo>
                    <a:pt x="866536" y="738582"/>
                  </a:lnTo>
                  <a:lnTo>
                    <a:pt x="839265" y="775050"/>
                  </a:lnTo>
                  <a:lnTo>
                    <a:pt x="808690" y="808691"/>
                  </a:lnTo>
                  <a:lnTo>
                    <a:pt x="775050" y="839266"/>
                  </a:lnTo>
                  <a:lnTo>
                    <a:pt x="738581" y="866536"/>
                  </a:lnTo>
                  <a:lnTo>
                    <a:pt x="699523" y="890265"/>
                  </a:lnTo>
                  <a:lnTo>
                    <a:pt x="658113" y="910213"/>
                  </a:lnTo>
                  <a:lnTo>
                    <a:pt x="614590" y="926143"/>
                  </a:lnTo>
                  <a:lnTo>
                    <a:pt x="569191" y="937816"/>
                  </a:lnTo>
                  <a:lnTo>
                    <a:pt x="535393" y="942974"/>
                  </a:lnTo>
                  <a:close/>
                </a:path>
              </a:pathLst>
            </a:custGeom>
            <a:solidFill>
              <a:srgbClr val="005E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204348" y="4279464"/>
              <a:ext cx="570230" cy="437515"/>
            </a:xfrm>
            <a:custGeom>
              <a:avLst/>
              <a:gdLst/>
              <a:ahLst/>
              <a:cxnLst/>
              <a:rect l="l" t="t" r="r" b="b"/>
              <a:pathLst>
                <a:path w="570229" h="437514">
                  <a:moveTo>
                    <a:pt x="158516" y="437136"/>
                  </a:moveTo>
                  <a:lnTo>
                    <a:pt x="0" y="278609"/>
                  </a:lnTo>
                  <a:lnTo>
                    <a:pt x="25925" y="252684"/>
                  </a:lnTo>
                  <a:lnTo>
                    <a:pt x="158516" y="385274"/>
                  </a:lnTo>
                  <a:lnTo>
                    <a:pt x="543796" y="0"/>
                  </a:lnTo>
                  <a:lnTo>
                    <a:pt x="569722" y="25925"/>
                  </a:lnTo>
                  <a:lnTo>
                    <a:pt x="158516" y="437136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02793" y="0"/>
            <a:ext cx="6985207" cy="5976251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088247" y="7115739"/>
            <a:ext cx="942975" cy="942975"/>
            <a:chOff x="4088247" y="7115739"/>
            <a:chExt cx="942975" cy="942975"/>
          </a:xfrm>
        </p:grpSpPr>
        <p:sp>
          <p:nvSpPr>
            <p:cNvPr id="10" name="object 10"/>
            <p:cNvSpPr/>
            <p:nvPr/>
          </p:nvSpPr>
          <p:spPr>
            <a:xfrm>
              <a:off x="4088247" y="7115739"/>
              <a:ext cx="942975" cy="942975"/>
            </a:xfrm>
            <a:custGeom>
              <a:avLst/>
              <a:gdLst/>
              <a:ahLst/>
              <a:cxnLst/>
              <a:rect l="l" t="t" r="r" b="b"/>
              <a:pathLst>
                <a:path w="942975" h="942975">
                  <a:moveTo>
                    <a:pt x="535392" y="942974"/>
                  </a:moveTo>
                  <a:lnTo>
                    <a:pt x="412048" y="942974"/>
                  </a:lnTo>
                  <a:lnTo>
                    <a:pt x="378249" y="937816"/>
                  </a:lnTo>
                  <a:lnTo>
                    <a:pt x="332850" y="926143"/>
                  </a:lnTo>
                  <a:lnTo>
                    <a:pt x="289327" y="910213"/>
                  </a:lnTo>
                  <a:lnTo>
                    <a:pt x="247917" y="890265"/>
                  </a:lnTo>
                  <a:lnTo>
                    <a:pt x="208858" y="866536"/>
                  </a:lnTo>
                  <a:lnTo>
                    <a:pt x="172390" y="839266"/>
                  </a:lnTo>
                  <a:lnTo>
                    <a:pt x="138749" y="808691"/>
                  </a:lnTo>
                  <a:lnTo>
                    <a:pt x="108174" y="775050"/>
                  </a:lnTo>
                  <a:lnTo>
                    <a:pt x="80903" y="738582"/>
                  </a:lnTo>
                  <a:lnTo>
                    <a:pt x="57175" y="699523"/>
                  </a:lnTo>
                  <a:lnTo>
                    <a:pt x="37227" y="658113"/>
                  </a:lnTo>
                  <a:lnTo>
                    <a:pt x="21297" y="614590"/>
                  </a:lnTo>
                  <a:lnTo>
                    <a:pt x="9624" y="569191"/>
                  </a:lnTo>
                  <a:lnTo>
                    <a:pt x="2445" y="522155"/>
                  </a:lnTo>
                  <a:lnTo>
                    <a:pt x="0" y="473720"/>
                  </a:lnTo>
                  <a:lnTo>
                    <a:pt x="2445" y="425285"/>
                  </a:lnTo>
                  <a:lnTo>
                    <a:pt x="9624" y="378249"/>
                  </a:lnTo>
                  <a:lnTo>
                    <a:pt x="21297" y="332850"/>
                  </a:lnTo>
                  <a:lnTo>
                    <a:pt x="37227" y="289326"/>
                  </a:lnTo>
                  <a:lnTo>
                    <a:pt x="57175" y="247917"/>
                  </a:lnTo>
                  <a:lnTo>
                    <a:pt x="80903" y="208858"/>
                  </a:lnTo>
                  <a:lnTo>
                    <a:pt x="108174" y="172390"/>
                  </a:lnTo>
                  <a:lnTo>
                    <a:pt x="138749" y="138749"/>
                  </a:lnTo>
                  <a:lnTo>
                    <a:pt x="172390" y="108174"/>
                  </a:lnTo>
                  <a:lnTo>
                    <a:pt x="208858" y="80903"/>
                  </a:lnTo>
                  <a:lnTo>
                    <a:pt x="247917" y="57175"/>
                  </a:lnTo>
                  <a:lnTo>
                    <a:pt x="289327" y="37227"/>
                  </a:lnTo>
                  <a:lnTo>
                    <a:pt x="332850" y="21297"/>
                  </a:lnTo>
                  <a:lnTo>
                    <a:pt x="378249" y="9624"/>
                  </a:lnTo>
                  <a:lnTo>
                    <a:pt x="425285" y="2445"/>
                  </a:lnTo>
                  <a:lnTo>
                    <a:pt x="473720" y="0"/>
                  </a:lnTo>
                  <a:lnTo>
                    <a:pt x="522155" y="2445"/>
                  </a:lnTo>
                  <a:lnTo>
                    <a:pt x="569191" y="9624"/>
                  </a:lnTo>
                  <a:lnTo>
                    <a:pt x="614590" y="21297"/>
                  </a:lnTo>
                  <a:lnTo>
                    <a:pt x="658113" y="37227"/>
                  </a:lnTo>
                  <a:lnTo>
                    <a:pt x="699523" y="57175"/>
                  </a:lnTo>
                  <a:lnTo>
                    <a:pt x="738581" y="80903"/>
                  </a:lnTo>
                  <a:lnTo>
                    <a:pt x="775050" y="108174"/>
                  </a:lnTo>
                  <a:lnTo>
                    <a:pt x="808690" y="138749"/>
                  </a:lnTo>
                  <a:lnTo>
                    <a:pt x="839265" y="172390"/>
                  </a:lnTo>
                  <a:lnTo>
                    <a:pt x="866536" y="208858"/>
                  </a:lnTo>
                  <a:lnTo>
                    <a:pt x="890264" y="247917"/>
                  </a:lnTo>
                  <a:lnTo>
                    <a:pt x="910212" y="289326"/>
                  </a:lnTo>
                  <a:lnTo>
                    <a:pt x="926142" y="332850"/>
                  </a:lnTo>
                  <a:lnTo>
                    <a:pt x="937815" y="378249"/>
                  </a:lnTo>
                  <a:lnTo>
                    <a:pt x="942974" y="412055"/>
                  </a:lnTo>
                  <a:lnTo>
                    <a:pt x="942974" y="535384"/>
                  </a:lnTo>
                  <a:lnTo>
                    <a:pt x="926142" y="614590"/>
                  </a:lnTo>
                  <a:lnTo>
                    <a:pt x="910212" y="658113"/>
                  </a:lnTo>
                  <a:lnTo>
                    <a:pt x="890264" y="699523"/>
                  </a:lnTo>
                  <a:lnTo>
                    <a:pt x="866536" y="738582"/>
                  </a:lnTo>
                  <a:lnTo>
                    <a:pt x="839265" y="775050"/>
                  </a:lnTo>
                  <a:lnTo>
                    <a:pt x="808690" y="808691"/>
                  </a:lnTo>
                  <a:lnTo>
                    <a:pt x="775050" y="839266"/>
                  </a:lnTo>
                  <a:lnTo>
                    <a:pt x="738581" y="866536"/>
                  </a:lnTo>
                  <a:lnTo>
                    <a:pt x="699523" y="890265"/>
                  </a:lnTo>
                  <a:lnTo>
                    <a:pt x="658113" y="910213"/>
                  </a:lnTo>
                  <a:lnTo>
                    <a:pt x="614590" y="926143"/>
                  </a:lnTo>
                  <a:lnTo>
                    <a:pt x="569191" y="937816"/>
                  </a:lnTo>
                  <a:lnTo>
                    <a:pt x="535392" y="942974"/>
                  </a:lnTo>
                  <a:close/>
                </a:path>
              </a:pathLst>
            </a:custGeom>
            <a:solidFill>
              <a:srgbClr val="005E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277106" y="7377375"/>
              <a:ext cx="570230" cy="437515"/>
            </a:xfrm>
            <a:custGeom>
              <a:avLst/>
              <a:gdLst/>
              <a:ahLst/>
              <a:cxnLst/>
              <a:rect l="l" t="t" r="r" b="b"/>
              <a:pathLst>
                <a:path w="570229" h="437515">
                  <a:moveTo>
                    <a:pt x="158516" y="437136"/>
                  </a:moveTo>
                  <a:lnTo>
                    <a:pt x="0" y="278609"/>
                  </a:lnTo>
                  <a:lnTo>
                    <a:pt x="25925" y="252684"/>
                  </a:lnTo>
                  <a:lnTo>
                    <a:pt x="158516" y="385274"/>
                  </a:lnTo>
                  <a:lnTo>
                    <a:pt x="543796" y="0"/>
                  </a:lnTo>
                  <a:lnTo>
                    <a:pt x="569722" y="25925"/>
                  </a:lnTo>
                  <a:lnTo>
                    <a:pt x="158516" y="437136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391037" y="3262672"/>
            <a:ext cx="8967470" cy="495490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2925"/>
              </a:lnSpc>
              <a:spcBef>
                <a:spcPts val="114"/>
              </a:spcBef>
            </a:pPr>
            <a:r>
              <a:rPr dirty="0" sz="2500" spc="-10">
                <a:solidFill>
                  <a:srgbClr val="005EC2"/>
                </a:solidFill>
                <a:latin typeface="Tahoma"/>
                <a:cs typeface="Tahoma"/>
              </a:rPr>
              <a:t>Modelo</a:t>
            </a:r>
            <a:r>
              <a:rPr dirty="0" sz="2500" spc="-17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20">
                <a:solidFill>
                  <a:srgbClr val="005EC2"/>
                </a:solidFill>
                <a:latin typeface="Tahoma"/>
                <a:cs typeface="Tahoma"/>
              </a:rPr>
              <a:t>de</a:t>
            </a:r>
            <a:r>
              <a:rPr dirty="0" sz="2500" spc="-17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25">
                <a:solidFill>
                  <a:srgbClr val="005EC2"/>
                </a:solidFill>
                <a:latin typeface="Tahoma"/>
                <a:cs typeface="Tahoma"/>
              </a:rPr>
              <a:t>datos</a:t>
            </a:r>
            <a:r>
              <a:rPr dirty="0" sz="2500" spc="-16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005EC2"/>
                </a:solidFill>
                <a:latin typeface="Tahoma"/>
                <a:cs typeface="Tahoma"/>
              </a:rPr>
              <a:t>preliminar:</a:t>
            </a:r>
            <a:endParaRPr sz="2500">
              <a:latin typeface="Tahoma"/>
              <a:cs typeface="Tahoma"/>
            </a:endParaRPr>
          </a:p>
          <a:p>
            <a:pPr marL="229235" indent="-216535">
              <a:lnSpc>
                <a:spcPts val="2850"/>
              </a:lnSpc>
              <a:buChar char="•"/>
              <a:tabLst>
                <a:tab pos="229235" algn="l"/>
              </a:tabLst>
            </a:pPr>
            <a:r>
              <a:rPr dirty="0" sz="2500" spc="110">
                <a:solidFill>
                  <a:srgbClr val="005EC2"/>
                </a:solidFill>
                <a:latin typeface="Tahoma"/>
                <a:cs typeface="Tahoma"/>
              </a:rPr>
              <a:t>EMPRESAS</a:t>
            </a:r>
            <a:r>
              <a:rPr dirty="0" sz="2500" spc="-14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120">
                <a:solidFill>
                  <a:srgbClr val="005EC2"/>
                </a:solidFill>
                <a:latin typeface="Tahoma"/>
                <a:cs typeface="Tahoma"/>
              </a:rPr>
              <a:t>(id,</a:t>
            </a:r>
            <a:r>
              <a:rPr dirty="0" sz="2500" spc="-14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65">
                <a:solidFill>
                  <a:srgbClr val="005EC2"/>
                </a:solidFill>
                <a:latin typeface="Tahoma"/>
                <a:cs typeface="Tahoma"/>
              </a:rPr>
              <a:t>nombre,</a:t>
            </a:r>
            <a:r>
              <a:rPr dirty="0" sz="2500" spc="-14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55">
                <a:solidFill>
                  <a:srgbClr val="005EC2"/>
                </a:solidFill>
                <a:latin typeface="Tahoma"/>
                <a:cs typeface="Tahoma"/>
              </a:rPr>
              <a:t>estado,</a:t>
            </a:r>
            <a:r>
              <a:rPr dirty="0" sz="2500" spc="-13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005EC2"/>
                </a:solidFill>
                <a:latin typeface="Tahoma"/>
                <a:cs typeface="Tahoma"/>
              </a:rPr>
              <a:t>creado_en)</a:t>
            </a:r>
            <a:endParaRPr sz="2500">
              <a:latin typeface="Tahoma"/>
              <a:cs typeface="Tahoma"/>
            </a:endParaRPr>
          </a:p>
          <a:p>
            <a:pPr marL="229235" indent="-216535">
              <a:lnSpc>
                <a:spcPts val="2850"/>
              </a:lnSpc>
              <a:buChar char="•"/>
              <a:tabLst>
                <a:tab pos="229235" algn="l"/>
              </a:tabLst>
            </a:pPr>
            <a:r>
              <a:rPr dirty="0" sz="2500" spc="105">
                <a:solidFill>
                  <a:srgbClr val="005EC2"/>
                </a:solidFill>
                <a:latin typeface="Tahoma"/>
                <a:cs typeface="Tahoma"/>
              </a:rPr>
              <a:t>USERS</a:t>
            </a:r>
            <a:r>
              <a:rPr dirty="0" sz="2500" spc="-15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120">
                <a:solidFill>
                  <a:srgbClr val="005EC2"/>
                </a:solidFill>
                <a:latin typeface="Tahoma"/>
                <a:cs typeface="Tahoma"/>
              </a:rPr>
              <a:t>(id,</a:t>
            </a:r>
            <a:r>
              <a:rPr dirty="0" sz="2500" spc="-14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55">
                <a:solidFill>
                  <a:srgbClr val="005EC2"/>
                </a:solidFill>
                <a:latin typeface="Tahoma"/>
                <a:cs typeface="Tahoma"/>
              </a:rPr>
              <a:t>email,</a:t>
            </a:r>
            <a:r>
              <a:rPr dirty="0" sz="2500" spc="-14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55">
                <a:solidFill>
                  <a:srgbClr val="005EC2"/>
                </a:solidFill>
                <a:latin typeface="Tahoma"/>
                <a:cs typeface="Tahoma"/>
              </a:rPr>
              <a:t>estado,</a:t>
            </a:r>
            <a:r>
              <a:rPr dirty="0" sz="2500" spc="-14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75">
                <a:solidFill>
                  <a:srgbClr val="005EC2"/>
                </a:solidFill>
                <a:latin typeface="Tahoma"/>
                <a:cs typeface="Tahoma"/>
              </a:rPr>
              <a:t>rol,</a:t>
            </a:r>
            <a:r>
              <a:rPr dirty="0" sz="2500" spc="-14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005EC2"/>
                </a:solidFill>
                <a:latin typeface="Tahoma"/>
                <a:cs typeface="Tahoma"/>
              </a:rPr>
              <a:t>empresaId)</a:t>
            </a:r>
            <a:endParaRPr sz="2500">
              <a:latin typeface="Tahoma"/>
              <a:cs typeface="Tahoma"/>
            </a:endParaRPr>
          </a:p>
          <a:p>
            <a:pPr marL="229235" indent="-216535">
              <a:lnSpc>
                <a:spcPts val="2850"/>
              </a:lnSpc>
              <a:buChar char="•"/>
              <a:tabLst>
                <a:tab pos="229235" algn="l"/>
              </a:tabLst>
            </a:pPr>
            <a:r>
              <a:rPr dirty="0" sz="2500">
                <a:solidFill>
                  <a:srgbClr val="005EC2"/>
                </a:solidFill>
                <a:latin typeface="Tahoma"/>
                <a:cs typeface="Tahoma"/>
              </a:rPr>
              <a:t>COMPETIDORES</a:t>
            </a:r>
            <a:r>
              <a:rPr dirty="0" sz="2500" spc="-4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120">
                <a:solidFill>
                  <a:srgbClr val="005EC2"/>
                </a:solidFill>
                <a:latin typeface="Tahoma"/>
                <a:cs typeface="Tahoma"/>
              </a:rPr>
              <a:t>(id,</a:t>
            </a:r>
            <a:r>
              <a:rPr dirty="0" sz="2500" spc="-4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65">
                <a:solidFill>
                  <a:srgbClr val="005EC2"/>
                </a:solidFill>
                <a:latin typeface="Tahoma"/>
                <a:cs typeface="Tahoma"/>
              </a:rPr>
              <a:t>nombre,</a:t>
            </a:r>
            <a:r>
              <a:rPr dirty="0" sz="2500" spc="-4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65">
                <a:solidFill>
                  <a:srgbClr val="005EC2"/>
                </a:solidFill>
                <a:latin typeface="Tahoma"/>
                <a:cs typeface="Tahoma"/>
              </a:rPr>
              <a:t>tipo,</a:t>
            </a:r>
            <a:r>
              <a:rPr dirty="0" sz="2500" spc="-4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005EC2"/>
                </a:solidFill>
                <a:latin typeface="Tahoma"/>
                <a:cs typeface="Tahoma"/>
              </a:rPr>
              <a:t>empresaId)</a:t>
            </a:r>
            <a:endParaRPr sz="2500">
              <a:latin typeface="Tahoma"/>
              <a:cs typeface="Tahoma"/>
            </a:endParaRPr>
          </a:p>
          <a:p>
            <a:pPr marL="229235" indent="-216535">
              <a:lnSpc>
                <a:spcPts val="2850"/>
              </a:lnSpc>
              <a:buChar char="•"/>
              <a:tabLst>
                <a:tab pos="229235" algn="l"/>
              </a:tabLst>
            </a:pPr>
            <a:r>
              <a:rPr dirty="0" sz="2500">
                <a:solidFill>
                  <a:srgbClr val="005EC2"/>
                </a:solidFill>
                <a:latin typeface="Tahoma"/>
                <a:cs typeface="Tahoma"/>
              </a:rPr>
              <a:t>PRODUCTOS</a:t>
            </a:r>
            <a:r>
              <a:rPr dirty="0" sz="2500" spc="-5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120">
                <a:solidFill>
                  <a:srgbClr val="005EC2"/>
                </a:solidFill>
                <a:latin typeface="Tahoma"/>
                <a:cs typeface="Tahoma"/>
              </a:rPr>
              <a:t>(id,</a:t>
            </a:r>
            <a:r>
              <a:rPr dirty="0" sz="2500" spc="-4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65">
                <a:solidFill>
                  <a:srgbClr val="005EC2"/>
                </a:solidFill>
                <a:latin typeface="Tahoma"/>
                <a:cs typeface="Tahoma"/>
              </a:rPr>
              <a:t>nombre,</a:t>
            </a:r>
            <a:r>
              <a:rPr dirty="0" sz="2500" spc="-5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35">
                <a:solidFill>
                  <a:srgbClr val="005EC2"/>
                </a:solidFill>
                <a:latin typeface="Tahoma"/>
                <a:cs typeface="Tahoma"/>
              </a:rPr>
              <a:t>categoría,</a:t>
            </a:r>
            <a:r>
              <a:rPr dirty="0" sz="2500" spc="-4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005EC2"/>
                </a:solidFill>
                <a:latin typeface="Tahoma"/>
                <a:cs typeface="Tahoma"/>
              </a:rPr>
              <a:t>competidorId)</a:t>
            </a:r>
            <a:endParaRPr sz="2500">
              <a:latin typeface="Tahoma"/>
              <a:cs typeface="Tahoma"/>
            </a:endParaRPr>
          </a:p>
          <a:p>
            <a:pPr marL="12700" marR="77470">
              <a:lnSpc>
                <a:spcPts val="2850"/>
              </a:lnSpc>
              <a:spcBef>
                <a:spcPts val="145"/>
              </a:spcBef>
            </a:pPr>
            <a:r>
              <a:rPr dirty="0" sz="2500">
                <a:solidFill>
                  <a:srgbClr val="005EC2"/>
                </a:solidFill>
                <a:latin typeface="Tahoma"/>
                <a:cs typeface="Tahoma"/>
              </a:rPr>
              <a:t>Relaciones:</a:t>
            </a:r>
            <a:r>
              <a:rPr dirty="0" sz="2500" spc="22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005EC2"/>
                </a:solidFill>
                <a:latin typeface="Tahoma"/>
                <a:cs typeface="Tahoma"/>
              </a:rPr>
              <a:t>Empresa</a:t>
            </a:r>
            <a:r>
              <a:rPr dirty="0" sz="2500" spc="22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75">
                <a:solidFill>
                  <a:srgbClr val="005EC2"/>
                </a:solidFill>
                <a:latin typeface="Tahoma"/>
                <a:cs typeface="Tahoma"/>
              </a:rPr>
              <a:t>1:N</a:t>
            </a:r>
            <a:r>
              <a:rPr dirty="0" sz="2500" spc="22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005EC2"/>
                </a:solidFill>
                <a:latin typeface="Tahoma"/>
                <a:cs typeface="Tahoma"/>
              </a:rPr>
              <a:t>Users</a:t>
            </a:r>
            <a:r>
              <a:rPr dirty="0" sz="2500" spc="22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270">
                <a:solidFill>
                  <a:srgbClr val="005EC2"/>
                </a:solidFill>
                <a:latin typeface="Tahoma"/>
                <a:cs typeface="Tahoma"/>
              </a:rPr>
              <a:t>·</a:t>
            </a:r>
            <a:r>
              <a:rPr dirty="0" sz="2500" spc="22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005EC2"/>
                </a:solidFill>
                <a:latin typeface="Tahoma"/>
                <a:cs typeface="Tahoma"/>
              </a:rPr>
              <a:t>Empresa</a:t>
            </a:r>
            <a:r>
              <a:rPr dirty="0" sz="2500" spc="22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75">
                <a:solidFill>
                  <a:srgbClr val="005EC2"/>
                </a:solidFill>
                <a:latin typeface="Tahoma"/>
                <a:cs typeface="Tahoma"/>
              </a:rPr>
              <a:t>1:N</a:t>
            </a:r>
            <a:r>
              <a:rPr dirty="0" sz="2500" spc="22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005EC2"/>
                </a:solidFill>
                <a:latin typeface="Tahoma"/>
                <a:cs typeface="Tahoma"/>
              </a:rPr>
              <a:t>Competidores</a:t>
            </a:r>
            <a:r>
              <a:rPr dirty="0" sz="2500" spc="22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320">
                <a:solidFill>
                  <a:srgbClr val="005EC2"/>
                </a:solidFill>
                <a:latin typeface="Tahoma"/>
                <a:cs typeface="Tahoma"/>
              </a:rPr>
              <a:t>· </a:t>
            </a:r>
            <a:r>
              <a:rPr dirty="0" sz="2500" spc="-25">
                <a:solidFill>
                  <a:srgbClr val="005EC2"/>
                </a:solidFill>
                <a:latin typeface="Tahoma"/>
                <a:cs typeface="Tahoma"/>
              </a:rPr>
              <a:t>Competidor</a:t>
            </a:r>
            <a:r>
              <a:rPr dirty="0" sz="2500" spc="-14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215">
                <a:solidFill>
                  <a:srgbClr val="005EC2"/>
                </a:solidFill>
                <a:latin typeface="Tahoma"/>
                <a:cs typeface="Tahoma"/>
              </a:rPr>
              <a:t>1:N</a:t>
            </a:r>
            <a:r>
              <a:rPr dirty="0" sz="2500" spc="-14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005EC2"/>
                </a:solidFill>
                <a:latin typeface="Tahoma"/>
                <a:cs typeface="Tahoma"/>
              </a:rPr>
              <a:t>Productos</a:t>
            </a:r>
            <a:endParaRPr sz="2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2500">
              <a:latin typeface="Tahoma"/>
              <a:cs typeface="Tahoma"/>
            </a:endParaRPr>
          </a:p>
          <a:p>
            <a:pPr algn="just" marL="85090">
              <a:lnSpc>
                <a:spcPts val="2925"/>
              </a:lnSpc>
            </a:pPr>
            <a:r>
              <a:rPr dirty="0" sz="2500" spc="-10">
                <a:solidFill>
                  <a:srgbClr val="005EC2"/>
                </a:solidFill>
                <a:latin typeface="Tahoma"/>
                <a:cs typeface="Tahoma"/>
              </a:rPr>
              <a:t>Flujo</a:t>
            </a:r>
            <a:r>
              <a:rPr dirty="0" sz="2500" spc="-17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20">
                <a:solidFill>
                  <a:srgbClr val="005EC2"/>
                </a:solidFill>
                <a:latin typeface="Tahoma"/>
                <a:cs typeface="Tahoma"/>
              </a:rPr>
              <a:t>de</a:t>
            </a:r>
            <a:r>
              <a:rPr dirty="0" sz="2500" spc="-16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25">
                <a:solidFill>
                  <a:srgbClr val="005EC2"/>
                </a:solidFill>
                <a:latin typeface="Tahoma"/>
                <a:cs typeface="Tahoma"/>
              </a:rPr>
              <a:t>control</a:t>
            </a:r>
            <a:r>
              <a:rPr dirty="0" sz="2500" spc="-16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20">
                <a:solidFill>
                  <a:srgbClr val="005EC2"/>
                </a:solidFill>
                <a:latin typeface="Tahoma"/>
                <a:cs typeface="Tahoma"/>
              </a:rPr>
              <a:t>de</a:t>
            </a:r>
            <a:r>
              <a:rPr dirty="0" sz="2500" spc="-16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005EC2"/>
                </a:solidFill>
                <a:latin typeface="Tahoma"/>
                <a:cs typeface="Tahoma"/>
              </a:rPr>
              <a:t>acceso:</a:t>
            </a:r>
            <a:endParaRPr sz="2500">
              <a:latin typeface="Tahoma"/>
              <a:cs typeface="Tahoma"/>
            </a:endParaRPr>
          </a:p>
          <a:p>
            <a:pPr algn="just" marL="85090">
              <a:lnSpc>
                <a:spcPts val="2850"/>
              </a:lnSpc>
            </a:pPr>
            <a:r>
              <a:rPr dirty="0" sz="2500">
                <a:solidFill>
                  <a:srgbClr val="005EC2"/>
                </a:solidFill>
                <a:latin typeface="Tahoma"/>
                <a:cs typeface="Tahoma"/>
              </a:rPr>
              <a:t>Usuario</a:t>
            </a:r>
            <a:r>
              <a:rPr dirty="0" sz="2500" spc="-9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550">
                <a:solidFill>
                  <a:srgbClr val="005EC2"/>
                </a:solidFill>
                <a:latin typeface="Tahoma"/>
                <a:cs typeface="Tahoma"/>
              </a:rPr>
              <a:t>→</a:t>
            </a:r>
            <a:r>
              <a:rPr dirty="0" sz="2500" spc="-9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005EC2"/>
                </a:solidFill>
                <a:latin typeface="Tahoma"/>
                <a:cs typeface="Tahoma"/>
              </a:rPr>
              <a:t>Firebase</a:t>
            </a:r>
            <a:r>
              <a:rPr dirty="0" sz="2500" spc="-9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20">
                <a:solidFill>
                  <a:srgbClr val="005EC2"/>
                </a:solidFill>
                <a:latin typeface="Tahoma"/>
                <a:cs typeface="Tahoma"/>
              </a:rPr>
              <a:t>Authentication</a:t>
            </a:r>
            <a:r>
              <a:rPr dirty="0" sz="2500" spc="-9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550">
                <a:solidFill>
                  <a:srgbClr val="005EC2"/>
                </a:solidFill>
                <a:latin typeface="Tahoma"/>
                <a:cs typeface="Tahoma"/>
              </a:rPr>
              <a:t>→</a:t>
            </a:r>
            <a:r>
              <a:rPr dirty="0" sz="2500" spc="-10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30">
                <a:solidFill>
                  <a:srgbClr val="005EC2"/>
                </a:solidFill>
                <a:latin typeface="Tahoma"/>
                <a:cs typeface="Tahoma"/>
              </a:rPr>
              <a:t>Identificación</a:t>
            </a:r>
            <a:r>
              <a:rPr dirty="0" sz="2500" spc="-9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550">
                <a:solidFill>
                  <a:srgbClr val="005EC2"/>
                </a:solidFill>
                <a:latin typeface="Tahoma"/>
                <a:cs typeface="Tahoma"/>
              </a:rPr>
              <a:t>→</a:t>
            </a:r>
            <a:r>
              <a:rPr dirty="0" sz="2500" spc="-9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005EC2"/>
                </a:solidFill>
                <a:latin typeface="Tahoma"/>
                <a:cs typeface="Tahoma"/>
              </a:rPr>
              <a:t>empresaId</a:t>
            </a:r>
            <a:endParaRPr sz="2500">
              <a:latin typeface="Tahoma"/>
              <a:cs typeface="Tahoma"/>
            </a:endParaRPr>
          </a:p>
          <a:p>
            <a:pPr algn="just" marL="85090" marR="5080">
              <a:lnSpc>
                <a:spcPts val="2850"/>
              </a:lnSpc>
              <a:spcBef>
                <a:spcPts val="145"/>
              </a:spcBef>
            </a:pPr>
            <a:r>
              <a:rPr dirty="0" sz="2500" spc="-550">
                <a:solidFill>
                  <a:srgbClr val="005EC2"/>
                </a:solidFill>
                <a:latin typeface="Tahoma"/>
                <a:cs typeface="Tahoma"/>
              </a:rPr>
              <a:t>→</a:t>
            </a:r>
            <a:r>
              <a:rPr dirty="0" sz="2500" spc="-16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10">
                <a:solidFill>
                  <a:srgbClr val="005EC2"/>
                </a:solidFill>
                <a:latin typeface="Tahoma"/>
                <a:cs typeface="Tahoma"/>
              </a:rPr>
              <a:t>Rol</a:t>
            </a:r>
            <a:r>
              <a:rPr dirty="0" sz="2500" spc="-16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100">
                <a:solidFill>
                  <a:srgbClr val="005EC2"/>
                </a:solidFill>
                <a:latin typeface="Tahoma"/>
                <a:cs typeface="Tahoma"/>
              </a:rPr>
              <a:t>y</a:t>
            </a:r>
            <a:r>
              <a:rPr dirty="0" sz="2500" spc="-16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005EC2"/>
                </a:solidFill>
                <a:latin typeface="Tahoma"/>
                <a:cs typeface="Tahoma"/>
              </a:rPr>
              <a:t>privilegios</a:t>
            </a:r>
            <a:r>
              <a:rPr dirty="0" sz="2500" spc="-16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550">
                <a:solidFill>
                  <a:srgbClr val="005EC2"/>
                </a:solidFill>
                <a:latin typeface="Tahoma"/>
                <a:cs typeface="Tahoma"/>
              </a:rPr>
              <a:t>→</a:t>
            </a:r>
            <a:r>
              <a:rPr dirty="0" sz="2500" spc="-16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005EC2"/>
                </a:solidFill>
                <a:latin typeface="Tahoma"/>
                <a:cs typeface="Tahoma"/>
              </a:rPr>
              <a:t>Validación</a:t>
            </a:r>
            <a:r>
              <a:rPr dirty="0" sz="2500" spc="-16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550">
                <a:solidFill>
                  <a:srgbClr val="005EC2"/>
                </a:solidFill>
                <a:latin typeface="Tahoma"/>
                <a:cs typeface="Tahoma"/>
              </a:rPr>
              <a:t>→</a:t>
            </a:r>
            <a:r>
              <a:rPr dirty="0" sz="2500" spc="-16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15">
                <a:solidFill>
                  <a:srgbClr val="005EC2"/>
                </a:solidFill>
                <a:latin typeface="Tahoma"/>
                <a:cs typeface="Tahoma"/>
              </a:rPr>
              <a:t>Acceso</a:t>
            </a:r>
            <a:r>
              <a:rPr dirty="0" sz="2500" spc="-16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15">
                <a:solidFill>
                  <a:srgbClr val="005EC2"/>
                </a:solidFill>
                <a:latin typeface="Tahoma"/>
                <a:cs typeface="Tahoma"/>
              </a:rPr>
              <a:t>permitido</a:t>
            </a:r>
            <a:r>
              <a:rPr dirty="0" sz="2500" spc="-16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95">
                <a:solidFill>
                  <a:srgbClr val="005EC2"/>
                </a:solidFill>
                <a:latin typeface="Tahoma"/>
                <a:cs typeface="Tahoma"/>
              </a:rPr>
              <a:t>/</a:t>
            </a:r>
            <a:r>
              <a:rPr dirty="0" sz="2500" spc="-16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35">
                <a:solidFill>
                  <a:srgbClr val="005EC2"/>
                </a:solidFill>
                <a:latin typeface="Tahoma"/>
                <a:cs typeface="Tahoma"/>
              </a:rPr>
              <a:t>denegado</a:t>
            </a:r>
            <a:r>
              <a:rPr dirty="0" sz="2500" spc="-4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60">
                <a:solidFill>
                  <a:srgbClr val="005EC2"/>
                </a:solidFill>
                <a:latin typeface="Tahoma"/>
                <a:cs typeface="Tahoma"/>
              </a:rPr>
              <a:t>Nota:</a:t>
            </a:r>
            <a:r>
              <a:rPr dirty="0" sz="2500" spc="11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40">
                <a:solidFill>
                  <a:srgbClr val="005EC2"/>
                </a:solidFill>
                <a:latin typeface="Tahoma"/>
                <a:cs typeface="Tahoma"/>
              </a:rPr>
              <a:t>El</a:t>
            </a:r>
            <a:r>
              <a:rPr dirty="0" sz="2500" spc="11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15">
                <a:solidFill>
                  <a:srgbClr val="005EC2"/>
                </a:solidFill>
                <a:latin typeface="Tahoma"/>
                <a:cs typeface="Tahoma"/>
              </a:rPr>
              <a:t>superadmin</a:t>
            </a:r>
            <a:r>
              <a:rPr dirty="0" sz="2500" spc="11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25">
                <a:solidFill>
                  <a:srgbClr val="005EC2"/>
                </a:solidFill>
                <a:latin typeface="Tahoma"/>
                <a:cs typeface="Tahoma"/>
              </a:rPr>
              <a:t>opera</a:t>
            </a:r>
            <a:r>
              <a:rPr dirty="0" sz="2500" spc="11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10">
                <a:solidFill>
                  <a:srgbClr val="005EC2"/>
                </a:solidFill>
                <a:latin typeface="Tahoma"/>
                <a:cs typeface="Tahoma"/>
              </a:rPr>
              <a:t>a</a:t>
            </a:r>
            <a:r>
              <a:rPr dirty="0" sz="2500" spc="11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35">
                <a:solidFill>
                  <a:srgbClr val="005EC2"/>
                </a:solidFill>
                <a:latin typeface="Tahoma"/>
                <a:cs typeface="Tahoma"/>
              </a:rPr>
              <a:t>nivel</a:t>
            </a:r>
            <a:r>
              <a:rPr dirty="0" sz="2500" spc="11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15">
                <a:solidFill>
                  <a:srgbClr val="005EC2"/>
                </a:solidFill>
                <a:latin typeface="Tahoma"/>
                <a:cs typeface="Tahoma"/>
              </a:rPr>
              <a:t>global</a:t>
            </a:r>
            <a:r>
              <a:rPr dirty="0" sz="2500" spc="11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100">
                <a:solidFill>
                  <a:srgbClr val="005EC2"/>
                </a:solidFill>
                <a:latin typeface="Tahoma"/>
                <a:cs typeface="Tahoma"/>
              </a:rPr>
              <a:t>y</a:t>
            </a:r>
            <a:r>
              <a:rPr dirty="0" sz="2500" spc="11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55">
                <a:solidFill>
                  <a:srgbClr val="005EC2"/>
                </a:solidFill>
                <a:latin typeface="Tahoma"/>
                <a:cs typeface="Tahoma"/>
              </a:rPr>
              <a:t>no</a:t>
            </a:r>
            <a:r>
              <a:rPr dirty="0" sz="2500" spc="11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30">
                <a:solidFill>
                  <a:srgbClr val="005EC2"/>
                </a:solidFill>
                <a:latin typeface="Tahoma"/>
                <a:cs typeface="Tahoma"/>
              </a:rPr>
              <a:t>pertenece</a:t>
            </a:r>
            <a:r>
              <a:rPr dirty="0" sz="2500" spc="11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10">
                <a:solidFill>
                  <a:srgbClr val="005EC2"/>
                </a:solidFill>
                <a:latin typeface="Tahoma"/>
                <a:cs typeface="Tahoma"/>
              </a:rPr>
              <a:t>a</a:t>
            </a:r>
            <a:r>
              <a:rPr dirty="0" sz="2500" spc="11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20">
                <a:solidFill>
                  <a:srgbClr val="005EC2"/>
                </a:solidFill>
                <a:latin typeface="Tahoma"/>
                <a:cs typeface="Tahoma"/>
              </a:rPr>
              <a:t>una</a:t>
            </a:r>
            <a:r>
              <a:rPr dirty="0" sz="2500" spc="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45">
                <a:solidFill>
                  <a:srgbClr val="005EC2"/>
                </a:solidFill>
                <a:latin typeface="Tahoma"/>
                <a:cs typeface="Tahoma"/>
              </a:rPr>
              <a:t>empresa</a:t>
            </a:r>
            <a:r>
              <a:rPr dirty="0" sz="2500" spc="-16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2500" spc="-15">
                <a:solidFill>
                  <a:srgbClr val="005EC2"/>
                </a:solidFill>
                <a:latin typeface="Tahoma"/>
                <a:cs typeface="Tahoma"/>
              </a:rPr>
              <a:t>específica.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517536" cy="10286999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5985" rIns="0" bIns="0" rtlCol="0" vert="horz">
            <a:spAutoFit/>
          </a:bodyPr>
          <a:lstStyle/>
          <a:p>
            <a:pPr marL="965835" marR="5080" indent="1230630">
              <a:lnSpc>
                <a:spcPts val="8480"/>
              </a:lnSpc>
              <a:spcBef>
                <a:spcPts val="705"/>
              </a:spcBef>
            </a:pPr>
            <a:r>
              <a:rPr dirty="0" sz="7500" spc="100"/>
              <a:t>ARQUITECTURA </a:t>
            </a:r>
            <a:r>
              <a:rPr dirty="0" sz="7500"/>
              <a:t>TÉCNICA</a:t>
            </a:r>
            <a:r>
              <a:rPr dirty="0" sz="7500" spc="-420"/>
              <a:t> </a:t>
            </a:r>
            <a:r>
              <a:rPr dirty="0" sz="7500" spc="200"/>
              <a:t>PROPUESTA</a:t>
            </a:r>
            <a:endParaRPr sz="7500"/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19460" y="4460811"/>
            <a:ext cx="1009649" cy="866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37451" y="5943188"/>
            <a:ext cx="781049" cy="10001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547460" y="7635547"/>
            <a:ext cx="1123949" cy="8286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67083" y="0"/>
            <a:ext cx="3020916" cy="102869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801145" y="4265767"/>
            <a:ext cx="10575290" cy="425450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algn="just" marL="12700" marR="198120">
              <a:lnSpc>
                <a:spcPts val="2930"/>
              </a:lnSpc>
              <a:spcBef>
                <a:spcPts val="375"/>
              </a:spcBef>
            </a:pP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Usuario/Navegador</a:t>
            </a:r>
            <a:r>
              <a:rPr dirty="0" sz="26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575">
                <a:solidFill>
                  <a:srgbClr val="FFFFFF"/>
                </a:solidFill>
                <a:latin typeface="Tahoma"/>
                <a:cs typeface="Tahoma"/>
              </a:rPr>
              <a:t>→</a:t>
            </a:r>
            <a:r>
              <a:rPr dirty="0" sz="26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85">
                <a:solidFill>
                  <a:srgbClr val="FFFFFF"/>
                </a:solidFill>
                <a:latin typeface="Tahoma"/>
                <a:cs typeface="Tahoma"/>
              </a:rPr>
              <a:t>Next.js</a:t>
            </a:r>
            <a:r>
              <a:rPr dirty="0" sz="26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95">
                <a:solidFill>
                  <a:srgbClr val="FFFFFF"/>
                </a:solidFill>
                <a:latin typeface="Tahoma"/>
                <a:cs typeface="Tahoma"/>
              </a:rPr>
              <a:t>+</a:t>
            </a:r>
            <a:r>
              <a:rPr dirty="0" sz="26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5">
                <a:solidFill>
                  <a:srgbClr val="FFFFFF"/>
                </a:solidFill>
                <a:latin typeface="Tahoma"/>
                <a:cs typeface="Tahoma"/>
              </a:rPr>
              <a:t>TypeScript</a:t>
            </a:r>
            <a:r>
              <a:rPr dirty="0" sz="26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575">
                <a:solidFill>
                  <a:srgbClr val="FFFFFF"/>
                </a:solidFill>
                <a:latin typeface="Tahoma"/>
                <a:cs typeface="Tahoma"/>
              </a:rPr>
              <a:t>→</a:t>
            </a:r>
            <a:r>
              <a:rPr dirty="0" sz="26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5">
                <a:solidFill>
                  <a:srgbClr val="FFFFFF"/>
                </a:solidFill>
                <a:latin typeface="Tahoma"/>
                <a:cs typeface="Tahoma"/>
              </a:rPr>
              <a:t>Firebase</a:t>
            </a:r>
            <a:r>
              <a:rPr dirty="0" sz="26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Tahoma"/>
                <a:cs typeface="Tahoma"/>
              </a:rPr>
              <a:t>Authentication</a:t>
            </a:r>
            <a:r>
              <a:rPr dirty="0" sz="26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575">
                <a:solidFill>
                  <a:srgbClr val="FFFFFF"/>
                </a:solidFill>
                <a:latin typeface="Tahoma"/>
                <a:cs typeface="Tahoma"/>
              </a:rPr>
              <a:t>→</a:t>
            </a:r>
            <a:r>
              <a:rPr dirty="0" sz="260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30">
                <a:solidFill>
                  <a:srgbClr val="FFFFFF"/>
                </a:solidFill>
                <a:latin typeface="Tahoma"/>
                <a:cs typeface="Tahoma"/>
              </a:rPr>
              <a:t>Lógica</a:t>
            </a:r>
            <a:r>
              <a:rPr dirty="0" sz="26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3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26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ahoma"/>
                <a:cs typeface="Tahoma"/>
              </a:rPr>
              <a:t>autorización</a:t>
            </a:r>
            <a:r>
              <a:rPr dirty="0" sz="26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75">
                <a:solidFill>
                  <a:srgbClr val="FFFFFF"/>
                </a:solidFill>
                <a:latin typeface="Tahoma"/>
                <a:cs typeface="Tahoma"/>
              </a:rPr>
              <a:t>(rol</a:t>
            </a:r>
            <a:r>
              <a:rPr dirty="0" sz="26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95">
                <a:solidFill>
                  <a:srgbClr val="FFFFFF"/>
                </a:solidFill>
                <a:latin typeface="Tahoma"/>
                <a:cs typeface="Tahoma"/>
              </a:rPr>
              <a:t>+</a:t>
            </a:r>
            <a:r>
              <a:rPr dirty="0" sz="26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85">
                <a:solidFill>
                  <a:srgbClr val="FFFFFF"/>
                </a:solidFill>
                <a:latin typeface="Tahoma"/>
                <a:cs typeface="Tahoma"/>
              </a:rPr>
              <a:t>empresaId)</a:t>
            </a:r>
            <a:r>
              <a:rPr dirty="0" sz="26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575">
                <a:solidFill>
                  <a:srgbClr val="FFFFFF"/>
                </a:solidFill>
                <a:latin typeface="Tahoma"/>
                <a:cs typeface="Tahoma"/>
              </a:rPr>
              <a:t>→</a:t>
            </a:r>
            <a:r>
              <a:rPr dirty="0" sz="26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0">
                <a:solidFill>
                  <a:srgbClr val="FFFFFF"/>
                </a:solidFill>
                <a:latin typeface="Tahoma"/>
                <a:cs typeface="Tahoma"/>
              </a:rPr>
              <a:t>Cloud</a:t>
            </a:r>
            <a:r>
              <a:rPr dirty="0" sz="26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ahoma"/>
                <a:cs typeface="Tahoma"/>
              </a:rPr>
              <a:t>Firestore</a:t>
            </a:r>
            <a:r>
              <a:rPr dirty="0" sz="26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575">
                <a:solidFill>
                  <a:srgbClr val="FFFFFF"/>
                </a:solidFill>
                <a:latin typeface="Tahoma"/>
                <a:cs typeface="Tahoma"/>
              </a:rPr>
              <a:t>→</a:t>
            </a:r>
            <a:r>
              <a:rPr dirty="0" sz="26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30">
                <a:solidFill>
                  <a:srgbClr val="FFFFFF"/>
                </a:solidFill>
                <a:latin typeface="Tahoma"/>
                <a:cs typeface="Tahoma"/>
              </a:rPr>
              <a:t>Empresas</a:t>
            </a:r>
            <a:r>
              <a:rPr dirty="0" sz="26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400">
                <a:solidFill>
                  <a:srgbClr val="FFFFFF"/>
                </a:solidFill>
                <a:latin typeface="Tahoma"/>
                <a:cs typeface="Tahoma"/>
              </a:rPr>
              <a:t>|</a:t>
            </a:r>
            <a:r>
              <a:rPr dirty="0" sz="2600" spc="-3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0">
                <a:solidFill>
                  <a:srgbClr val="FFFFFF"/>
                </a:solidFill>
                <a:latin typeface="Tahoma"/>
                <a:cs typeface="Tahoma"/>
              </a:rPr>
              <a:t>Users</a:t>
            </a:r>
            <a:r>
              <a:rPr dirty="0" sz="26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400">
                <a:solidFill>
                  <a:srgbClr val="FFFFFF"/>
                </a:solidFill>
                <a:latin typeface="Tahoma"/>
                <a:cs typeface="Tahoma"/>
              </a:rPr>
              <a:t>|</a:t>
            </a:r>
            <a:r>
              <a:rPr dirty="0" sz="26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Tahoma"/>
                <a:cs typeface="Tahoma"/>
              </a:rPr>
              <a:t>Competidores</a:t>
            </a:r>
            <a:r>
              <a:rPr dirty="0" sz="26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400">
                <a:solidFill>
                  <a:srgbClr val="FFFFFF"/>
                </a:solidFill>
                <a:latin typeface="Tahoma"/>
                <a:cs typeface="Tahoma"/>
              </a:rPr>
              <a:t>|</a:t>
            </a:r>
            <a:r>
              <a:rPr dirty="0" sz="26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15">
                <a:solidFill>
                  <a:srgbClr val="FFFFFF"/>
                </a:solidFill>
                <a:latin typeface="Tahoma"/>
                <a:cs typeface="Tahoma"/>
              </a:rPr>
              <a:t>Productos.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2600">
              <a:latin typeface="Tahoma"/>
              <a:cs typeface="Tahoma"/>
            </a:endParaRPr>
          </a:p>
          <a:p>
            <a:pPr marL="12700" marR="664845">
              <a:lnSpc>
                <a:spcPts val="2930"/>
              </a:lnSpc>
            </a:pPr>
            <a:r>
              <a:rPr dirty="0" sz="2600" spc="-10">
                <a:solidFill>
                  <a:srgbClr val="FFFFFF"/>
                </a:solidFill>
                <a:latin typeface="Tahoma"/>
                <a:cs typeface="Tahoma"/>
              </a:rPr>
              <a:t>Despliegue</a:t>
            </a:r>
            <a:r>
              <a:rPr dirty="0" sz="2600" spc="-1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60">
                <a:solidFill>
                  <a:srgbClr val="FFFFFF"/>
                </a:solidFill>
                <a:latin typeface="Tahoma"/>
                <a:cs typeface="Tahoma"/>
              </a:rPr>
              <a:t>en</a:t>
            </a:r>
            <a:r>
              <a:rPr dirty="0" sz="2600" spc="-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45">
                <a:solidFill>
                  <a:srgbClr val="FFFFFF"/>
                </a:solidFill>
                <a:latin typeface="Tahoma"/>
                <a:cs typeface="Tahoma"/>
              </a:rPr>
              <a:t>Vercel.</a:t>
            </a:r>
            <a:r>
              <a:rPr dirty="0" sz="2600" spc="-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Tahoma"/>
                <a:cs typeface="Tahoma"/>
              </a:rPr>
              <a:t>Gestión</a:t>
            </a:r>
            <a:r>
              <a:rPr dirty="0" sz="2600" spc="-1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ahoma"/>
                <a:cs typeface="Tahoma"/>
              </a:rPr>
              <a:t>con</a:t>
            </a:r>
            <a:r>
              <a:rPr dirty="0" sz="2600" spc="-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Git</a:t>
            </a:r>
            <a:r>
              <a:rPr dirty="0" sz="2600" spc="-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100">
                <a:solidFill>
                  <a:srgbClr val="FFFFFF"/>
                </a:solidFill>
                <a:latin typeface="Tahoma"/>
                <a:cs typeface="Tahoma"/>
              </a:rPr>
              <a:t>+</a:t>
            </a:r>
            <a:r>
              <a:rPr dirty="0" sz="2600" spc="-1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GitHub</a:t>
            </a:r>
            <a:r>
              <a:rPr dirty="0" sz="2600" spc="-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100">
                <a:solidFill>
                  <a:srgbClr val="FFFFFF"/>
                </a:solidFill>
                <a:latin typeface="Tahoma"/>
                <a:cs typeface="Tahoma"/>
              </a:rPr>
              <a:t>+</a:t>
            </a:r>
            <a:r>
              <a:rPr dirty="0" sz="2600" spc="-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GitHub</a:t>
            </a:r>
            <a:r>
              <a:rPr dirty="0" sz="2600" spc="-1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ahoma"/>
                <a:cs typeface="Tahoma"/>
              </a:rPr>
              <a:t>Projects. Arquitectura</a:t>
            </a:r>
            <a:r>
              <a:rPr dirty="0" sz="2600" spc="-1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ahoma"/>
                <a:cs typeface="Tahoma"/>
              </a:rPr>
              <a:t>preliminar</a:t>
            </a:r>
            <a:r>
              <a:rPr dirty="0" sz="2600" spc="-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60">
                <a:solidFill>
                  <a:srgbClr val="FFFFFF"/>
                </a:solidFill>
                <a:latin typeface="Tahoma"/>
                <a:cs typeface="Tahoma"/>
              </a:rPr>
              <a:t>sujeta</a:t>
            </a:r>
            <a:r>
              <a:rPr dirty="0" sz="2600" spc="-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2600" spc="-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Tahoma"/>
                <a:cs typeface="Tahoma"/>
              </a:rPr>
              <a:t>validación</a:t>
            </a:r>
            <a:r>
              <a:rPr dirty="0" sz="2600" spc="-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ahoma"/>
                <a:cs typeface="Tahoma"/>
              </a:rPr>
              <a:t>final</a:t>
            </a:r>
            <a:r>
              <a:rPr dirty="0" sz="2600" spc="-1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ahoma"/>
                <a:cs typeface="Tahoma"/>
              </a:rPr>
              <a:t>con</a:t>
            </a:r>
            <a:r>
              <a:rPr dirty="0" sz="2600" spc="-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la</a:t>
            </a:r>
            <a:r>
              <a:rPr dirty="0" sz="2600" spc="-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55">
                <a:solidFill>
                  <a:srgbClr val="FFFFFF"/>
                </a:solidFill>
                <a:latin typeface="Tahoma"/>
                <a:cs typeface="Tahoma"/>
              </a:rPr>
              <a:t>contraparte;</a:t>
            </a:r>
            <a:r>
              <a:rPr dirty="0" sz="2600" spc="-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Tahoma"/>
                <a:cs typeface="Tahoma"/>
              </a:rPr>
              <a:t>se </a:t>
            </a:r>
            <a:r>
              <a:rPr dirty="0" sz="2600" spc="-20">
                <a:solidFill>
                  <a:srgbClr val="FFFFFF"/>
                </a:solidFill>
                <a:latin typeface="Tahoma"/>
                <a:cs typeface="Tahoma"/>
              </a:rPr>
              <a:t>comparará</a:t>
            </a:r>
            <a:r>
              <a:rPr dirty="0" sz="26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ahoma"/>
                <a:cs typeface="Tahoma"/>
              </a:rPr>
              <a:t>con</a:t>
            </a:r>
            <a:r>
              <a:rPr dirty="0" sz="26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30">
                <a:solidFill>
                  <a:srgbClr val="FFFFFF"/>
                </a:solidFill>
                <a:latin typeface="Tahoma"/>
                <a:cs typeface="Tahoma"/>
              </a:rPr>
              <a:t>el</a:t>
            </a:r>
            <a:r>
              <a:rPr dirty="0" sz="26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borrador</a:t>
            </a:r>
            <a:r>
              <a:rPr dirty="0" sz="26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35">
                <a:solidFill>
                  <a:srgbClr val="FFFFFF"/>
                </a:solidFill>
                <a:latin typeface="Tahoma"/>
                <a:cs typeface="Tahoma"/>
              </a:rPr>
              <a:t>multitenant</a:t>
            </a:r>
            <a:r>
              <a:rPr dirty="0" sz="26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ahoma"/>
                <a:cs typeface="Tahoma"/>
              </a:rPr>
              <a:t>comprometido.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2600">
              <a:latin typeface="Tahoma"/>
              <a:cs typeface="Tahoma"/>
            </a:endParaRPr>
          </a:p>
          <a:p>
            <a:pPr marL="12700" marR="5080">
              <a:lnSpc>
                <a:spcPts val="2930"/>
              </a:lnSpc>
            </a:pP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Cada</a:t>
            </a:r>
            <a:r>
              <a:rPr dirty="0" sz="26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capa</a:t>
            </a:r>
            <a:r>
              <a:rPr dirty="0" sz="2600" spc="-1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aplica</a:t>
            </a:r>
            <a:r>
              <a:rPr dirty="0" sz="26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Tahoma"/>
                <a:cs typeface="Tahoma"/>
              </a:rPr>
              <a:t>validación</a:t>
            </a:r>
            <a:r>
              <a:rPr dirty="0" sz="2600" spc="-1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2600" spc="-1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65">
                <a:solidFill>
                  <a:srgbClr val="FFFFFF"/>
                </a:solidFill>
                <a:latin typeface="Tahoma"/>
                <a:cs typeface="Tahoma"/>
              </a:rPr>
              <a:t>empresaId</a:t>
            </a:r>
            <a:r>
              <a:rPr dirty="0" sz="26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0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dirty="0" sz="2600" spc="-1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rol</a:t>
            </a:r>
            <a:r>
              <a:rPr dirty="0" sz="2600" spc="-1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Tahoma"/>
                <a:cs typeface="Tahoma"/>
              </a:rPr>
              <a:t>antes</a:t>
            </a:r>
            <a:r>
              <a:rPr dirty="0" sz="26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2600" spc="-1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permitir</a:t>
            </a:r>
            <a:r>
              <a:rPr dirty="0" sz="2600" spc="-1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acceso</a:t>
            </a:r>
            <a:r>
              <a:rPr dirty="0" sz="26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50">
                <a:solidFill>
                  <a:srgbClr val="FFFFFF"/>
                </a:solidFill>
                <a:latin typeface="Tahoma"/>
                <a:cs typeface="Tahoma"/>
              </a:rPr>
              <a:t>a </a:t>
            </a:r>
            <a:r>
              <a:rPr dirty="0" sz="2600" spc="-10">
                <a:solidFill>
                  <a:srgbClr val="FFFFFF"/>
                </a:solidFill>
                <a:latin typeface="Tahoma"/>
                <a:cs typeface="Tahoma"/>
              </a:rPr>
              <a:t>los</a:t>
            </a:r>
            <a:r>
              <a:rPr dirty="0" sz="26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60">
                <a:solidFill>
                  <a:srgbClr val="FFFFFF"/>
                </a:solidFill>
                <a:latin typeface="Tahoma"/>
                <a:cs typeface="Tahoma"/>
              </a:rPr>
              <a:t>datos.</a:t>
            </a:r>
            <a:r>
              <a:rPr dirty="0" sz="26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El</a:t>
            </a:r>
            <a:r>
              <a:rPr dirty="0" sz="26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Tahoma"/>
                <a:cs typeface="Tahoma"/>
              </a:rPr>
              <a:t>aislamiento</a:t>
            </a:r>
            <a:r>
              <a:rPr dirty="0" sz="26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lógico</a:t>
            </a:r>
            <a:r>
              <a:rPr dirty="0" sz="26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se</a:t>
            </a:r>
            <a:r>
              <a:rPr dirty="0" sz="26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ahoma"/>
                <a:cs typeface="Tahoma"/>
              </a:rPr>
              <a:t>garantiza</a:t>
            </a:r>
            <a:r>
              <a:rPr dirty="0" sz="26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Tahoma"/>
                <a:cs typeface="Tahoma"/>
              </a:rPr>
              <a:t>desde</a:t>
            </a:r>
            <a:r>
              <a:rPr dirty="0" sz="26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la</a:t>
            </a:r>
            <a:r>
              <a:rPr dirty="0" sz="26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Tahoma"/>
                <a:cs typeface="Tahoma"/>
              </a:rPr>
              <a:t>autenticación</a:t>
            </a:r>
            <a:r>
              <a:rPr dirty="0" sz="26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ahoma"/>
                <a:cs typeface="Tahoma"/>
              </a:rPr>
              <a:t>hasta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 la</a:t>
            </a:r>
            <a:r>
              <a:rPr dirty="0" sz="26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base</a:t>
            </a:r>
            <a:r>
              <a:rPr dirty="0" sz="26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26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75">
                <a:solidFill>
                  <a:srgbClr val="FFFFFF"/>
                </a:solidFill>
                <a:latin typeface="Tahoma"/>
                <a:cs typeface="Tahoma"/>
              </a:rPr>
              <a:t>datos,</a:t>
            </a:r>
            <a:r>
              <a:rPr dirty="0" sz="26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ahoma"/>
                <a:cs typeface="Tahoma"/>
              </a:rPr>
              <a:t>sin</a:t>
            </a:r>
            <a:r>
              <a:rPr dirty="0" sz="26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ahoma"/>
                <a:cs typeface="Tahoma"/>
              </a:rPr>
              <a:t>necesidad</a:t>
            </a:r>
            <a:r>
              <a:rPr dirty="0" sz="26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26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ahoma"/>
                <a:cs typeface="Tahoma"/>
              </a:rPr>
              <a:t>infraestructura</a:t>
            </a:r>
            <a:r>
              <a:rPr dirty="0" sz="26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separada</a:t>
            </a:r>
            <a:r>
              <a:rPr dirty="0" sz="26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por</a:t>
            </a:r>
            <a:r>
              <a:rPr dirty="0" sz="26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ahoma"/>
                <a:cs typeface="Tahoma"/>
              </a:rPr>
              <a:t>empresa.</a:t>
            </a:r>
            <a:endParaRPr sz="2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3718" rIns="0" bIns="0" rtlCol="0" vert="horz">
            <a:spAutoFit/>
          </a:bodyPr>
          <a:lstStyle/>
          <a:p>
            <a:pPr marL="593725">
              <a:lnSpc>
                <a:spcPct val="100000"/>
              </a:lnSpc>
              <a:spcBef>
                <a:spcPts val="105"/>
              </a:spcBef>
            </a:pPr>
            <a:r>
              <a:rPr dirty="0" sz="3150" spc="105">
                <a:solidFill>
                  <a:srgbClr val="005EC2"/>
                </a:solidFill>
              </a:rPr>
              <a:t>¿CÓMO</a:t>
            </a:r>
            <a:r>
              <a:rPr dirty="0" sz="3150" spc="-105">
                <a:solidFill>
                  <a:srgbClr val="005EC2"/>
                </a:solidFill>
              </a:rPr>
              <a:t> </a:t>
            </a:r>
            <a:r>
              <a:rPr dirty="0" sz="3150" spc="-114">
                <a:solidFill>
                  <a:srgbClr val="005EC2"/>
                </a:solidFill>
              </a:rPr>
              <a:t>LO</a:t>
            </a:r>
            <a:r>
              <a:rPr dirty="0" sz="3150" spc="-105">
                <a:solidFill>
                  <a:srgbClr val="005EC2"/>
                </a:solidFill>
              </a:rPr>
              <a:t> </a:t>
            </a:r>
            <a:r>
              <a:rPr dirty="0" sz="3150" spc="125">
                <a:solidFill>
                  <a:srgbClr val="005EC2"/>
                </a:solidFill>
              </a:rPr>
              <a:t>DESARROLLAREMOS</a:t>
            </a:r>
            <a:r>
              <a:rPr dirty="0" sz="3150" spc="-105">
                <a:solidFill>
                  <a:srgbClr val="005EC2"/>
                </a:solidFill>
              </a:rPr>
              <a:t> </a:t>
            </a:r>
            <a:r>
              <a:rPr dirty="0" sz="3150" spc="155">
                <a:solidFill>
                  <a:srgbClr val="005EC2"/>
                </a:solidFill>
              </a:rPr>
              <a:t>Y</a:t>
            </a:r>
            <a:r>
              <a:rPr dirty="0" sz="3150" spc="-105">
                <a:solidFill>
                  <a:srgbClr val="005EC2"/>
                </a:solidFill>
              </a:rPr>
              <a:t> </a:t>
            </a:r>
            <a:r>
              <a:rPr dirty="0" sz="3150" spc="130">
                <a:solidFill>
                  <a:srgbClr val="005EC2"/>
                </a:solidFill>
              </a:rPr>
              <a:t>POR</a:t>
            </a:r>
            <a:r>
              <a:rPr dirty="0" sz="3150" spc="-105">
                <a:solidFill>
                  <a:srgbClr val="005EC2"/>
                </a:solidFill>
              </a:rPr>
              <a:t> </a:t>
            </a:r>
            <a:r>
              <a:rPr dirty="0" sz="3150">
                <a:solidFill>
                  <a:srgbClr val="005EC2"/>
                </a:solidFill>
              </a:rPr>
              <a:t>QUÉ</a:t>
            </a:r>
            <a:r>
              <a:rPr dirty="0" sz="3150" spc="-105">
                <a:solidFill>
                  <a:srgbClr val="005EC2"/>
                </a:solidFill>
              </a:rPr>
              <a:t> </a:t>
            </a:r>
            <a:r>
              <a:rPr dirty="0" sz="3150" spc="135">
                <a:solidFill>
                  <a:srgbClr val="005EC2"/>
                </a:solidFill>
              </a:rPr>
              <a:t>ES</a:t>
            </a:r>
            <a:r>
              <a:rPr dirty="0" sz="3150" spc="-105">
                <a:solidFill>
                  <a:srgbClr val="005EC2"/>
                </a:solidFill>
              </a:rPr>
              <a:t> </a:t>
            </a:r>
            <a:r>
              <a:rPr dirty="0" sz="3150" spc="-10">
                <a:solidFill>
                  <a:srgbClr val="005EC2"/>
                </a:solidFill>
              </a:rPr>
              <a:t>FACTIBLE?</a:t>
            </a:r>
            <a:endParaRPr sz="315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016974" cy="562559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616802" y="3811897"/>
            <a:ext cx="4562475" cy="2552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1830"/>
              </a:lnSpc>
              <a:spcBef>
                <a:spcPts val="130"/>
              </a:spcBef>
            </a:pPr>
            <a:r>
              <a:rPr dirty="0" sz="1550" spc="-10">
                <a:solidFill>
                  <a:srgbClr val="005EC2"/>
                </a:solidFill>
                <a:latin typeface="Tahoma"/>
                <a:cs typeface="Tahoma"/>
              </a:rPr>
              <a:t>METODOLOGÍA</a:t>
            </a:r>
            <a:endParaRPr sz="1550">
              <a:latin typeface="Tahoma"/>
              <a:cs typeface="Tahoma"/>
            </a:endParaRPr>
          </a:p>
          <a:p>
            <a:pPr marL="12700" marR="2362200">
              <a:lnSpc>
                <a:spcPts val="1800"/>
              </a:lnSpc>
              <a:spcBef>
                <a:spcPts val="80"/>
              </a:spcBef>
            </a:pPr>
            <a:r>
              <a:rPr dirty="0" sz="1550">
                <a:solidFill>
                  <a:srgbClr val="005EC2"/>
                </a:solidFill>
                <a:latin typeface="Tahoma"/>
                <a:cs typeface="Tahoma"/>
              </a:rPr>
              <a:t>Scrum</a:t>
            </a:r>
            <a:r>
              <a:rPr dirty="0" sz="1550" spc="1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45">
                <a:solidFill>
                  <a:srgbClr val="005EC2"/>
                </a:solidFill>
                <a:latin typeface="Tahoma"/>
                <a:cs typeface="Tahoma"/>
              </a:rPr>
              <a:t>+</a:t>
            </a:r>
            <a:r>
              <a:rPr dirty="0" sz="1550" spc="1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05EC2"/>
                </a:solidFill>
                <a:latin typeface="Tahoma"/>
                <a:cs typeface="Tahoma"/>
              </a:rPr>
              <a:t>GitHub</a:t>
            </a:r>
            <a:r>
              <a:rPr dirty="0" sz="1550" spc="1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005EC2"/>
                </a:solidFill>
                <a:latin typeface="Tahoma"/>
                <a:cs typeface="Tahoma"/>
              </a:rPr>
              <a:t>Projects </a:t>
            </a:r>
            <a:r>
              <a:rPr dirty="0" sz="1550">
                <a:solidFill>
                  <a:srgbClr val="005EC2"/>
                </a:solidFill>
                <a:latin typeface="Tahoma"/>
                <a:cs typeface="Tahoma"/>
              </a:rPr>
              <a:t>Flujo</a:t>
            </a:r>
            <a:r>
              <a:rPr dirty="0" sz="1550" spc="-9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05EC2"/>
                </a:solidFill>
                <a:latin typeface="Tahoma"/>
                <a:cs typeface="Tahoma"/>
              </a:rPr>
              <a:t>de</a:t>
            </a:r>
            <a:r>
              <a:rPr dirty="0" sz="1550" spc="-9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005EC2"/>
                </a:solidFill>
                <a:latin typeface="Tahoma"/>
                <a:cs typeface="Tahoma"/>
              </a:rPr>
              <a:t>trabajo: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ts val="1720"/>
              </a:lnSpc>
            </a:pPr>
            <a:r>
              <a:rPr dirty="0" sz="1550">
                <a:solidFill>
                  <a:srgbClr val="005EC2"/>
                </a:solidFill>
                <a:latin typeface="Tahoma"/>
                <a:cs typeface="Tahoma"/>
              </a:rPr>
              <a:t>Product</a:t>
            </a:r>
            <a:r>
              <a:rPr dirty="0" sz="1550" spc="8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005EC2"/>
                </a:solidFill>
                <a:latin typeface="Tahoma"/>
                <a:cs typeface="Tahoma"/>
              </a:rPr>
              <a:t>Backlog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ts val="1800"/>
              </a:lnSpc>
            </a:pPr>
            <a:r>
              <a:rPr dirty="0" sz="1550" spc="-330">
                <a:solidFill>
                  <a:srgbClr val="005EC2"/>
                </a:solidFill>
                <a:latin typeface="Tahoma"/>
                <a:cs typeface="Tahoma"/>
              </a:rPr>
              <a:t>→</a:t>
            </a:r>
            <a:r>
              <a:rPr dirty="0" sz="1550" spc="-5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05EC2"/>
                </a:solidFill>
                <a:latin typeface="Tahoma"/>
                <a:cs typeface="Tahoma"/>
              </a:rPr>
              <a:t>Sprint</a:t>
            </a:r>
            <a:r>
              <a:rPr dirty="0" sz="1550" spc="-4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005EC2"/>
                </a:solidFill>
                <a:latin typeface="Tahoma"/>
                <a:cs typeface="Tahoma"/>
              </a:rPr>
              <a:t>Backlog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ts val="1800"/>
              </a:lnSpc>
            </a:pPr>
            <a:r>
              <a:rPr dirty="0" sz="1550" spc="-330">
                <a:solidFill>
                  <a:srgbClr val="005EC2"/>
                </a:solidFill>
                <a:latin typeface="Tahoma"/>
                <a:cs typeface="Tahoma"/>
              </a:rPr>
              <a:t>→</a:t>
            </a:r>
            <a:r>
              <a:rPr dirty="0" sz="1550" spc="-9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005EC2"/>
                </a:solidFill>
                <a:latin typeface="Tahoma"/>
                <a:cs typeface="Tahoma"/>
              </a:rPr>
              <a:t>Desarrollo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ts val="1800"/>
              </a:lnSpc>
            </a:pPr>
            <a:r>
              <a:rPr dirty="0" sz="1550" spc="-330">
                <a:solidFill>
                  <a:srgbClr val="005EC2"/>
                </a:solidFill>
                <a:latin typeface="Tahoma"/>
                <a:cs typeface="Tahoma"/>
              </a:rPr>
              <a:t>→</a:t>
            </a:r>
            <a:r>
              <a:rPr dirty="0" sz="1550" spc="-9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005EC2"/>
                </a:solidFill>
                <a:latin typeface="Tahoma"/>
                <a:cs typeface="Tahoma"/>
              </a:rPr>
              <a:t>Review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ts val="1800"/>
              </a:lnSpc>
            </a:pPr>
            <a:r>
              <a:rPr dirty="0" sz="1550" spc="-330">
                <a:solidFill>
                  <a:srgbClr val="005EC2"/>
                </a:solidFill>
                <a:latin typeface="Tahoma"/>
                <a:cs typeface="Tahoma"/>
              </a:rPr>
              <a:t>→</a:t>
            </a:r>
            <a:r>
              <a:rPr dirty="0" sz="1550" spc="-9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005EC2"/>
                </a:solidFill>
                <a:latin typeface="Tahoma"/>
                <a:cs typeface="Tahoma"/>
              </a:rPr>
              <a:t>Testing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ts val="1800"/>
              </a:lnSpc>
            </a:pPr>
            <a:r>
              <a:rPr dirty="0" sz="1550" spc="-330">
                <a:solidFill>
                  <a:srgbClr val="005EC2"/>
                </a:solidFill>
                <a:latin typeface="Tahoma"/>
                <a:cs typeface="Tahoma"/>
              </a:rPr>
              <a:t>→</a:t>
            </a:r>
            <a:r>
              <a:rPr dirty="0" sz="1550" spc="-9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20">
                <a:solidFill>
                  <a:srgbClr val="005EC2"/>
                </a:solidFill>
                <a:latin typeface="Tahoma"/>
                <a:cs typeface="Tahoma"/>
              </a:rPr>
              <a:t>Done</a:t>
            </a:r>
            <a:endParaRPr sz="1550">
              <a:latin typeface="Tahoma"/>
              <a:cs typeface="Tahoma"/>
            </a:endParaRPr>
          </a:p>
          <a:p>
            <a:pPr marL="12700" marR="5080">
              <a:lnSpc>
                <a:spcPts val="1800"/>
              </a:lnSpc>
              <a:spcBef>
                <a:spcPts val="80"/>
              </a:spcBef>
            </a:pPr>
            <a:r>
              <a:rPr dirty="0" sz="1550" spc="-25">
                <a:solidFill>
                  <a:srgbClr val="005EC2"/>
                </a:solidFill>
                <a:latin typeface="Tahoma"/>
                <a:cs typeface="Tahoma"/>
              </a:rPr>
              <a:t>Iteraciones</a:t>
            </a:r>
            <a:r>
              <a:rPr dirty="0" sz="1550" spc="-5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05EC2"/>
                </a:solidFill>
                <a:latin typeface="Tahoma"/>
                <a:cs typeface="Tahoma"/>
              </a:rPr>
              <a:t>cortas</a:t>
            </a:r>
            <a:r>
              <a:rPr dirty="0" sz="1550" spc="-5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05EC2"/>
                </a:solidFill>
                <a:latin typeface="Tahoma"/>
                <a:cs typeface="Tahoma"/>
              </a:rPr>
              <a:t>con</a:t>
            </a:r>
            <a:r>
              <a:rPr dirty="0" sz="1550" spc="-5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005EC2"/>
                </a:solidFill>
                <a:latin typeface="Tahoma"/>
                <a:cs typeface="Tahoma"/>
              </a:rPr>
              <a:t>entregables</a:t>
            </a:r>
            <a:r>
              <a:rPr dirty="0" sz="1550" spc="-5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005EC2"/>
                </a:solidFill>
                <a:latin typeface="Tahoma"/>
                <a:cs typeface="Tahoma"/>
              </a:rPr>
              <a:t>validados</a:t>
            </a:r>
            <a:r>
              <a:rPr dirty="0" sz="1550" spc="-5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30">
                <a:solidFill>
                  <a:srgbClr val="005EC2"/>
                </a:solidFill>
                <a:latin typeface="Tahoma"/>
                <a:cs typeface="Tahoma"/>
              </a:rPr>
              <a:t>en</a:t>
            </a:r>
            <a:r>
              <a:rPr dirty="0" sz="1550" spc="-5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20">
                <a:solidFill>
                  <a:srgbClr val="005EC2"/>
                </a:solidFill>
                <a:latin typeface="Tahoma"/>
                <a:cs typeface="Tahoma"/>
              </a:rPr>
              <a:t>cada </a:t>
            </a:r>
            <a:r>
              <a:rPr dirty="0" sz="1550" spc="-10">
                <a:solidFill>
                  <a:srgbClr val="005EC2"/>
                </a:solidFill>
                <a:latin typeface="Tahoma"/>
                <a:cs typeface="Tahoma"/>
              </a:rPr>
              <a:t>sprint.</a:t>
            </a:r>
            <a:endParaRPr sz="155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061648" y="4391101"/>
            <a:ext cx="676275" cy="676275"/>
            <a:chOff x="9061648" y="4391101"/>
            <a:chExt cx="676275" cy="676275"/>
          </a:xfrm>
        </p:grpSpPr>
        <p:sp>
          <p:nvSpPr>
            <p:cNvPr id="15" name="object 15"/>
            <p:cNvSpPr/>
            <p:nvPr/>
          </p:nvSpPr>
          <p:spPr>
            <a:xfrm>
              <a:off x="9061648" y="4391101"/>
              <a:ext cx="676275" cy="676275"/>
            </a:xfrm>
            <a:custGeom>
              <a:avLst/>
              <a:gdLst/>
              <a:ahLst/>
              <a:cxnLst/>
              <a:rect l="l" t="t" r="r" b="b"/>
              <a:pathLst>
                <a:path w="676275" h="676275">
                  <a:moveTo>
                    <a:pt x="381596" y="676275"/>
                  </a:moveTo>
                  <a:lnTo>
                    <a:pt x="297506" y="676275"/>
                  </a:lnTo>
                  <a:lnTo>
                    <a:pt x="293476" y="676003"/>
                  </a:lnTo>
                  <a:lnTo>
                    <a:pt x="249285" y="666974"/>
                  </a:lnTo>
                  <a:lnTo>
                    <a:pt x="207382" y="652419"/>
                  </a:lnTo>
                  <a:lnTo>
                    <a:pt x="168173" y="632744"/>
                  </a:lnTo>
                  <a:lnTo>
                    <a:pt x="132061" y="608353"/>
                  </a:lnTo>
                  <a:lnTo>
                    <a:pt x="99452" y="579651"/>
                  </a:lnTo>
                  <a:lnTo>
                    <a:pt x="70749" y="547041"/>
                  </a:lnTo>
                  <a:lnTo>
                    <a:pt x="46358" y="510930"/>
                  </a:lnTo>
                  <a:lnTo>
                    <a:pt x="26683" y="471720"/>
                  </a:lnTo>
                  <a:lnTo>
                    <a:pt x="12128" y="429818"/>
                  </a:lnTo>
                  <a:lnTo>
                    <a:pt x="3099" y="385626"/>
                  </a:lnTo>
                  <a:lnTo>
                    <a:pt x="0" y="339551"/>
                  </a:lnTo>
                  <a:lnTo>
                    <a:pt x="3099" y="293476"/>
                  </a:lnTo>
                  <a:lnTo>
                    <a:pt x="12128" y="249285"/>
                  </a:lnTo>
                  <a:lnTo>
                    <a:pt x="26683" y="207382"/>
                  </a:lnTo>
                  <a:lnTo>
                    <a:pt x="46358" y="168173"/>
                  </a:lnTo>
                  <a:lnTo>
                    <a:pt x="70749" y="132061"/>
                  </a:lnTo>
                  <a:lnTo>
                    <a:pt x="99452" y="99452"/>
                  </a:lnTo>
                  <a:lnTo>
                    <a:pt x="132061" y="70749"/>
                  </a:lnTo>
                  <a:lnTo>
                    <a:pt x="168173" y="46358"/>
                  </a:lnTo>
                  <a:lnTo>
                    <a:pt x="207382" y="26683"/>
                  </a:lnTo>
                  <a:lnTo>
                    <a:pt x="249285" y="12129"/>
                  </a:lnTo>
                  <a:lnTo>
                    <a:pt x="293476" y="3099"/>
                  </a:lnTo>
                  <a:lnTo>
                    <a:pt x="339551" y="0"/>
                  </a:lnTo>
                  <a:lnTo>
                    <a:pt x="385626" y="3099"/>
                  </a:lnTo>
                  <a:lnTo>
                    <a:pt x="429817" y="12129"/>
                  </a:lnTo>
                  <a:lnTo>
                    <a:pt x="471720" y="26683"/>
                  </a:lnTo>
                  <a:lnTo>
                    <a:pt x="510929" y="46358"/>
                  </a:lnTo>
                  <a:lnTo>
                    <a:pt x="547041" y="70749"/>
                  </a:lnTo>
                  <a:lnTo>
                    <a:pt x="579650" y="99452"/>
                  </a:lnTo>
                  <a:lnTo>
                    <a:pt x="608353" y="132061"/>
                  </a:lnTo>
                  <a:lnTo>
                    <a:pt x="632744" y="168173"/>
                  </a:lnTo>
                  <a:lnTo>
                    <a:pt x="652419" y="207382"/>
                  </a:lnTo>
                  <a:lnTo>
                    <a:pt x="666973" y="249285"/>
                  </a:lnTo>
                  <a:lnTo>
                    <a:pt x="676002" y="293476"/>
                  </a:lnTo>
                  <a:lnTo>
                    <a:pt x="676275" y="297521"/>
                  </a:lnTo>
                  <a:lnTo>
                    <a:pt x="676275" y="381582"/>
                  </a:lnTo>
                  <a:lnTo>
                    <a:pt x="666973" y="429818"/>
                  </a:lnTo>
                  <a:lnTo>
                    <a:pt x="652419" y="471720"/>
                  </a:lnTo>
                  <a:lnTo>
                    <a:pt x="632744" y="510930"/>
                  </a:lnTo>
                  <a:lnTo>
                    <a:pt x="608353" y="547041"/>
                  </a:lnTo>
                  <a:lnTo>
                    <a:pt x="579650" y="579651"/>
                  </a:lnTo>
                  <a:lnTo>
                    <a:pt x="547041" y="608353"/>
                  </a:lnTo>
                  <a:lnTo>
                    <a:pt x="510929" y="632744"/>
                  </a:lnTo>
                  <a:lnTo>
                    <a:pt x="471720" y="652419"/>
                  </a:lnTo>
                  <a:lnTo>
                    <a:pt x="429817" y="666974"/>
                  </a:lnTo>
                  <a:lnTo>
                    <a:pt x="385626" y="676003"/>
                  </a:lnTo>
                  <a:lnTo>
                    <a:pt x="381596" y="676275"/>
                  </a:lnTo>
                  <a:close/>
                </a:path>
              </a:pathLst>
            </a:custGeom>
            <a:solidFill>
              <a:srgbClr val="005E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9197018" y="4578636"/>
              <a:ext cx="408940" cy="313690"/>
            </a:xfrm>
            <a:custGeom>
              <a:avLst/>
              <a:gdLst/>
              <a:ahLst/>
              <a:cxnLst/>
              <a:rect l="l" t="t" r="r" b="b"/>
              <a:pathLst>
                <a:path w="408940" h="313689">
                  <a:moveTo>
                    <a:pt x="113620" y="313329"/>
                  </a:moveTo>
                  <a:lnTo>
                    <a:pt x="0" y="199700"/>
                  </a:lnTo>
                  <a:lnTo>
                    <a:pt x="18582" y="181118"/>
                  </a:lnTo>
                  <a:lnTo>
                    <a:pt x="113620" y="276155"/>
                  </a:lnTo>
                  <a:lnTo>
                    <a:pt x="389780" y="0"/>
                  </a:lnTo>
                  <a:lnTo>
                    <a:pt x="408363" y="18582"/>
                  </a:lnTo>
                  <a:lnTo>
                    <a:pt x="113620" y="313329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" name="object 3"/>
          <p:cNvSpPr txBox="1"/>
          <p:nvPr/>
        </p:nvSpPr>
        <p:spPr>
          <a:xfrm>
            <a:off x="7630025" y="5209976"/>
            <a:ext cx="4105910" cy="2095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1830"/>
              </a:lnSpc>
              <a:spcBef>
                <a:spcPts val="130"/>
              </a:spcBef>
            </a:pPr>
            <a:r>
              <a:rPr dirty="0" sz="1550" spc="55">
                <a:solidFill>
                  <a:srgbClr val="005EC2"/>
                </a:solidFill>
                <a:latin typeface="Tahoma"/>
                <a:cs typeface="Tahoma"/>
              </a:rPr>
              <a:t>FASES</a:t>
            </a:r>
            <a:r>
              <a:rPr dirty="0" sz="1550" spc="-9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005EC2"/>
                </a:solidFill>
                <a:latin typeface="Tahoma"/>
                <a:cs typeface="Tahoma"/>
              </a:rPr>
              <a:t>DEL</a:t>
            </a:r>
            <a:r>
              <a:rPr dirty="0" sz="1550" spc="-8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005EC2"/>
                </a:solidFill>
                <a:latin typeface="Tahoma"/>
                <a:cs typeface="Tahoma"/>
              </a:rPr>
              <a:t>PROYECTO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ts val="1800"/>
              </a:lnSpc>
            </a:pPr>
            <a:r>
              <a:rPr dirty="0" sz="1550">
                <a:solidFill>
                  <a:srgbClr val="005EC2"/>
                </a:solidFill>
                <a:latin typeface="Tahoma"/>
                <a:cs typeface="Tahoma"/>
              </a:rPr>
              <a:t>Fase</a:t>
            </a:r>
            <a:r>
              <a:rPr dirty="0" sz="1550" spc="-8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275">
                <a:solidFill>
                  <a:srgbClr val="005EC2"/>
                </a:solidFill>
                <a:latin typeface="Tahoma"/>
                <a:cs typeface="Tahoma"/>
              </a:rPr>
              <a:t>1</a:t>
            </a:r>
            <a:r>
              <a:rPr dirty="0" sz="1550" spc="-8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295">
                <a:solidFill>
                  <a:srgbClr val="005EC2"/>
                </a:solidFill>
                <a:latin typeface="Tahoma"/>
                <a:cs typeface="Tahoma"/>
              </a:rPr>
              <a:t>—</a:t>
            </a:r>
            <a:r>
              <a:rPr dirty="0" sz="1550" spc="-8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005EC2"/>
                </a:solidFill>
                <a:latin typeface="Tahoma"/>
                <a:cs typeface="Tahoma"/>
              </a:rPr>
              <a:t>Sem.</a:t>
            </a:r>
            <a:r>
              <a:rPr dirty="0" sz="1550" spc="-8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40">
                <a:solidFill>
                  <a:srgbClr val="005EC2"/>
                </a:solidFill>
                <a:latin typeface="Tahoma"/>
                <a:cs typeface="Tahoma"/>
              </a:rPr>
              <a:t>1–</a:t>
            </a:r>
            <a:r>
              <a:rPr dirty="0" sz="1550" spc="65">
                <a:solidFill>
                  <a:srgbClr val="005EC2"/>
                </a:solidFill>
                <a:latin typeface="Tahoma"/>
                <a:cs typeface="Tahoma"/>
              </a:rPr>
              <a:t>4</a:t>
            </a:r>
            <a:endParaRPr sz="1550">
              <a:latin typeface="Tahoma"/>
              <a:cs typeface="Tahoma"/>
            </a:endParaRPr>
          </a:p>
          <a:p>
            <a:pPr marL="12700" marR="321310">
              <a:lnSpc>
                <a:spcPts val="1800"/>
              </a:lnSpc>
              <a:spcBef>
                <a:spcPts val="80"/>
              </a:spcBef>
            </a:pPr>
            <a:r>
              <a:rPr dirty="0" sz="1550" spc="-10">
                <a:solidFill>
                  <a:srgbClr val="005EC2"/>
                </a:solidFill>
                <a:latin typeface="Tahoma"/>
                <a:cs typeface="Tahoma"/>
              </a:rPr>
              <a:t>Definición,</a:t>
            </a:r>
            <a:r>
              <a:rPr dirty="0" sz="1550" spc="-7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20">
                <a:solidFill>
                  <a:srgbClr val="005EC2"/>
                </a:solidFill>
                <a:latin typeface="Tahoma"/>
                <a:cs typeface="Tahoma"/>
              </a:rPr>
              <a:t>alcance,</a:t>
            </a:r>
            <a:r>
              <a:rPr dirty="0" sz="1550" spc="-7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005EC2"/>
                </a:solidFill>
                <a:latin typeface="Tahoma"/>
                <a:cs typeface="Tahoma"/>
              </a:rPr>
              <a:t>arquitectura,</a:t>
            </a:r>
            <a:r>
              <a:rPr dirty="0" sz="1550" spc="-7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30">
                <a:solidFill>
                  <a:srgbClr val="005EC2"/>
                </a:solidFill>
                <a:latin typeface="Tahoma"/>
                <a:cs typeface="Tahoma"/>
              </a:rPr>
              <a:t>objetivos</a:t>
            </a:r>
            <a:r>
              <a:rPr dirty="0" sz="1550" spc="-7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15">
                <a:solidFill>
                  <a:srgbClr val="005EC2"/>
                </a:solidFill>
                <a:latin typeface="Tahoma"/>
                <a:cs typeface="Tahoma"/>
              </a:rPr>
              <a:t>y </a:t>
            </a:r>
            <a:r>
              <a:rPr dirty="0" sz="1550" spc="-10">
                <a:solidFill>
                  <a:srgbClr val="005EC2"/>
                </a:solidFill>
                <a:latin typeface="Tahoma"/>
                <a:cs typeface="Tahoma"/>
              </a:rPr>
              <a:t>planificación.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ts val="1720"/>
              </a:lnSpc>
            </a:pPr>
            <a:r>
              <a:rPr dirty="0" sz="1550">
                <a:solidFill>
                  <a:srgbClr val="005EC2"/>
                </a:solidFill>
                <a:latin typeface="Tahoma"/>
                <a:cs typeface="Tahoma"/>
              </a:rPr>
              <a:t>Fase</a:t>
            </a:r>
            <a:r>
              <a:rPr dirty="0" sz="1550" spc="-9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75">
                <a:solidFill>
                  <a:srgbClr val="005EC2"/>
                </a:solidFill>
                <a:latin typeface="Tahoma"/>
                <a:cs typeface="Tahoma"/>
              </a:rPr>
              <a:t>2</a:t>
            </a:r>
            <a:r>
              <a:rPr dirty="0" sz="1550" spc="-9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295">
                <a:solidFill>
                  <a:srgbClr val="005EC2"/>
                </a:solidFill>
                <a:latin typeface="Tahoma"/>
                <a:cs typeface="Tahoma"/>
              </a:rPr>
              <a:t>—</a:t>
            </a:r>
            <a:r>
              <a:rPr dirty="0" sz="1550" spc="-9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005EC2"/>
                </a:solidFill>
                <a:latin typeface="Tahoma"/>
                <a:cs typeface="Tahoma"/>
              </a:rPr>
              <a:t>Sem.</a:t>
            </a:r>
            <a:r>
              <a:rPr dirty="0" sz="1550" spc="-9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165">
                <a:solidFill>
                  <a:srgbClr val="005EC2"/>
                </a:solidFill>
                <a:latin typeface="Tahoma"/>
                <a:cs typeface="Tahoma"/>
              </a:rPr>
              <a:t>5–</a:t>
            </a:r>
            <a:r>
              <a:rPr dirty="0" sz="1550" spc="-25">
                <a:solidFill>
                  <a:srgbClr val="005EC2"/>
                </a:solidFill>
                <a:latin typeface="Tahoma"/>
                <a:cs typeface="Tahoma"/>
              </a:rPr>
              <a:t>15</a:t>
            </a:r>
            <a:endParaRPr sz="1550">
              <a:latin typeface="Tahoma"/>
              <a:cs typeface="Tahoma"/>
            </a:endParaRPr>
          </a:p>
          <a:p>
            <a:pPr marL="12700" marR="128270">
              <a:lnSpc>
                <a:spcPts val="1800"/>
              </a:lnSpc>
              <a:spcBef>
                <a:spcPts val="80"/>
              </a:spcBef>
            </a:pPr>
            <a:r>
              <a:rPr dirty="0" sz="1550">
                <a:solidFill>
                  <a:srgbClr val="005EC2"/>
                </a:solidFill>
                <a:latin typeface="Tahoma"/>
                <a:cs typeface="Tahoma"/>
              </a:rPr>
              <a:t>Desarrollo</a:t>
            </a:r>
            <a:r>
              <a:rPr dirty="0" sz="1550" spc="-3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20">
                <a:solidFill>
                  <a:srgbClr val="005EC2"/>
                </a:solidFill>
                <a:latin typeface="Tahoma"/>
                <a:cs typeface="Tahoma"/>
              </a:rPr>
              <a:t>incremental,</a:t>
            </a:r>
            <a:r>
              <a:rPr dirty="0" sz="1550" spc="-3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20">
                <a:solidFill>
                  <a:srgbClr val="005EC2"/>
                </a:solidFill>
                <a:latin typeface="Tahoma"/>
                <a:cs typeface="Tahoma"/>
              </a:rPr>
              <a:t>integración,</a:t>
            </a:r>
            <a:r>
              <a:rPr dirty="0" sz="1550" spc="-3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005EC2"/>
                </a:solidFill>
                <a:latin typeface="Tahoma"/>
                <a:cs typeface="Tahoma"/>
              </a:rPr>
              <a:t>pruebas</a:t>
            </a:r>
            <a:r>
              <a:rPr dirty="0" sz="1550" spc="-3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15">
                <a:solidFill>
                  <a:srgbClr val="005EC2"/>
                </a:solidFill>
                <a:latin typeface="Tahoma"/>
                <a:cs typeface="Tahoma"/>
              </a:rPr>
              <a:t>y </a:t>
            </a:r>
            <a:r>
              <a:rPr dirty="0" sz="1550" spc="-10">
                <a:solidFill>
                  <a:srgbClr val="005EC2"/>
                </a:solidFill>
                <a:latin typeface="Tahoma"/>
                <a:cs typeface="Tahoma"/>
              </a:rPr>
              <a:t>despliegue.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ts val="1720"/>
              </a:lnSpc>
            </a:pPr>
            <a:r>
              <a:rPr dirty="0" sz="1550">
                <a:solidFill>
                  <a:srgbClr val="005EC2"/>
                </a:solidFill>
                <a:latin typeface="Tahoma"/>
                <a:cs typeface="Tahoma"/>
              </a:rPr>
              <a:t>Fase</a:t>
            </a:r>
            <a:r>
              <a:rPr dirty="0" sz="1550" spc="-9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114">
                <a:solidFill>
                  <a:srgbClr val="005EC2"/>
                </a:solidFill>
                <a:latin typeface="Tahoma"/>
                <a:cs typeface="Tahoma"/>
              </a:rPr>
              <a:t>3</a:t>
            </a:r>
            <a:r>
              <a:rPr dirty="0" sz="1550" spc="-8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295">
                <a:solidFill>
                  <a:srgbClr val="005EC2"/>
                </a:solidFill>
                <a:latin typeface="Tahoma"/>
                <a:cs typeface="Tahoma"/>
              </a:rPr>
              <a:t>—</a:t>
            </a:r>
            <a:r>
              <a:rPr dirty="0" sz="1550" spc="-8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005EC2"/>
                </a:solidFill>
                <a:latin typeface="Tahoma"/>
                <a:cs typeface="Tahoma"/>
              </a:rPr>
              <a:t>Sem.</a:t>
            </a:r>
            <a:r>
              <a:rPr dirty="0" sz="1550" spc="-9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05EC2"/>
                </a:solidFill>
                <a:latin typeface="Tahoma"/>
                <a:cs typeface="Tahoma"/>
              </a:rPr>
              <a:t>16–</a:t>
            </a:r>
            <a:r>
              <a:rPr dirty="0" sz="1550" spc="-25">
                <a:solidFill>
                  <a:srgbClr val="005EC2"/>
                </a:solidFill>
                <a:latin typeface="Tahoma"/>
                <a:cs typeface="Tahoma"/>
              </a:rPr>
              <a:t>18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ts val="1830"/>
              </a:lnSpc>
            </a:pPr>
            <a:r>
              <a:rPr dirty="0" sz="1550" spc="-10">
                <a:solidFill>
                  <a:srgbClr val="005EC2"/>
                </a:solidFill>
                <a:latin typeface="Tahoma"/>
                <a:cs typeface="Tahoma"/>
              </a:rPr>
              <a:t>Validación,</a:t>
            </a:r>
            <a:r>
              <a:rPr dirty="0" sz="1550" spc="-6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20">
                <a:solidFill>
                  <a:srgbClr val="005EC2"/>
                </a:solidFill>
                <a:latin typeface="Tahoma"/>
                <a:cs typeface="Tahoma"/>
              </a:rPr>
              <a:t>cierre,</a:t>
            </a:r>
            <a:r>
              <a:rPr dirty="0" sz="1550" spc="-6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005EC2"/>
                </a:solidFill>
                <a:latin typeface="Tahoma"/>
                <a:cs typeface="Tahoma"/>
              </a:rPr>
              <a:t>demostración</a:t>
            </a:r>
            <a:r>
              <a:rPr dirty="0" sz="1550" spc="-6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005EC2"/>
                </a:solidFill>
                <a:latin typeface="Tahoma"/>
                <a:cs typeface="Tahoma"/>
              </a:rPr>
              <a:t>y</a:t>
            </a:r>
            <a:r>
              <a:rPr dirty="0" sz="1550" spc="-6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20">
                <a:solidFill>
                  <a:srgbClr val="005EC2"/>
                </a:solidFill>
                <a:latin typeface="Tahoma"/>
                <a:cs typeface="Tahoma"/>
              </a:rPr>
              <a:t>defensa</a:t>
            </a:r>
            <a:r>
              <a:rPr dirty="0" sz="1550" spc="-6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005EC2"/>
                </a:solidFill>
                <a:latin typeface="Tahoma"/>
                <a:cs typeface="Tahoma"/>
              </a:rPr>
              <a:t>final.</a:t>
            </a:r>
            <a:endParaRPr sz="15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2482" y="5433186"/>
            <a:ext cx="9145518" cy="485381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216707" y="3811897"/>
            <a:ext cx="4653280" cy="23241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1830"/>
              </a:lnSpc>
              <a:spcBef>
                <a:spcPts val="130"/>
              </a:spcBef>
            </a:pPr>
            <a:r>
              <a:rPr dirty="0" sz="1550" spc="-10">
                <a:solidFill>
                  <a:srgbClr val="005EC2"/>
                </a:solidFill>
                <a:latin typeface="Tahoma"/>
                <a:cs typeface="Tahoma"/>
              </a:rPr>
              <a:t>FACTIBILIDAD</a:t>
            </a:r>
            <a:endParaRPr sz="1550">
              <a:latin typeface="Tahoma"/>
              <a:cs typeface="Tahoma"/>
            </a:endParaRPr>
          </a:p>
          <a:p>
            <a:pPr marL="12700" marR="27940">
              <a:lnSpc>
                <a:spcPts val="1800"/>
              </a:lnSpc>
              <a:spcBef>
                <a:spcPts val="80"/>
              </a:spcBef>
            </a:pPr>
            <a:r>
              <a:rPr dirty="0" sz="1550">
                <a:solidFill>
                  <a:srgbClr val="005EC2"/>
                </a:solidFill>
                <a:latin typeface="Tahoma"/>
                <a:cs typeface="Tahoma"/>
              </a:rPr>
              <a:t>Equipo</a:t>
            </a:r>
            <a:r>
              <a:rPr dirty="0" sz="1550" spc="-7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05EC2"/>
                </a:solidFill>
                <a:latin typeface="Tahoma"/>
                <a:cs typeface="Tahoma"/>
              </a:rPr>
              <a:t>de</a:t>
            </a:r>
            <a:r>
              <a:rPr dirty="0" sz="1550" spc="-7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114">
                <a:solidFill>
                  <a:srgbClr val="005EC2"/>
                </a:solidFill>
                <a:latin typeface="Tahoma"/>
                <a:cs typeface="Tahoma"/>
              </a:rPr>
              <a:t>3</a:t>
            </a:r>
            <a:r>
              <a:rPr dirty="0" sz="1550" spc="-7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005EC2"/>
                </a:solidFill>
                <a:latin typeface="Tahoma"/>
                <a:cs typeface="Tahoma"/>
              </a:rPr>
              <a:t>integrantes</a:t>
            </a:r>
            <a:r>
              <a:rPr dirty="0" sz="1550" spc="-7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05EC2"/>
                </a:solidFill>
                <a:latin typeface="Tahoma"/>
                <a:cs typeface="Tahoma"/>
              </a:rPr>
              <a:t>con</a:t>
            </a:r>
            <a:r>
              <a:rPr dirty="0" sz="1550" spc="-7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05EC2"/>
                </a:solidFill>
                <a:latin typeface="Tahoma"/>
                <a:cs typeface="Tahoma"/>
              </a:rPr>
              <a:t>roles</a:t>
            </a:r>
            <a:r>
              <a:rPr dirty="0" sz="1550" spc="-7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20">
                <a:solidFill>
                  <a:srgbClr val="005EC2"/>
                </a:solidFill>
                <a:latin typeface="Tahoma"/>
                <a:cs typeface="Tahoma"/>
              </a:rPr>
              <a:t>definidos.</a:t>
            </a:r>
            <a:r>
              <a:rPr dirty="0" sz="1550" spc="-7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005EC2"/>
                </a:solidFill>
                <a:latin typeface="Tahoma"/>
                <a:cs typeface="Tahoma"/>
              </a:rPr>
              <a:t>Alcance </a:t>
            </a:r>
            <a:r>
              <a:rPr dirty="0" sz="1550">
                <a:solidFill>
                  <a:srgbClr val="005EC2"/>
                </a:solidFill>
                <a:latin typeface="Tahoma"/>
                <a:cs typeface="Tahoma"/>
              </a:rPr>
              <a:t>acotado</a:t>
            </a:r>
            <a:r>
              <a:rPr dirty="0" sz="1550" spc="-6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05EC2"/>
                </a:solidFill>
                <a:latin typeface="Tahoma"/>
                <a:cs typeface="Tahoma"/>
              </a:rPr>
              <a:t>a</a:t>
            </a:r>
            <a:r>
              <a:rPr dirty="0" sz="1550" spc="-6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05EC2"/>
                </a:solidFill>
                <a:latin typeface="Tahoma"/>
                <a:cs typeface="Tahoma"/>
              </a:rPr>
              <a:t>infraestructura</a:t>
            </a:r>
            <a:r>
              <a:rPr dirty="0" sz="1550" spc="-6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20">
                <a:solidFill>
                  <a:srgbClr val="005EC2"/>
                </a:solidFill>
                <a:latin typeface="Tahoma"/>
                <a:cs typeface="Tahoma"/>
              </a:rPr>
              <a:t>base.</a:t>
            </a:r>
            <a:r>
              <a:rPr dirty="0" sz="1550" spc="-60">
                <a:solidFill>
                  <a:srgbClr val="005EC2"/>
                </a:solidFill>
                <a:latin typeface="Tahoma"/>
                <a:cs typeface="Tahoma"/>
              </a:rPr>
              <a:t> Next.js,</a:t>
            </a:r>
            <a:r>
              <a:rPr dirty="0" sz="1550" spc="-6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05EC2"/>
                </a:solidFill>
                <a:latin typeface="Tahoma"/>
                <a:cs typeface="Tahoma"/>
              </a:rPr>
              <a:t>Firebase</a:t>
            </a:r>
            <a:r>
              <a:rPr dirty="0" sz="1550" spc="-6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15">
                <a:solidFill>
                  <a:srgbClr val="005EC2"/>
                </a:solidFill>
                <a:latin typeface="Tahoma"/>
                <a:cs typeface="Tahoma"/>
              </a:rPr>
              <a:t>y </a:t>
            </a:r>
            <a:r>
              <a:rPr dirty="0" sz="1550">
                <a:solidFill>
                  <a:srgbClr val="005EC2"/>
                </a:solidFill>
                <a:latin typeface="Tahoma"/>
                <a:cs typeface="Tahoma"/>
              </a:rPr>
              <a:t>Vercel</a:t>
            </a:r>
            <a:r>
              <a:rPr dirty="0" sz="1550" spc="-8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05EC2"/>
                </a:solidFill>
                <a:latin typeface="Tahoma"/>
                <a:cs typeface="Tahoma"/>
              </a:rPr>
              <a:t>reducen</a:t>
            </a:r>
            <a:r>
              <a:rPr dirty="0" sz="1550" spc="-8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05EC2"/>
                </a:solidFill>
                <a:latin typeface="Tahoma"/>
                <a:cs typeface="Tahoma"/>
              </a:rPr>
              <a:t>administración.</a:t>
            </a:r>
            <a:r>
              <a:rPr dirty="0" sz="1550" spc="-7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05EC2"/>
                </a:solidFill>
                <a:latin typeface="Tahoma"/>
                <a:cs typeface="Tahoma"/>
              </a:rPr>
              <a:t>Desarrollo</a:t>
            </a:r>
            <a:r>
              <a:rPr dirty="0" sz="1550" spc="-8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05EC2"/>
                </a:solidFill>
                <a:latin typeface="Tahoma"/>
                <a:cs typeface="Tahoma"/>
              </a:rPr>
              <a:t>modular</a:t>
            </a:r>
            <a:r>
              <a:rPr dirty="0" sz="1550" spc="-7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50">
                <a:solidFill>
                  <a:srgbClr val="005EC2"/>
                </a:solidFill>
                <a:latin typeface="Tahoma"/>
                <a:cs typeface="Tahoma"/>
              </a:rPr>
              <a:t>e </a:t>
            </a:r>
            <a:r>
              <a:rPr dirty="0" sz="1550" spc="-20">
                <a:solidFill>
                  <a:srgbClr val="005EC2"/>
                </a:solidFill>
                <a:latin typeface="Tahoma"/>
                <a:cs typeface="Tahoma"/>
              </a:rPr>
              <a:t>incremental.</a:t>
            </a:r>
            <a:r>
              <a:rPr dirty="0" sz="1550" spc="-9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05EC2"/>
                </a:solidFill>
                <a:latin typeface="Tahoma"/>
                <a:cs typeface="Tahoma"/>
              </a:rPr>
              <a:t>Datos</a:t>
            </a:r>
            <a:r>
              <a:rPr dirty="0" sz="1550" spc="-7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05EC2"/>
                </a:solidFill>
                <a:latin typeface="Tahoma"/>
                <a:cs typeface="Tahoma"/>
              </a:rPr>
              <a:t>simulados</a:t>
            </a:r>
            <a:r>
              <a:rPr dirty="0" sz="1550" spc="-7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05EC2"/>
                </a:solidFill>
                <a:latin typeface="Tahoma"/>
                <a:cs typeface="Tahoma"/>
              </a:rPr>
              <a:t>mientras</a:t>
            </a:r>
            <a:r>
              <a:rPr dirty="0" sz="1550" spc="-7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005EC2"/>
                </a:solidFill>
                <a:latin typeface="Tahoma"/>
                <a:cs typeface="Tahoma"/>
              </a:rPr>
              <a:t>otros</a:t>
            </a:r>
            <a:r>
              <a:rPr dirty="0" sz="1550" spc="-7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005EC2"/>
                </a:solidFill>
                <a:latin typeface="Tahoma"/>
                <a:cs typeface="Tahoma"/>
              </a:rPr>
              <a:t>módulos </a:t>
            </a:r>
            <a:r>
              <a:rPr dirty="0" sz="1550" spc="-20">
                <a:solidFill>
                  <a:srgbClr val="005EC2"/>
                </a:solidFill>
                <a:latin typeface="Tahoma"/>
                <a:cs typeface="Tahoma"/>
              </a:rPr>
              <a:t>no</a:t>
            </a:r>
            <a:r>
              <a:rPr dirty="0" sz="1550" spc="-8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20">
                <a:solidFill>
                  <a:srgbClr val="005EC2"/>
                </a:solidFill>
                <a:latin typeface="Tahoma"/>
                <a:cs typeface="Tahoma"/>
              </a:rPr>
              <a:t>estén</a:t>
            </a:r>
            <a:r>
              <a:rPr dirty="0" sz="1550" spc="-8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005EC2"/>
                </a:solidFill>
                <a:latin typeface="Tahoma"/>
                <a:cs typeface="Tahoma"/>
              </a:rPr>
              <a:t>disponibles.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ts val="1720"/>
              </a:lnSpc>
            </a:pPr>
            <a:r>
              <a:rPr dirty="0" sz="1550">
                <a:solidFill>
                  <a:srgbClr val="005EC2"/>
                </a:solidFill>
                <a:latin typeface="Tahoma"/>
                <a:cs typeface="Tahoma"/>
              </a:rPr>
              <a:t>RIESGOS</a:t>
            </a:r>
            <a:r>
              <a:rPr dirty="0" sz="1550" spc="-2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05EC2"/>
                </a:solidFill>
                <a:latin typeface="Tahoma"/>
                <a:cs typeface="Tahoma"/>
              </a:rPr>
              <a:t>Y</a:t>
            </a:r>
            <a:r>
              <a:rPr dirty="0" sz="1550" spc="-2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005EC2"/>
                </a:solidFill>
                <a:latin typeface="Tahoma"/>
                <a:cs typeface="Tahoma"/>
              </a:rPr>
              <a:t>MITIGACIÓN</a:t>
            </a:r>
            <a:endParaRPr sz="1550">
              <a:latin typeface="Tahoma"/>
              <a:cs typeface="Tahoma"/>
            </a:endParaRPr>
          </a:p>
          <a:p>
            <a:pPr marL="12700" marR="5080">
              <a:lnSpc>
                <a:spcPts val="1800"/>
              </a:lnSpc>
              <a:spcBef>
                <a:spcPts val="80"/>
              </a:spcBef>
            </a:pPr>
            <a:r>
              <a:rPr dirty="0" sz="1550">
                <a:solidFill>
                  <a:srgbClr val="005EC2"/>
                </a:solidFill>
                <a:latin typeface="Tahoma"/>
                <a:cs typeface="Tahoma"/>
              </a:rPr>
              <a:t>Dependencia</a:t>
            </a:r>
            <a:r>
              <a:rPr dirty="0" sz="1550" spc="-8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05EC2"/>
                </a:solidFill>
                <a:latin typeface="Tahoma"/>
                <a:cs typeface="Tahoma"/>
              </a:rPr>
              <a:t>del</a:t>
            </a:r>
            <a:r>
              <a:rPr dirty="0" sz="1550" spc="-8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05EC2"/>
                </a:solidFill>
                <a:latin typeface="Tahoma"/>
                <a:cs typeface="Tahoma"/>
              </a:rPr>
              <a:t>diseño</a:t>
            </a:r>
            <a:r>
              <a:rPr dirty="0" sz="1550" spc="-8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05EC2"/>
                </a:solidFill>
                <a:latin typeface="Tahoma"/>
                <a:cs typeface="Tahoma"/>
              </a:rPr>
              <a:t>final</a:t>
            </a:r>
            <a:r>
              <a:rPr dirty="0" sz="1550" spc="-8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05EC2"/>
                </a:solidFill>
                <a:latin typeface="Tahoma"/>
                <a:cs typeface="Tahoma"/>
              </a:rPr>
              <a:t>de</a:t>
            </a:r>
            <a:r>
              <a:rPr dirty="0" sz="1550" spc="-8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05EC2"/>
                </a:solidFill>
                <a:latin typeface="Tahoma"/>
                <a:cs typeface="Tahoma"/>
              </a:rPr>
              <a:t>la</a:t>
            </a:r>
            <a:r>
              <a:rPr dirty="0" sz="1550" spc="-8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005EC2"/>
                </a:solidFill>
                <a:latin typeface="Tahoma"/>
                <a:cs typeface="Tahoma"/>
              </a:rPr>
              <a:t>contraparte</a:t>
            </a:r>
            <a:r>
              <a:rPr dirty="0" sz="1550" spc="-8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50">
                <a:solidFill>
                  <a:srgbClr val="005EC2"/>
                </a:solidFill>
                <a:latin typeface="Tahoma"/>
                <a:cs typeface="Tahoma"/>
              </a:rPr>
              <a:t>e </a:t>
            </a:r>
            <a:r>
              <a:rPr dirty="0" sz="1550">
                <a:solidFill>
                  <a:srgbClr val="005EC2"/>
                </a:solidFill>
                <a:latin typeface="Tahoma"/>
                <a:cs typeface="Tahoma"/>
              </a:rPr>
              <a:t>integración</a:t>
            </a:r>
            <a:r>
              <a:rPr dirty="0" sz="1550" spc="-8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05EC2"/>
                </a:solidFill>
                <a:latin typeface="Tahoma"/>
                <a:cs typeface="Tahoma"/>
              </a:rPr>
              <a:t>con</a:t>
            </a:r>
            <a:r>
              <a:rPr dirty="0" sz="1550" spc="-7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005EC2"/>
                </a:solidFill>
                <a:latin typeface="Tahoma"/>
                <a:cs typeface="Tahoma"/>
              </a:rPr>
              <a:t>otros</a:t>
            </a:r>
            <a:r>
              <a:rPr dirty="0" sz="1550" spc="-7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20">
                <a:solidFill>
                  <a:srgbClr val="005EC2"/>
                </a:solidFill>
                <a:latin typeface="Tahoma"/>
                <a:cs typeface="Tahoma"/>
              </a:rPr>
              <a:t>equipos.</a:t>
            </a:r>
            <a:r>
              <a:rPr dirty="0" sz="1550" spc="-7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005EC2"/>
                </a:solidFill>
                <a:latin typeface="Tahoma"/>
                <a:cs typeface="Tahoma"/>
              </a:rPr>
              <a:t>Mitigación:</a:t>
            </a:r>
            <a:r>
              <a:rPr dirty="0" sz="1550" spc="-7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005EC2"/>
                </a:solidFill>
                <a:latin typeface="Tahoma"/>
                <a:cs typeface="Tahoma"/>
              </a:rPr>
              <a:t>interfaces </a:t>
            </a:r>
            <a:r>
              <a:rPr dirty="0" sz="1550" spc="-20">
                <a:solidFill>
                  <a:srgbClr val="005EC2"/>
                </a:solidFill>
                <a:latin typeface="Tahoma"/>
                <a:cs typeface="Tahoma"/>
              </a:rPr>
              <a:t>claras,</a:t>
            </a:r>
            <a:r>
              <a:rPr dirty="0" sz="1550" spc="-6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25">
                <a:solidFill>
                  <a:srgbClr val="005EC2"/>
                </a:solidFill>
                <a:latin typeface="Tahoma"/>
                <a:cs typeface="Tahoma"/>
              </a:rPr>
              <a:t>mocks,</a:t>
            </a:r>
            <a:r>
              <a:rPr dirty="0" sz="1550" spc="-5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005EC2"/>
                </a:solidFill>
                <a:latin typeface="Tahoma"/>
                <a:cs typeface="Tahoma"/>
              </a:rPr>
              <a:t>documentación</a:t>
            </a:r>
            <a:r>
              <a:rPr dirty="0" sz="1550" spc="-6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005EC2"/>
                </a:solidFill>
                <a:latin typeface="Tahoma"/>
                <a:cs typeface="Tahoma"/>
              </a:rPr>
              <a:t>y</a:t>
            </a:r>
            <a:r>
              <a:rPr dirty="0" sz="1550" spc="-5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005EC2"/>
                </a:solidFill>
                <a:latin typeface="Tahoma"/>
                <a:cs typeface="Tahoma"/>
              </a:rPr>
              <a:t>revisiones</a:t>
            </a:r>
            <a:r>
              <a:rPr dirty="0" sz="1550" spc="-6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005EC2"/>
                </a:solidFill>
                <a:latin typeface="Tahoma"/>
                <a:cs typeface="Tahoma"/>
              </a:rPr>
              <a:t>periódicas.</a:t>
            </a:r>
            <a:endParaRPr sz="155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4169488" y="6626744"/>
            <a:ext cx="676275" cy="676275"/>
            <a:chOff x="14169488" y="6626744"/>
            <a:chExt cx="676275" cy="676275"/>
          </a:xfrm>
        </p:grpSpPr>
        <p:sp>
          <p:nvSpPr>
            <p:cNvPr id="12" name="object 12"/>
            <p:cNvSpPr/>
            <p:nvPr/>
          </p:nvSpPr>
          <p:spPr>
            <a:xfrm>
              <a:off x="14169488" y="6626744"/>
              <a:ext cx="676275" cy="676275"/>
            </a:xfrm>
            <a:custGeom>
              <a:avLst/>
              <a:gdLst/>
              <a:ahLst/>
              <a:cxnLst/>
              <a:rect l="l" t="t" r="r" b="b"/>
              <a:pathLst>
                <a:path w="676275" h="676275">
                  <a:moveTo>
                    <a:pt x="381595" y="676275"/>
                  </a:moveTo>
                  <a:lnTo>
                    <a:pt x="297507" y="676275"/>
                  </a:lnTo>
                  <a:lnTo>
                    <a:pt x="293476" y="676003"/>
                  </a:lnTo>
                  <a:lnTo>
                    <a:pt x="249285" y="666974"/>
                  </a:lnTo>
                  <a:lnTo>
                    <a:pt x="207382" y="652419"/>
                  </a:lnTo>
                  <a:lnTo>
                    <a:pt x="168173" y="632744"/>
                  </a:lnTo>
                  <a:lnTo>
                    <a:pt x="132061" y="608353"/>
                  </a:lnTo>
                  <a:lnTo>
                    <a:pt x="99452" y="579651"/>
                  </a:lnTo>
                  <a:lnTo>
                    <a:pt x="70749" y="547041"/>
                  </a:lnTo>
                  <a:lnTo>
                    <a:pt x="46358" y="510930"/>
                  </a:lnTo>
                  <a:lnTo>
                    <a:pt x="26683" y="471720"/>
                  </a:lnTo>
                  <a:lnTo>
                    <a:pt x="12128" y="429818"/>
                  </a:lnTo>
                  <a:lnTo>
                    <a:pt x="3099" y="385626"/>
                  </a:lnTo>
                  <a:lnTo>
                    <a:pt x="0" y="339551"/>
                  </a:lnTo>
                  <a:lnTo>
                    <a:pt x="3099" y="293476"/>
                  </a:lnTo>
                  <a:lnTo>
                    <a:pt x="12128" y="249285"/>
                  </a:lnTo>
                  <a:lnTo>
                    <a:pt x="26683" y="207382"/>
                  </a:lnTo>
                  <a:lnTo>
                    <a:pt x="46358" y="168173"/>
                  </a:lnTo>
                  <a:lnTo>
                    <a:pt x="70749" y="132061"/>
                  </a:lnTo>
                  <a:lnTo>
                    <a:pt x="99452" y="99452"/>
                  </a:lnTo>
                  <a:lnTo>
                    <a:pt x="132061" y="70749"/>
                  </a:lnTo>
                  <a:lnTo>
                    <a:pt x="168173" y="46358"/>
                  </a:lnTo>
                  <a:lnTo>
                    <a:pt x="207382" y="26683"/>
                  </a:lnTo>
                  <a:lnTo>
                    <a:pt x="249285" y="12128"/>
                  </a:lnTo>
                  <a:lnTo>
                    <a:pt x="293476" y="3099"/>
                  </a:lnTo>
                  <a:lnTo>
                    <a:pt x="339551" y="0"/>
                  </a:lnTo>
                  <a:lnTo>
                    <a:pt x="385626" y="3099"/>
                  </a:lnTo>
                  <a:lnTo>
                    <a:pt x="429817" y="12128"/>
                  </a:lnTo>
                  <a:lnTo>
                    <a:pt x="471720" y="26683"/>
                  </a:lnTo>
                  <a:lnTo>
                    <a:pt x="510929" y="46358"/>
                  </a:lnTo>
                  <a:lnTo>
                    <a:pt x="547041" y="70749"/>
                  </a:lnTo>
                  <a:lnTo>
                    <a:pt x="579650" y="99452"/>
                  </a:lnTo>
                  <a:lnTo>
                    <a:pt x="608352" y="132061"/>
                  </a:lnTo>
                  <a:lnTo>
                    <a:pt x="632743" y="168173"/>
                  </a:lnTo>
                  <a:lnTo>
                    <a:pt x="652418" y="207382"/>
                  </a:lnTo>
                  <a:lnTo>
                    <a:pt x="666973" y="249285"/>
                  </a:lnTo>
                  <a:lnTo>
                    <a:pt x="676002" y="293476"/>
                  </a:lnTo>
                  <a:lnTo>
                    <a:pt x="676275" y="297522"/>
                  </a:lnTo>
                  <a:lnTo>
                    <a:pt x="676275" y="381580"/>
                  </a:lnTo>
                  <a:lnTo>
                    <a:pt x="666973" y="429818"/>
                  </a:lnTo>
                  <a:lnTo>
                    <a:pt x="652418" y="471720"/>
                  </a:lnTo>
                  <a:lnTo>
                    <a:pt x="632743" y="510930"/>
                  </a:lnTo>
                  <a:lnTo>
                    <a:pt x="608352" y="547041"/>
                  </a:lnTo>
                  <a:lnTo>
                    <a:pt x="579650" y="579651"/>
                  </a:lnTo>
                  <a:lnTo>
                    <a:pt x="547041" y="608353"/>
                  </a:lnTo>
                  <a:lnTo>
                    <a:pt x="510929" y="632744"/>
                  </a:lnTo>
                  <a:lnTo>
                    <a:pt x="471720" y="652419"/>
                  </a:lnTo>
                  <a:lnTo>
                    <a:pt x="429817" y="666974"/>
                  </a:lnTo>
                  <a:lnTo>
                    <a:pt x="385626" y="676003"/>
                  </a:lnTo>
                  <a:lnTo>
                    <a:pt x="381595" y="676275"/>
                  </a:lnTo>
                  <a:close/>
                </a:path>
              </a:pathLst>
            </a:custGeom>
            <a:solidFill>
              <a:srgbClr val="005E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4304858" y="6814279"/>
              <a:ext cx="408940" cy="313690"/>
            </a:xfrm>
            <a:custGeom>
              <a:avLst/>
              <a:gdLst/>
              <a:ahLst/>
              <a:cxnLst/>
              <a:rect l="l" t="t" r="r" b="b"/>
              <a:pathLst>
                <a:path w="408940" h="313690">
                  <a:moveTo>
                    <a:pt x="113620" y="313329"/>
                  </a:moveTo>
                  <a:lnTo>
                    <a:pt x="0" y="199700"/>
                  </a:lnTo>
                  <a:lnTo>
                    <a:pt x="18582" y="181118"/>
                  </a:lnTo>
                  <a:lnTo>
                    <a:pt x="113620" y="276155"/>
                  </a:lnTo>
                  <a:lnTo>
                    <a:pt x="389780" y="0"/>
                  </a:lnTo>
                  <a:lnTo>
                    <a:pt x="408363" y="18582"/>
                  </a:lnTo>
                  <a:lnTo>
                    <a:pt x="113620" y="313329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3953809" y="7660195"/>
            <a:ext cx="676275" cy="676275"/>
            <a:chOff x="3953809" y="7660195"/>
            <a:chExt cx="676275" cy="676275"/>
          </a:xfrm>
        </p:grpSpPr>
        <p:sp>
          <p:nvSpPr>
            <p:cNvPr id="9" name="object 9"/>
            <p:cNvSpPr/>
            <p:nvPr/>
          </p:nvSpPr>
          <p:spPr>
            <a:xfrm>
              <a:off x="3953809" y="7660195"/>
              <a:ext cx="676275" cy="676275"/>
            </a:xfrm>
            <a:custGeom>
              <a:avLst/>
              <a:gdLst/>
              <a:ahLst/>
              <a:cxnLst/>
              <a:rect l="l" t="t" r="r" b="b"/>
              <a:pathLst>
                <a:path w="676275" h="676275">
                  <a:moveTo>
                    <a:pt x="381595" y="676275"/>
                  </a:moveTo>
                  <a:lnTo>
                    <a:pt x="297507" y="676275"/>
                  </a:lnTo>
                  <a:lnTo>
                    <a:pt x="293476" y="676003"/>
                  </a:lnTo>
                  <a:lnTo>
                    <a:pt x="249285" y="666974"/>
                  </a:lnTo>
                  <a:lnTo>
                    <a:pt x="207382" y="652419"/>
                  </a:lnTo>
                  <a:lnTo>
                    <a:pt x="168173" y="632744"/>
                  </a:lnTo>
                  <a:lnTo>
                    <a:pt x="132061" y="608353"/>
                  </a:lnTo>
                  <a:lnTo>
                    <a:pt x="99452" y="579651"/>
                  </a:lnTo>
                  <a:lnTo>
                    <a:pt x="70749" y="547041"/>
                  </a:lnTo>
                  <a:lnTo>
                    <a:pt x="46358" y="510930"/>
                  </a:lnTo>
                  <a:lnTo>
                    <a:pt x="26683" y="471720"/>
                  </a:lnTo>
                  <a:lnTo>
                    <a:pt x="12129" y="429818"/>
                  </a:lnTo>
                  <a:lnTo>
                    <a:pt x="3099" y="385626"/>
                  </a:lnTo>
                  <a:lnTo>
                    <a:pt x="0" y="339551"/>
                  </a:lnTo>
                  <a:lnTo>
                    <a:pt x="3099" y="293476"/>
                  </a:lnTo>
                  <a:lnTo>
                    <a:pt x="12129" y="249285"/>
                  </a:lnTo>
                  <a:lnTo>
                    <a:pt x="26683" y="207382"/>
                  </a:lnTo>
                  <a:lnTo>
                    <a:pt x="46358" y="168173"/>
                  </a:lnTo>
                  <a:lnTo>
                    <a:pt x="70749" y="132061"/>
                  </a:lnTo>
                  <a:lnTo>
                    <a:pt x="99452" y="99452"/>
                  </a:lnTo>
                  <a:lnTo>
                    <a:pt x="132061" y="70749"/>
                  </a:lnTo>
                  <a:lnTo>
                    <a:pt x="168173" y="46358"/>
                  </a:lnTo>
                  <a:lnTo>
                    <a:pt x="207382" y="26683"/>
                  </a:lnTo>
                  <a:lnTo>
                    <a:pt x="249285" y="12128"/>
                  </a:lnTo>
                  <a:lnTo>
                    <a:pt x="293476" y="3099"/>
                  </a:lnTo>
                  <a:lnTo>
                    <a:pt x="339551" y="0"/>
                  </a:lnTo>
                  <a:lnTo>
                    <a:pt x="385626" y="3099"/>
                  </a:lnTo>
                  <a:lnTo>
                    <a:pt x="429818" y="12128"/>
                  </a:lnTo>
                  <a:lnTo>
                    <a:pt x="471720" y="26683"/>
                  </a:lnTo>
                  <a:lnTo>
                    <a:pt x="510929" y="46358"/>
                  </a:lnTo>
                  <a:lnTo>
                    <a:pt x="547041" y="70749"/>
                  </a:lnTo>
                  <a:lnTo>
                    <a:pt x="579650" y="99452"/>
                  </a:lnTo>
                  <a:lnTo>
                    <a:pt x="608353" y="132061"/>
                  </a:lnTo>
                  <a:lnTo>
                    <a:pt x="632744" y="168173"/>
                  </a:lnTo>
                  <a:lnTo>
                    <a:pt x="652419" y="207382"/>
                  </a:lnTo>
                  <a:lnTo>
                    <a:pt x="666973" y="249285"/>
                  </a:lnTo>
                  <a:lnTo>
                    <a:pt x="676002" y="293476"/>
                  </a:lnTo>
                  <a:lnTo>
                    <a:pt x="676275" y="297519"/>
                  </a:lnTo>
                  <a:lnTo>
                    <a:pt x="676275" y="381583"/>
                  </a:lnTo>
                  <a:lnTo>
                    <a:pt x="666973" y="429818"/>
                  </a:lnTo>
                  <a:lnTo>
                    <a:pt x="652419" y="471720"/>
                  </a:lnTo>
                  <a:lnTo>
                    <a:pt x="632744" y="510930"/>
                  </a:lnTo>
                  <a:lnTo>
                    <a:pt x="608353" y="547041"/>
                  </a:lnTo>
                  <a:lnTo>
                    <a:pt x="579650" y="579651"/>
                  </a:lnTo>
                  <a:lnTo>
                    <a:pt x="547041" y="608353"/>
                  </a:lnTo>
                  <a:lnTo>
                    <a:pt x="510929" y="632744"/>
                  </a:lnTo>
                  <a:lnTo>
                    <a:pt x="471720" y="652419"/>
                  </a:lnTo>
                  <a:lnTo>
                    <a:pt x="429818" y="666974"/>
                  </a:lnTo>
                  <a:lnTo>
                    <a:pt x="385626" y="676003"/>
                  </a:lnTo>
                  <a:lnTo>
                    <a:pt x="381595" y="676275"/>
                  </a:lnTo>
                  <a:close/>
                </a:path>
              </a:pathLst>
            </a:custGeom>
            <a:solidFill>
              <a:srgbClr val="005E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089179" y="7847729"/>
              <a:ext cx="408940" cy="313690"/>
            </a:xfrm>
            <a:custGeom>
              <a:avLst/>
              <a:gdLst/>
              <a:ahLst/>
              <a:cxnLst/>
              <a:rect l="l" t="t" r="r" b="b"/>
              <a:pathLst>
                <a:path w="408939" h="313690">
                  <a:moveTo>
                    <a:pt x="113620" y="313329"/>
                  </a:moveTo>
                  <a:lnTo>
                    <a:pt x="0" y="199700"/>
                  </a:lnTo>
                  <a:lnTo>
                    <a:pt x="18582" y="181118"/>
                  </a:lnTo>
                  <a:lnTo>
                    <a:pt x="113620" y="276155"/>
                  </a:lnTo>
                  <a:lnTo>
                    <a:pt x="389780" y="0"/>
                  </a:lnTo>
                  <a:lnTo>
                    <a:pt x="408363" y="18582"/>
                  </a:lnTo>
                  <a:lnTo>
                    <a:pt x="113620" y="313329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94280" y="1372166"/>
            <a:ext cx="10861675" cy="6115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850" spc="70">
                <a:solidFill>
                  <a:srgbClr val="005EC2"/>
                </a:solidFill>
              </a:rPr>
              <a:t>AVANCE</a:t>
            </a:r>
            <a:r>
              <a:rPr dirty="0" sz="3850" spc="-125">
                <a:solidFill>
                  <a:srgbClr val="005EC2"/>
                </a:solidFill>
              </a:rPr>
              <a:t> </a:t>
            </a:r>
            <a:r>
              <a:rPr dirty="0" sz="3850">
                <a:solidFill>
                  <a:srgbClr val="005EC2"/>
                </a:solidFill>
              </a:rPr>
              <a:t>ACTUAL</a:t>
            </a:r>
            <a:r>
              <a:rPr dirty="0" sz="3850" spc="-120">
                <a:solidFill>
                  <a:srgbClr val="005EC2"/>
                </a:solidFill>
              </a:rPr>
              <a:t> </a:t>
            </a:r>
            <a:r>
              <a:rPr dirty="0" sz="3850" spc="185">
                <a:solidFill>
                  <a:srgbClr val="005EC2"/>
                </a:solidFill>
              </a:rPr>
              <a:t>Y</a:t>
            </a:r>
            <a:r>
              <a:rPr dirty="0" sz="3850" spc="-120">
                <a:solidFill>
                  <a:srgbClr val="005EC2"/>
                </a:solidFill>
              </a:rPr>
              <a:t> </a:t>
            </a:r>
            <a:r>
              <a:rPr dirty="0" sz="3850" spc="95">
                <a:solidFill>
                  <a:srgbClr val="005EC2"/>
                </a:solidFill>
              </a:rPr>
              <a:t>COMPETENCIAS</a:t>
            </a:r>
            <a:r>
              <a:rPr dirty="0" sz="3850" spc="-120">
                <a:solidFill>
                  <a:srgbClr val="005EC2"/>
                </a:solidFill>
              </a:rPr>
              <a:t> </a:t>
            </a:r>
            <a:r>
              <a:rPr dirty="0" sz="3850" spc="105">
                <a:solidFill>
                  <a:srgbClr val="005EC2"/>
                </a:solidFill>
              </a:rPr>
              <a:t>APLICADAS</a:t>
            </a:r>
            <a:endParaRPr sz="3850"/>
          </a:p>
        </p:txBody>
      </p:sp>
      <p:sp>
        <p:nvSpPr>
          <p:cNvPr id="3" name="object 3"/>
          <p:cNvSpPr txBox="1"/>
          <p:nvPr/>
        </p:nvSpPr>
        <p:spPr>
          <a:xfrm>
            <a:off x="5391037" y="3261933"/>
            <a:ext cx="6143625" cy="243014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1800"/>
              </a:lnSpc>
              <a:spcBef>
                <a:spcPts val="120"/>
              </a:spcBef>
            </a:pPr>
            <a:r>
              <a:rPr dirty="0" sz="1650">
                <a:solidFill>
                  <a:srgbClr val="005EC2"/>
                </a:solidFill>
                <a:latin typeface="Tahoma"/>
                <a:cs typeface="Tahoma"/>
              </a:rPr>
              <a:t>ESTADO</a:t>
            </a:r>
            <a:r>
              <a:rPr dirty="0" sz="1650" spc="-5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005EC2"/>
                </a:solidFill>
                <a:latin typeface="Tahoma"/>
                <a:cs typeface="Tahoma"/>
              </a:rPr>
              <a:t>ACTUAL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ts val="1900"/>
              </a:lnSpc>
            </a:pPr>
            <a:r>
              <a:rPr dirty="0" sz="1900" spc="625">
                <a:solidFill>
                  <a:srgbClr val="005EC2"/>
                </a:solidFill>
                <a:latin typeface="Segoe UI Symbol"/>
                <a:cs typeface="Segoe UI Symbol"/>
              </a:rPr>
              <a:t>✔</a:t>
            </a:r>
            <a:r>
              <a:rPr dirty="0" sz="1900" spc="-160">
                <a:solidFill>
                  <a:srgbClr val="005EC2"/>
                </a:solidFill>
                <a:latin typeface="Segoe UI Symbol"/>
                <a:cs typeface="Segoe UI Symbol"/>
              </a:rPr>
              <a:t> </a:t>
            </a:r>
            <a:r>
              <a:rPr dirty="0" sz="1650">
                <a:solidFill>
                  <a:srgbClr val="005EC2"/>
                </a:solidFill>
                <a:latin typeface="Tahoma"/>
                <a:cs typeface="Tahoma"/>
              </a:rPr>
              <a:t>Alcance</a:t>
            </a:r>
            <a:r>
              <a:rPr dirty="0" sz="1650" spc="-8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005EC2"/>
                </a:solidFill>
                <a:latin typeface="Tahoma"/>
                <a:cs typeface="Tahoma"/>
              </a:rPr>
              <a:t>definido</a:t>
            </a:r>
            <a:r>
              <a:rPr dirty="0" sz="1650" spc="-8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 spc="65">
                <a:solidFill>
                  <a:srgbClr val="005EC2"/>
                </a:solidFill>
                <a:latin typeface="Tahoma"/>
                <a:cs typeface="Tahoma"/>
              </a:rPr>
              <a:t>y</a:t>
            </a:r>
            <a:r>
              <a:rPr dirty="0" sz="1650" spc="-8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005EC2"/>
                </a:solidFill>
                <a:latin typeface="Tahoma"/>
                <a:cs typeface="Tahoma"/>
              </a:rPr>
              <a:t>validado</a:t>
            </a:r>
            <a:r>
              <a:rPr dirty="0" sz="1650" spc="-8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 spc="-35">
                <a:solidFill>
                  <a:srgbClr val="005EC2"/>
                </a:solidFill>
                <a:latin typeface="Tahoma"/>
                <a:cs typeface="Tahoma"/>
              </a:rPr>
              <a:t>en</a:t>
            </a:r>
            <a:r>
              <a:rPr dirty="0" sz="1650" spc="-7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005EC2"/>
                </a:solidFill>
                <a:latin typeface="Tahoma"/>
                <a:cs typeface="Tahoma"/>
              </a:rPr>
              <a:t>kickoff.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ts val="1875"/>
              </a:lnSpc>
            </a:pPr>
            <a:r>
              <a:rPr dirty="0" sz="1900" spc="625">
                <a:solidFill>
                  <a:srgbClr val="005EC2"/>
                </a:solidFill>
                <a:latin typeface="Segoe UI Symbol"/>
                <a:cs typeface="Segoe UI Symbol"/>
              </a:rPr>
              <a:t>✔</a:t>
            </a:r>
            <a:r>
              <a:rPr dirty="0" sz="1900" spc="-160">
                <a:solidFill>
                  <a:srgbClr val="005EC2"/>
                </a:solidFill>
                <a:latin typeface="Segoe UI Symbol"/>
                <a:cs typeface="Segoe UI Symbol"/>
              </a:rPr>
              <a:t> </a:t>
            </a:r>
            <a:r>
              <a:rPr dirty="0" sz="1650">
                <a:solidFill>
                  <a:srgbClr val="005EC2"/>
                </a:solidFill>
                <a:latin typeface="Tahoma"/>
                <a:cs typeface="Tahoma"/>
              </a:rPr>
              <a:t>Modelo</a:t>
            </a:r>
            <a:r>
              <a:rPr dirty="0" sz="1650" spc="-7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 spc="-20">
                <a:solidFill>
                  <a:srgbClr val="005EC2"/>
                </a:solidFill>
                <a:latin typeface="Tahoma"/>
                <a:cs typeface="Tahoma"/>
              </a:rPr>
              <a:t>multitenant</a:t>
            </a:r>
            <a:r>
              <a:rPr dirty="0" sz="1650" spc="-7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005EC2"/>
                </a:solidFill>
                <a:latin typeface="Tahoma"/>
                <a:cs typeface="Tahoma"/>
              </a:rPr>
              <a:t>preliminar</a:t>
            </a:r>
            <a:r>
              <a:rPr dirty="0" sz="1650" spc="-7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005EC2"/>
                </a:solidFill>
                <a:latin typeface="Tahoma"/>
                <a:cs typeface="Tahoma"/>
              </a:rPr>
              <a:t>diseñado.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ts val="1875"/>
              </a:lnSpc>
            </a:pPr>
            <a:r>
              <a:rPr dirty="0" sz="1900" spc="625">
                <a:solidFill>
                  <a:srgbClr val="005EC2"/>
                </a:solidFill>
                <a:latin typeface="Segoe UI Symbol"/>
                <a:cs typeface="Segoe UI Symbol"/>
              </a:rPr>
              <a:t>✔</a:t>
            </a:r>
            <a:r>
              <a:rPr dirty="0" sz="1900" spc="-145">
                <a:solidFill>
                  <a:srgbClr val="005EC2"/>
                </a:solidFill>
                <a:latin typeface="Segoe UI Symbol"/>
                <a:cs typeface="Segoe UI Symbol"/>
              </a:rPr>
              <a:t> </a:t>
            </a:r>
            <a:r>
              <a:rPr dirty="0" sz="1650">
                <a:solidFill>
                  <a:srgbClr val="005EC2"/>
                </a:solidFill>
                <a:latin typeface="Tahoma"/>
                <a:cs typeface="Tahoma"/>
              </a:rPr>
              <a:t>Entidades</a:t>
            </a:r>
            <a:r>
              <a:rPr dirty="0" sz="1650" spc="-6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 spc="-45">
                <a:solidFill>
                  <a:srgbClr val="005EC2"/>
                </a:solidFill>
                <a:latin typeface="Tahoma"/>
                <a:cs typeface="Tahoma"/>
              </a:rPr>
              <a:t>empresas,</a:t>
            </a:r>
            <a:r>
              <a:rPr dirty="0" sz="1650" spc="-6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 spc="-35">
                <a:solidFill>
                  <a:srgbClr val="005EC2"/>
                </a:solidFill>
                <a:latin typeface="Tahoma"/>
                <a:cs typeface="Tahoma"/>
              </a:rPr>
              <a:t>users,</a:t>
            </a:r>
            <a:r>
              <a:rPr dirty="0" sz="1650" spc="-6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 spc="-20">
                <a:solidFill>
                  <a:srgbClr val="005EC2"/>
                </a:solidFill>
                <a:latin typeface="Tahoma"/>
                <a:cs typeface="Tahoma"/>
              </a:rPr>
              <a:t>competidores</a:t>
            </a:r>
            <a:r>
              <a:rPr dirty="0" sz="1650" spc="-6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 spc="65">
                <a:solidFill>
                  <a:srgbClr val="005EC2"/>
                </a:solidFill>
                <a:latin typeface="Tahoma"/>
                <a:cs typeface="Tahoma"/>
              </a:rPr>
              <a:t>y</a:t>
            </a:r>
            <a:r>
              <a:rPr dirty="0" sz="1650" spc="-6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 spc="-20">
                <a:solidFill>
                  <a:srgbClr val="005EC2"/>
                </a:solidFill>
                <a:latin typeface="Tahoma"/>
                <a:cs typeface="Tahoma"/>
              </a:rPr>
              <a:t>productos</a:t>
            </a:r>
            <a:r>
              <a:rPr dirty="0" sz="1650" spc="-6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005EC2"/>
                </a:solidFill>
                <a:latin typeface="Tahoma"/>
                <a:cs typeface="Tahoma"/>
              </a:rPr>
              <a:t>definidas.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ts val="1875"/>
              </a:lnSpc>
            </a:pPr>
            <a:r>
              <a:rPr dirty="0" sz="1900" spc="625">
                <a:solidFill>
                  <a:srgbClr val="005EC2"/>
                </a:solidFill>
                <a:latin typeface="Segoe UI Symbol"/>
                <a:cs typeface="Segoe UI Symbol"/>
              </a:rPr>
              <a:t>✔</a:t>
            </a:r>
            <a:r>
              <a:rPr dirty="0" sz="1900" spc="-145">
                <a:solidFill>
                  <a:srgbClr val="005EC2"/>
                </a:solidFill>
                <a:latin typeface="Segoe UI Symbol"/>
                <a:cs typeface="Segoe UI Symbol"/>
              </a:rPr>
              <a:t> </a:t>
            </a:r>
            <a:r>
              <a:rPr dirty="0" sz="1650">
                <a:solidFill>
                  <a:srgbClr val="005EC2"/>
                </a:solidFill>
                <a:latin typeface="Tahoma"/>
                <a:cs typeface="Tahoma"/>
              </a:rPr>
              <a:t>Rol</a:t>
            </a:r>
            <a:r>
              <a:rPr dirty="0" sz="1650" spc="-6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005EC2"/>
                </a:solidFill>
                <a:latin typeface="Tahoma"/>
                <a:cs typeface="Tahoma"/>
              </a:rPr>
              <a:t>superadmin</a:t>
            </a:r>
            <a:r>
              <a:rPr dirty="0" sz="1650" spc="-6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005EC2"/>
                </a:solidFill>
                <a:latin typeface="Tahoma"/>
                <a:cs typeface="Tahoma"/>
              </a:rPr>
              <a:t>incorporado.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ts val="1875"/>
              </a:lnSpc>
            </a:pPr>
            <a:r>
              <a:rPr dirty="0" sz="1900" spc="625">
                <a:solidFill>
                  <a:srgbClr val="005EC2"/>
                </a:solidFill>
                <a:latin typeface="Segoe UI Symbol"/>
                <a:cs typeface="Segoe UI Symbol"/>
              </a:rPr>
              <a:t>✔</a:t>
            </a:r>
            <a:r>
              <a:rPr dirty="0" sz="1900" spc="-170">
                <a:solidFill>
                  <a:srgbClr val="005EC2"/>
                </a:solidFill>
                <a:latin typeface="Segoe UI Symbol"/>
                <a:cs typeface="Segoe UI Symbol"/>
              </a:rPr>
              <a:t> </a:t>
            </a:r>
            <a:r>
              <a:rPr dirty="0" sz="1650">
                <a:solidFill>
                  <a:srgbClr val="005EC2"/>
                </a:solidFill>
                <a:latin typeface="Tahoma"/>
                <a:cs typeface="Tahoma"/>
              </a:rPr>
              <a:t>Proyecto</a:t>
            </a:r>
            <a:r>
              <a:rPr dirty="0" sz="1650" spc="-9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 spc="-50">
                <a:solidFill>
                  <a:srgbClr val="005EC2"/>
                </a:solidFill>
                <a:latin typeface="Tahoma"/>
                <a:cs typeface="Tahoma"/>
              </a:rPr>
              <a:t>Next.js</a:t>
            </a:r>
            <a:r>
              <a:rPr dirty="0" sz="1650" spc="-9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005EC2"/>
                </a:solidFill>
                <a:latin typeface="Tahoma"/>
                <a:cs typeface="Tahoma"/>
              </a:rPr>
              <a:t>creado</a:t>
            </a:r>
            <a:r>
              <a:rPr dirty="0" sz="1650" spc="-9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005EC2"/>
                </a:solidFill>
                <a:latin typeface="Tahoma"/>
                <a:cs typeface="Tahoma"/>
              </a:rPr>
              <a:t>desde</a:t>
            </a:r>
            <a:r>
              <a:rPr dirty="0" sz="1650" spc="-9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005EC2"/>
                </a:solidFill>
                <a:latin typeface="Tahoma"/>
                <a:cs typeface="Tahoma"/>
              </a:rPr>
              <a:t>cero.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ts val="1875"/>
              </a:lnSpc>
            </a:pPr>
            <a:r>
              <a:rPr dirty="0" sz="1900" spc="625">
                <a:solidFill>
                  <a:srgbClr val="005EC2"/>
                </a:solidFill>
                <a:latin typeface="Segoe UI Symbol"/>
                <a:cs typeface="Segoe UI Symbol"/>
              </a:rPr>
              <a:t>✔</a:t>
            </a:r>
            <a:r>
              <a:rPr dirty="0" sz="1900" spc="-170">
                <a:solidFill>
                  <a:srgbClr val="005EC2"/>
                </a:solidFill>
                <a:latin typeface="Segoe UI Symbol"/>
                <a:cs typeface="Segoe UI Symbol"/>
              </a:rPr>
              <a:t> </a:t>
            </a:r>
            <a:r>
              <a:rPr dirty="0" sz="1650" spc="90">
                <a:solidFill>
                  <a:srgbClr val="005EC2"/>
                </a:solidFill>
                <a:latin typeface="Tahoma"/>
                <a:cs typeface="Tahoma"/>
              </a:rPr>
              <a:t>SDK</a:t>
            </a:r>
            <a:r>
              <a:rPr dirty="0" sz="1650" spc="-9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005EC2"/>
                </a:solidFill>
                <a:latin typeface="Tahoma"/>
                <a:cs typeface="Tahoma"/>
              </a:rPr>
              <a:t>de</a:t>
            </a:r>
            <a:r>
              <a:rPr dirty="0" sz="1650" spc="-9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005EC2"/>
                </a:solidFill>
                <a:latin typeface="Tahoma"/>
                <a:cs typeface="Tahoma"/>
              </a:rPr>
              <a:t>Firebase</a:t>
            </a:r>
            <a:r>
              <a:rPr dirty="0" sz="1650" spc="-9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005EC2"/>
                </a:solidFill>
                <a:latin typeface="Tahoma"/>
                <a:cs typeface="Tahoma"/>
              </a:rPr>
              <a:t>incorporado.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ts val="1875"/>
              </a:lnSpc>
            </a:pPr>
            <a:r>
              <a:rPr dirty="0" sz="1900" spc="625">
                <a:solidFill>
                  <a:srgbClr val="005EC2"/>
                </a:solidFill>
                <a:latin typeface="Segoe UI Symbol"/>
                <a:cs typeface="Segoe UI Symbol"/>
              </a:rPr>
              <a:t>✔</a:t>
            </a:r>
            <a:r>
              <a:rPr dirty="0" sz="1900" spc="-165">
                <a:solidFill>
                  <a:srgbClr val="005EC2"/>
                </a:solidFill>
                <a:latin typeface="Segoe UI Symbol"/>
                <a:cs typeface="Segoe UI Symbol"/>
              </a:rPr>
              <a:t> </a:t>
            </a:r>
            <a:r>
              <a:rPr dirty="0" sz="1650">
                <a:solidFill>
                  <a:srgbClr val="005EC2"/>
                </a:solidFill>
                <a:latin typeface="Tahoma"/>
                <a:cs typeface="Tahoma"/>
              </a:rPr>
              <a:t>TypeScript</a:t>
            </a:r>
            <a:r>
              <a:rPr dirty="0" sz="1650" spc="-8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005EC2"/>
                </a:solidFill>
                <a:latin typeface="Tahoma"/>
                <a:cs typeface="Tahoma"/>
              </a:rPr>
              <a:t>verificado</a:t>
            </a:r>
            <a:r>
              <a:rPr dirty="0" sz="1650" spc="-8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005EC2"/>
                </a:solidFill>
                <a:latin typeface="Tahoma"/>
                <a:cs typeface="Tahoma"/>
              </a:rPr>
              <a:t>sin</a:t>
            </a:r>
            <a:r>
              <a:rPr dirty="0" sz="1650" spc="-8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005EC2"/>
                </a:solidFill>
                <a:latin typeface="Tahoma"/>
                <a:cs typeface="Tahoma"/>
              </a:rPr>
              <a:t>errores.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ts val="1875"/>
              </a:lnSpc>
            </a:pPr>
            <a:r>
              <a:rPr dirty="0" sz="1900" spc="625">
                <a:solidFill>
                  <a:srgbClr val="005EC2"/>
                </a:solidFill>
                <a:latin typeface="Segoe UI Symbol"/>
                <a:cs typeface="Segoe UI Symbol"/>
              </a:rPr>
              <a:t>✔</a:t>
            </a:r>
            <a:r>
              <a:rPr dirty="0" sz="1900" spc="-130">
                <a:solidFill>
                  <a:srgbClr val="005EC2"/>
                </a:solidFill>
                <a:latin typeface="Segoe UI Symbol"/>
                <a:cs typeface="Segoe UI Symbol"/>
              </a:rPr>
              <a:t> </a:t>
            </a:r>
            <a:r>
              <a:rPr dirty="0" sz="1650">
                <a:solidFill>
                  <a:srgbClr val="005EC2"/>
                </a:solidFill>
                <a:latin typeface="Tahoma"/>
                <a:cs typeface="Tahoma"/>
              </a:rPr>
              <a:t>Build</a:t>
            </a:r>
            <a:r>
              <a:rPr dirty="0" sz="1650" spc="-4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005EC2"/>
                </a:solidFill>
                <a:latin typeface="Tahoma"/>
                <a:cs typeface="Tahoma"/>
              </a:rPr>
              <a:t>de</a:t>
            </a:r>
            <a:r>
              <a:rPr dirty="0" sz="1650" spc="-4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005EC2"/>
                </a:solidFill>
                <a:latin typeface="Tahoma"/>
                <a:cs typeface="Tahoma"/>
              </a:rPr>
              <a:t>producción</a:t>
            </a:r>
            <a:r>
              <a:rPr dirty="0" sz="1650" spc="-4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005EC2"/>
                </a:solidFill>
                <a:latin typeface="Tahoma"/>
                <a:cs typeface="Tahoma"/>
              </a:rPr>
              <a:t>exitoso.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ts val="2080"/>
              </a:lnSpc>
            </a:pPr>
            <a:r>
              <a:rPr dirty="0" sz="1900" spc="540">
                <a:solidFill>
                  <a:srgbClr val="005EC2"/>
                </a:solidFill>
                <a:latin typeface="Segoe UI Symbol"/>
                <a:cs typeface="Segoe UI Symbol"/>
              </a:rPr>
              <a:t>⚙</a:t>
            </a:r>
            <a:r>
              <a:rPr dirty="0" sz="1900" spc="-160">
                <a:solidFill>
                  <a:srgbClr val="005EC2"/>
                </a:solidFill>
                <a:latin typeface="Segoe UI Symbol"/>
                <a:cs typeface="Segoe UI Symbol"/>
              </a:rPr>
              <a:t> </a:t>
            </a:r>
            <a:r>
              <a:rPr dirty="0" sz="1650">
                <a:solidFill>
                  <a:srgbClr val="005EC2"/>
                </a:solidFill>
                <a:latin typeface="Tahoma"/>
                <a:cs typeface="Tahoma"/>
              </a:rPr>
              <a:t>Firebase</a:t>
            </a:r>
            <a:r>
              <a:rPr dirty="0" sz="1650" spc="-8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 spc="-40">
                <a:solidFill>
                  <a:srgbClr val="005EC2"/>
                </a:solidFill>
                <a:latin typeface="Tahoma"/>
                <a:cs typeface="Tahoma"/>
              </a:rPr>
              <a:t>Auth,</a:t>
            </a:r>
            <a:r>
              <a:rPr dirty="0" sz="1650" spc="-9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005EC2"/>
                </a:solidFill>
                <a:latin typeface="Tahoma"/>
                <a:cs typeface="Tahoma"/>
              </a:rPr>
              <a:t>Firestore</a:t>
            </a:r>
            <a:r>
              <a:rPr dirty="0" sz="1650" spc="-8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 spc="65">
                <a:solidFill>
                  <a:srgbClr val="005EC2"/>
                </a:solidFill>
                <a:latin typeface="Tahoma"/>
                <a:cs typeface="Tahoma"/>
              </a:rPr>
              <a:t>y</a:t>
            </a:r>
            <a:r>
              <a:rPr dirty="0" sz="1650" spc="-9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 spc="-40">
                <a:solidFill>
                  <a:srgbClr val="005EC2"/>
                </a:solidFill>
                <a:latin typeface="Tahoma"/>
                <a:cs typeface="Tahoma"/>
              </a:rPr>
              <a:t>Vercel:</a:t>
            </a:r>
            <a:r>
              <a:rPr dirty="0" sz="1650" spc="-9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 spc="-35">
                <a:solidFill>
                  <a:srgbClr val="005EC2"/>
                </a:solidFill>
                <a:latin typeface="Tahoma"/>
                <a:cs typeface="Tahoma"/>
              </a:rPr>
              <a:t>en</a:t>
            </a:r>
            <a:r>
              <a:rPr dirty="0" sz="1650" spc="-8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005EC2"/>
                </a:solidFill>
                <a:latin typeface="Tahoma"/>
                <a:cs typeface="Tahoma"/>
              </a:rPr>
              <a:t>configuración.</a:t>
            </a:r>
            <a:endParaRPr sz="165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1620567"/>
            <a:ext cx="6938645" cy="8666480"/>
            <a:chOff x="0" y="1620567"/>
            <a:chExt cx="6938645" cy="866648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20567"/>
              <a:ext cx="6938220" cy="866643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48569" y="3808601"/>
              <a:ext cx="1676399" cy="1314449"/>
            </a:xfrm>
            <a:prstGeom prst="rect">
              <a:avLst/>
            </a:prstGeom>
          </p:spPr>
        </p:pic>
      </p:grp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43276" y="0"/>
            <a:ext cx="7144723" cy="611272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67071" y="6891804"/>
            <a:ext cx="1590674" cy="131444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463795" y="6359844"/>
            <a:ext cx="8894445" cy="21856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1800"/>
              </a:lnSpc>
              <a:spcBef>
                <a:spcPts val="120"/>
              </a:spcBef>
            </a:pPr>
            <a:r>
              <a:rPr dirty="0" sz="1650">
                <a:solidFill>
                  <a:srgbClr val="005EC2"/>
                </a:solidFill>
                <a:latin typeface="Tahoma"/>
                <a:cs typeface="Tahoma"/>
              </a:rPr>
              <a:t>COMPETENCIAS</a:t>
            </a:r>
            <a:r>
              <a:rPr dirty="0" sz="1650" spc="8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 spc="60">
                <a:solidFill>
                  <a:srgbClr val="005EC2"/>
                </a:solidFill>
                <a:latin typeface="Tahoma"/>
                <a:cs typeface="Tahoma"/>
              </a:rPr>
              <a:t>DEL</a:t>
            </a:r>
            <a:r>
              <a:rPr dirty="0" sz="1650" spc="8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005EC2"/>
                </a:solidFill>
                <a:latin typeface="Tahoma"/>
                <a:cs typeface="Tahoma"/>
              </a:rPr>
              <a:t>PERFIL</a:t>
            </a:r>
            <a:r>
              <a:rPr dirty="0" sz="1650" spc="8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005EC2"/>
                </a:solidFill>
                <a:latin typeface="Tahoma"/>
                <a:cs typeface="Tahoma"/>
              </a:rPr>
              <a:t>DE</a:t>
            </a:r>
            <a:r>
              <a:rPr dirty="0" sz="1650" spc="8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005EC2"/>
                </a:solidFill>
                <a:latin typeface="Tahoma"/>
                <a:cs typeface="Tahoma"/>
              </a:rPr>
              <a:t>EGRESO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ts val="1900"/>
              </a:lnSpc>
            </a:pPr>
            <a:r>
              <a:rPr dirty="0" sz="1900" spc="625">
                <a:solidFill>
                  <a:srgbClr val="005EC2"/>
                </a:solidFill>
                <a:latin typeface="Segoe UI Symbol"/>
                <a:cs typeface="Segoe UI Symbol"/>
              </a:rPr>
              <a:t>✔</a:t>
            </a:r>
            <a:r>
              <a:rPr dirty="0" sz="1900" spc="-180">
                <a:solidFill>
                  <a:srgbClr val="005EC2"/>
                </a:solidFill>
                <a:latin typeface="Segoe UI Symbol"/>
                <a:cs typeface="Segoe UI Symbol"/>
              </a:rPr>
              <a:t> </a:t>
            </a:r>
            <a:r>
              <a:rPr dirty="0" sz="1650">
                <a:solidFill>
                  <a:srgbClr val="005EC2"/>
                </a:solidFill>
                <a:latin typeface="Tahoma"/>
                <a:cs typeface="Tahoma"/>
              </a:rPr>
              <a:t>Modelos</a:t>
            </a:r>
            <a:r>
              <a:rPr dirty="0" sz="1650" spc="-12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005EC2"/>
                </a:solidFill>
                <a:latin typeface="Tahoma"/>
                <a:cs typeface="Tahoma"/>
              </a:rPr>
              <a:t>de</a:t>
            </a:r>
            <a:r>
              <a:rPr dirty="0" sz="1650" spc="-114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005EC2"/>
                </a:solidFill>
                <a:latin typeface="Tahoma"/>
                <a:cs typeface="Tahoma"/>
              </a:rPr>
              <a:t>datos</a:t>
            </a:r>
            <a:r>
              <a:rPr dirty="0" sz="1650" spc="-11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005EC2"/>
                </a:solidFill>
                <a:latin typeface="Tahoma"/>
                <a:cs typeface="Tahoma"/>
              </a:rPr>
              <a:t>escalables.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ts val="1875"/>
              </a:lnSpc>
            </a:pPr>
            <a:r>
              <a:rPr dirty="0" sz="1900" spc="625">
                <a:solidFill>
                  <a:srgbClr val="005EC2"/>
                </a:solidFill>
                <a:latin typeface="Segoe UI Symbol"/>
                <a:cs typeface="Segoe UI Symbol"/>
              </a:rPr>
              <a:t>✔</a:t>
            </a:r>
            <a:r>
              <a:rPr dirty="0" sz="1900" spc="-170">
                <a:solidFill>
                  <a:srgbClr val="005EC2"/>
                </a:solidFill>
                <a:latin typeface="Segoe UI Symbol"/>
                <a:cs typeface="Segoe UI Symbol"/>
              </a:rPr>
              <a:t> </a:t>
            </a:r>
            <a:r>
              <a:rPr dirty="0" sz="1650">
                <a:solidFill>
                  <a:srgbClr val="005EC2"/>
                </a:solidFill>
                <a:latin typeface="Tahoma"/>
                <a:cs typeface="Tahoma"/>
              </a:rPr>
              <a:t>Desarrollo</a:t>
            </a:r>
            <a:r>
              <a:rPr dirty="0" sz="1650" spc="-9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 spc="-40">
                <a:solidFill>
                  <a:srgbClr val="005EC2"/>
                </a:solidFill>
                <a:latin typeface="Tahoma"/>
                <a:cs typeface="Tahoma"/>
              </a:rPr>
              <a:t>e</a:t>
            </a:r>
            <a:r>
              <a:rPr dirty="0" sz="1650" spc="-9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005EC2"/>
                </a:solidFill>
                <a:latin typeface="Tahoma"/>
                <a:cs typeface="Tahoma"/>
              </a:rPr>
              <a:t>integración</a:t>
            </a:r>
            <a:r>
              <a:rPr dirty="0" sz="1650" spc="-9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005EC2"/>
                </a:solidFill>
                <a:latin typeface="Tahoma"/>
                <a:cs typeface="Tahoma"/>
              </a:rPr>
              <a:t>de</a:t>
            </a:r>
            <a:r>
              <a:rPr dirty="0" sz="1650" spc="-9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005EC2"/>
                </a:solidFill>
                <a:latin typeface="Tahoma"/>
                <a:cs typeface="Tahoma"/>
              </a:rPr>
              <a:t>software.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ts val="1875"/>
              </a:lnSpc>
            </a:pPr>
            <a:r>
              <a:rPr dirty="0" sz="1900" spc="625">
                <a:solidFill>
                  <a:srgbClr val="005EC2"/>
                </a:solidFill>
                <a:latin typeface="Segoe UI Symbol"/>
                <a:cs typeface="Segoe UI Symbol"/>
              </a:rPr>
              <a:t>✔</a:t>
            </a:r>
            <a:r>
              <a:rPr dirty="0" sz="1900" spc="-170">
                <a:solidFill>
                  <a:srgbClr val="005EC2"/>
                </a:solidFill>
                <a:latin typeface="Segoe UI Symbol"/>
                <a:cs typeface="Segoe UI Symbol"/>
              </a:rPr>
              <a:t> </a:t>
            </a:r>
            <a:r>
              <a:rPr dirty="0" sz="1650">
                <a:solidFill>
                  <a:srgbClr val="005EC2"/>
                </a:solidFill>
                <a:latin typeface="Tahoma"/>
                <a:cs typeface="Tahoma"/>
              </a:rPr>
              <a:t>Arquitectura</a:t>
            </a:r>
            <a:r>
              <a:rPr dirty="0" sz="1650" spc="-8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005EC2"/>
                </a:solidFill>
                <a:latin typeface="Tahoma"/>
                <a:cs typeface="Tahoma"/>
              </a:rPr>
              <a:t>de</a:t>
            </a:r>
            <a:r>
              <a:rPr dirty="0" sz="1650" spc="-9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005EC2"/>
                </a:solidFill>
                <a:latin typeface="Tahoma"/>
                <a:cs typeface="Tahoma"/>
              </a:rPr>
              <a:t>soluciones</a:t>
            </a:r>
            <a:r>
              <a:rPr dirty="0" sz="1650" spc="-8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005EC2"/>
                </a:solidFill>
                <a:latin typeface="Tahoma"/>
                <a:cs typeface="Tahoma"/>
              </a:rPr>
              <a:t>cloud.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ts val="1875"/>
              </a:lnSpc>
            </a:pPr>
            <a:r>
              <a:rPr dirty="0" sz="1900" spc="625">
                <a:solidFill>
                  <a:srgbClr val="005EC2"/>
                </a:solidFill>
                <a:latin typeface="Segoe UI Symbol"/>
                <a:cs typeface="Segoe UI Symbol"/>
              </a:rPr>
              <a:t>✔</a:t>
            </a:r>
            <a:r>
              <a:rPr dirty="0" sz="1900" spc="-180">
                <a:solidFill>
                  <a:srgbClr val="005EC2"/>
                </a:solidFill>
                <a:latin typeface="Segoe UI Symbol"/>
                <a:cs typeface="Segoe UI Symbol"/>
              </a:rPr>
              <a:t> </a:t>
            </a:r>
            <a:r>
              <a:rPr dirty="0" sz="1650" spc="-10">
                <a:solidFill>
                  <a:srgbClr val="005EC2"/>
                </a:solidFill>
                <a:latin typeface="Tahoma"/>
                <a:cs typeface="Tahoma"/>
              </a:rPr>
              <a:t>Gestión</a:t>
            </a:r>
            <a:r>
              <a:rPr dirty="0" sz="1650" spc="-10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005EC2"/>
                </a:solidFill>
                <a:latin typeface="Tahoma"/>
                <a:cs typeface="Tahoma"/>
              </a:rPr>
              <a:t>de</a:t>
            </a:r>
            <a:r>
              <a:rPr dirty="0" sz="1650" spc="-10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 spc="-20">
                <a:solidFill>
                  <a:srgbClr val="005EC2"/>
                </a:solidFill>
                <a:latin typeface="Tahoma"/>
                <a:cs typeface="Tahoma"/>
              </a:rPr>
              <a:t>proyectos</a:t>
            </a:r>
            <a:r>
              <a:rPr dirty="0" sz="1650" spc="-10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005EC2"/>
                </a:solidFill>
                <a:latin typeface="Tahoma"/>
                <a:cs typeface="Tahoma"/>
              </a:rPr>
              <a:t>informáticos.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ts val="1875"/>
              </a:lnSpc>
            </a:pPr>
            <a:r>
              <a:rPr dirty="0" sz="1900" spc="625">
                <a:solidFill>
                  <a:srgbClr val="005EC2"/>
                </a:solidFill>
                <a:latin typeface="Segoe UI Symbol"/>
                <a:cs typeface="Segoe UI Symbol"/>
              </a:rPr>
              <a:t>✔</a:t>
            </a:r>
            <a:r>
              <a:rPr dirty="0" sz="1900" spc="-155">
                <a:solidFill>
                  <a:srgbClr val="005EC2"/>
                </a:solidFill>
                <a:latin typeface="Segoe UI Symbol"/>
                <a:cs typeface="Segoe UI Symbol"/>
              </a:rPr>
              <a:t> </a:t>
            </a:r>
            <a:r>
              <a:rPr dirty="0" sz="1650">
                <a:solidFill>
                  <a:srgbClr val="005EC2"/>
                </a:solidFill>
                <a:latin typeface="Tahoma"/>
                <a:cs typeface="Tahoma"/>
              </a:rPr>
              <a:t>Pruebas</a:t>
            </a:r>
            <a:r>
              <a:rPr dirty="0" sz="1650" spc="-7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005EC2"/>
                </a:solidFill>
                <a:latin typeface="Tahoma"/>
                <a:cs typeface="Tahoma"/>
              </a:rPr>
              <a:t>de</a:t>
            </a:r>
            <a:r>
              <a:rPr dirty="0" sz="1650" spc="-7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005EC2"/>
                </a:solidFill>
                <a:latin typeface="Tahoma"/>
                <a:cs typeface="Tahoma"/>
              </a:rPr>
              <a:t>validación</a:t>
            </a:r>
            <a:r>
              <a:rPr dirty="0" sz="1650" spc="-7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 spc="65">
                <a:solidFill>
                  <a:srgbClr val="005EC2"/>
                </a:solidFill>
                <a:latin typeface="Tahoma"/>
                <a:cs typeface="Tahoma"/>
              </a:rPr>
              <a:t>y</a:t>
            </a:r>
            <a:r>
              <a:rPr dirty="0" sz="1650" spc="-7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005EC2"/>
                </a:solidFill>
                <a:latin typeface="Tahoma"/>
                <a:cs typeface="Tahoma"/>
              </a:rPr>
              <a:t>seguridad.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ts val="2000"/>
              </a:lnSpc>
            </a:pPr>
            <a:r>
              <a:rPr dirty="0" sz="1900" spc="625">
                <a:solidFill>
                  <a:srgbClr val="005EC2"/>
                </a:solidFill>
                <a:latin typeface="Segoe UI Symbol"/>
                <a:cs typeface="Segoe UI Symbol"/>
              </a:rPr>
              <a:t>✔</a:t>
            </a:r>
            <a:r>
              <a:rPr dirty="0" sz="1900" spc="-180">
                <a:solidFill>
                  <a:srgbClr val="005EC2"/>
                </a:solidFill>
                <a:latin typeface="Segoe UI Symbol"/>
                <a:cs typeface="Segoe UI Symbol"/>
              </a:rPr>
              <a:t> </a:t>
            </a:r>
            <a:r>
              <a:rPr dirty="0" sz="1650" spc="-10">
                <a:solidFill>
                  <a:srgbClr val="005EC2"/>
                </a:solidFill>
                <a:latin typeface="Tahoma"/>
                <a:cs typeface="Tahoma"/>
              </a:rPr>
              <a:t>Control</a:t>
            </a:r>
            <a:r>
              <a:rPr dirty="0" sz="1650" spc="-10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005EC2"/>
                </a:solidFill>
                <a:latin typeface="Tahoma"/>
                <a:cs typeface="Tahoma"/>
              </a:rPr>
              <a:t>de</a:t>
            </a:r>
            <a:r>
              <a:rPr dirty="0" sz="1650" spc="-10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005EC2"/>
                </a:solidFill>
                <a:latin typeface="Tahoma"/>
                <a:cs typeface="Tahoma"/>
              </a:rPr>
              <a:t>accesos</a:t>
            </a:r>
            <a:r>
              <a:rPr dirty="0" sz="1650" spc="-10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 spc="65">
                <a:solidFill>
                  <a:srgbClr val="005EC2"/>
                </a:solidFill>
                <a:latin typeface="Tahoma"/>
                <a:cs typeface="Tahoma"/>
              </a:rPr>
              <a:t>y</a:t>
            </a:r>
            <a:r>
              <a:rPr dirty="0" sz="1650" spc="-10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005EC2"/>
                </a:solidFill>
                <a:latin typeface="Tahoma"/>
                <a:cs typeface="Tahoma"/>
              </a:rPr>
              <a:t>reducción</a:t>
            </a:r>
            <a:r>
              <a:rPr dirty="0" sz="1650" spc="-10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005EC2"/>
                </a:solidFill>
                <a:latin typeface="Tahoma"/>
                <a:cs typeface="Tahoma"/>
              </a:rPr>
              <a:t>de</a:t>
            </a:r>
            <a:r>
              <a:rPr dirty="0" sz="1650" spc="-10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005EC2"/>
                </a:solidFill>
                <a:latin typeface="Tahoma"/>
                <a:cs typeface="Tahoma"/>
              </a:rPr>
              <a:t>vulnerabilidades.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ts val="1880"/>
              </a:lnSpc>
              <a:spcBef>
                <a:spcPts val="70"/>
              </a:spcBef>
            </a:pPr>
            <a:r>
              <a:rPr dirty="0" sz="1650">
                <a:solidFill>
                  <a:srgbClr val="005EC2"/>
                </a:solidFill>
                <a:latin typeface="Tahoma"/>
                <a:cs typeface="Tahoma"/>
              </a:rPr>
              <a:t>El</a:t>
            </a:r>
            <a:r>
              <a:rPr dirty="0" sz="1650" spc="34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005EC2"/>
                </a:solidFill>
                <a:latin typeface="Tahoma"/>
                <a:cs typeface="Tahoma"/>
              </a:rPr>
              <a:t>proyecto</a:t>
            </a:r>
            <a:r>
              <a:rPr dirty="0" sz="1650" spc="34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005EC2"/>
                </a:solidFill>
                <a:latin typeface="Tahoma"/>
                <a:cs typeface="Tahoma"/>
              </a:rPr>
              <a:t>integra</a:t>
            </a:r>
            <a:r>
              <a:rPr dirty="0" sz="1650" spc="34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005EC2"/>
                </a:solidFill>
                <a:latin typeface="Tahoma"/>
                <a:cs typeface="Tahoma"/>
              </a:rPr>
              <a:t>desarrollo,</a:t>
            </a:r>
            <a:r>
              <a:rPr dirty="0" sz="1650" spc="34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005EC2"/>
                </a:solidFill>
                <a:latin typeface="Tahoma"/>
                <a:cs typeface="Tahoma"/>
              </a:rPr>
              <a:t>datos,</a:t>
            </a:r>
            <a:r>
              <a:rPr dirty="0" sz="1650" spc="34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005EC2"/>
                </a:solidFill>
                <a:latin typeface="Tahoma"/>
                <a:cs typeface="Tahoma"/>
              </a:rPr>
              <a:t>cloud,</a:t>
            </a:r>
            <a:r>
              <a:rPr dirty="0" sz="1650" spc="34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005EC2"/>
                </a:solidFill>
                <a:latin typeface="Tahoma"/>
                <a:cs typeface="Tahoma"/>
              </a:rPr>
              <a:t>arquitectura,</a:t>
            </a:r>
            <a:r>
              <a:rPr dirty="0" sz="1650" spc="34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005EC2"/>
                </a:solidFill>
                <a:latin typeface="Tahoma"/>
                <a:cs typeface="Tahoma"/>
              </a:rPr>
              <a:t>seguridad,</a:t>
            </a:r>
            <a:r>
              <a:rPr dirty="0" sz="1650" spc="34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005EC2"/>
                </a:solidFill>
                <a:latin typeface="Tahoma"/>
                <a:cs typeface="Tahoma"/>
              </a:rPr>
              <a:t>pruebas</a:t>
            </a:r>
            <a:r>
              <a:rPr dirty="0" sz="1650" spc="34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 spc="65">
                <a:solidFill>
                  <a:srgbClr val="005EC2"/>
                </a:solidFill>
                <a:latin typeface="Tahoma"/>
                <a:cs typeface="Tahoma"/>
              </a:rPr>
              <a:t>y</a:t>
            </a:r>
            <a:r>
              <a:rPr dirty="0" sz="1650" spc="340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005EC2"/>
                </a:solidFill>
                <a:latin typeface="Tahoma"/>
                <a:cs typeface="Tahoma"/>
              </a:rPr>
              <a:t>gestión</a:t>
            </a:r>
            <a:r>
              <a:rPr dirty="0" sz="1650" spc="345">
                <a:solidFill>
                  <a:srgbClr val="005EC2"/>
                </a:solidFill>
                <a:latin typeface="Tahoma"/>
                <a:cs typeface="Tahoma"/>
              </a:rPr>
              <a:t> </a:t>
            </a:r>
            <a:r>
              <a:rPr dirty="0" sz="1650" spc="-25">
                <a:solidFill>
                  <a:srgbClr val="005EC2"/>
                </a:solidFill>
                <a:latin typeface="Tahoma"/>
                <a:cs typeface="Tahoma"/>
              </a:rPr>
              <a:t>de </a:t>
            </a:r>
            <a:r>
              <a:rPr dirty="0" sz="1650" spc="-10">
                <a:solidFill>
                  <a:srgbClr val="005EC2"/>
                </a:solidFill>
                <a:latin typeface="Tahoma"/>
                <a:cs typeface="Tahoma"/>
              </a:rPr>
              <a:t>proyectos.</a:t>
            </a:r>
            <a:endParaRPr sz="16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876620" cy="10286999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9456" rIns="0" bIns="0" rtlCol="0" vert="horz">
            <a:spAutoFit/>
          </a:bodyPr>
          <a:lstStyle/>
          <a:p>
            <a:pPr marL="976630" marR="5080" indent="665480">
              <a:lnSpc>
                <a:spcPts val="6750"/>
              </a:lnSpc>
              <a:spcBef>
                <a:spcPts val="605"/>
              </a:spcBef>
            </a:pPr>
            <a:r>
              <a:rPr dirty="0" spc="65"/>
              <a:t>LA</a:t>
            </a:r>
            <a:r>
              <a:rPr dirty="0" spc="-240"/>
              <a:t> </a:t>
            </a:r>
            <a:r>
              <a:rPr dirty="0" spc="160"/>
              <a:t>INFRAESTRUCTURA </a:t>
            </a:r>
            <a:r>
              <a:rPr dirty="0" spc="170"/>
              <a:t>COMO</a:t>
            </a:r>
            <a:r>
              <a:rPr dirty="0" spc="-225"/>
              <a:t> </a:t>
            </a:r>
            <a:r>
              <a:rPr dirty="0" spc="315"/>
              <a:t>BASE</a:t>
            </a:r>
            <a:r>
              <a:rPr dirty="0" spc="-220"/>
              <a:t> </a:t>
            </a:r>
            <a:r>
              <a:rPr dirty="0" spc="145"/>
              <a:t>DE</a:t>
            </a:r>
            <a:r>
              <a:rPr dirty="0" spc="-225"/>
              <a:t> </a:t>
            </a:r>
            <a:r>
              <a:rPr dirty="0" spc="-50"/>
              <a:t>ENCI-</a:t>
            </a:r>
            <a:r>
              <a:rPr dirty="0" spc="-10"/>
              <a:t>INTEL</a:t>
            </a: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50604" y="4442109"/>
            <a:ext cx="752474" cy="9239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47424" y="5873756"/>
            <a:ext cx="1314449" cy="10572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676840" y="7250835"/>
            <a:ext cx="866774" cy="159067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9370" rIns="0" bIns="0" rtlCol="0" vert="horz">
            <a:spAutoFit/>
          </a:bodyPr>
          <a:lstStyle/>
          <a:p>
            <a:pPr marL="12700" marR="5080">
              <a:lnSpc>
                <a:spcPts val="2700"/>
              </a:lnSpc>
              <a:spcBef>
                <a:spcPts val="310"/>
              </a:spcBef>
            </a:pPr>
            <a:r>
              <a:rPr dirty="0" spc="-20"/>
              <a:t>Próximos</a:t>
            </a:r>
            <a:r>
              <a:rPr dirty="0" spc="-114"/>
              <a:t> </a:t>
            </a:r>
            <a:r>
              <a:rPr dirty="0" spc="-10"/>
              <a:t>pasos</a:t>
            </a:r>
            <a:r>
              <a:rPr dirty="0" spc="-110"/>
              <a:t> </a:t>
            </a:r>
            <a:r>
              <a:rPr dirty="0" spc="-50"/>
              <a:t>inmediatos:</a:t>
            </a:r>
            <a:r>
              <a:rPr dirty="0" spc="-110"/>
              <a:t> </a:t>
            </a:r>
            <a:r>
              <a:rPr dirty="0"/>
              <a:t>Recibir</a:t>
            </a:r>
            <a:r>
              <a:rPr dirty="0" spc="-110"/>
              <a:t> </a:t>
            </a:r>
            <a:r>
              <a:rPr dirty="0" spc="90"/>
              <a:t>y</a:t>
            </a:r>
            <a:r>
              <a:rPr dirty="0" spc="-110"/>
              <a:t> </a:t>
            </a:r>
            <a:r>
              <a:rPr dirty="0" spc="-10"/>
              <a:t>comparar</a:t>
            </a:r>
            <a:r>
              <a:rPr dirty="0" spc="-110"/>
              <a:t> </a:t>
            </a:r>
            <a:r>
              <a:rPr dirty="0"/>
              <a:t>borrador</a:t>
            </a:r>
            <a:r>
              <a:rPr dirty="0" spc="-110"/>
              <a:t> </a:t>
            </a:r>
            <a:r>
              <a:rPr dirty="0" spc="-30"/>
              <a:t>multitenant</a:t>
            </a:r>
            <a:r>
              <a:rPr dirty="0" spc="-110"/>
              <a:t> </a:t>
            </a:r>
            <a:r>
              <a:rPr dirty="0" spc="-10"/>
              <a:t>de</a:t>
            </a:r>
            <a:r>
              <a:rPr dirty="0" spc="-114"/>
              <a:t> </a:t>
            </a:r>
            <a:r>
              <a:rPr dirty="0"/>
              <a:t>Max</a:t>
            </a:r>
            <a:r>
              <a:rPr dirty="0" spc="-110"/>
              <a:t> </a:t>
            </a:r>
            <a:r>
              <a:rPr dirty="0" spc="-50"/>
              <a:t>· </a:t>
            </a:r>
            <a:r>
              <a:rPr dirty="0"/>
              <a:t>Configurar</a:t>
            </a:r>
            <a:r>
              <a:rPr dirty="0" spc="-130"/>
              <a:t> </a:t>
            </a:r>
            <a:r>
              <a:rPr dirty="0"/>
              <a:t>Firebase</a:t>
            </a:r>
            <a:r>
              <a:rPr dirty="0" spc="-125"/>
              <a:t> </a:t>
            </a:r>
            <a:r>
              <a:rPr dirty="0" spc="-25"/>
              <a:t>Authentication</a:t>
            </a:r>
            <a:r>
              <a:rPr dirty="0" spc="-130"/>
              <a:t> </a:t>
            </a:r>
            <a:r>
              <a:rPr dirty="0" spc="90"/>
              <a:t>y</a:t>
            </a:r>
            <a:r>
              <a:rPr dirty="0" spc="-125"/>
              <a:t> </a:t>
            </a:r>
            <a:r>
              <a:rPr dirty="0" spc="-10"/>
              <a:t>Firestore</a:t>
            </a:r>
            <a:r>
              <a:rPr dirty="0" spc="-130"/>
              <a:t> </a:t>
            </a:r>
            <a:r>
              <a:rPr dirty="0" spc="-245"/>
              <a:t>·</a:t>
            </a:r>
            <a:r>
              <a:rPr dirty="0" spc="-125"/>
              <a:t> </a:t>
            </a:r>
            <a:r>
              <a:rPr dirty="0" spc="-50"/>
              <a:t>Implementar</a:t>
            </a:r>
            <a:r>
              <a:rPr dirty="0" spc="-130"/>
              <a:t> </a:t>
            </a:r>
            <a:r>
              <a:rPr dirty="0" spc="-40"/>
              <a:t>login,</a:t>
            </a:r>
            <a:r>
              <a:rPr dirty="0" spc="-125"/>
              <a:t> </a:t>
            </a:r>
            <a:r>
              <a:rPr dirty="0"/>
              <a:t>rol</a:t>
            </a:r>
            <a:r>
              <a:rPr dirty="0" spc="-130"/>
              <a:t> </a:t>
            </a:r>
            <a:r>
              <a:rPr dirty="0" spc="40"/>
              <a:t>y </a:t>
            </a:r>
            <a:r>
              <a:rPr dirty="0" spc="-55"/>
              <a:t>empresaId</a:t>
            </a:r>
            <a:r>
              <a:rPr dirty="0" spc="-125"/>
              <a:t> </a:t>
            </a:r>
            <a:r>
              <a:rPr dirty="0" spc="-245"/>
              <a:t>·</a:t>
            </a:r>
            <a:r>
              <a:rPr dirty="0" spc="-120"/>
              <a:t> </a:t>
            </a:r>
            <a:r>
              <a:rPr dirty="0"/>
              <a:t>Desarrollar</a:t>
            </a:r>
            <a:r>
              <a:rPr dirty="0" spc="-120"/>
              <a:t> </a:t>
            </a:r>
            <a:r>
              <a:rPr dirty="0" spc="-40"/>
              <a:t>entidades:</a:t>
            </a:r>
            <a:r>
              <a:rPr dirty="0" spc="-120"/>
              <a:t> </a:t>
            </a:r>
            <a:r>
              <a:rPr dirty="0" spc="-60"/>
              <a:t>empresas,</a:t>
            </a:r>
            <a:r>
              <a:rPr dirty="0" spc="-120"/>
              <a:t> </a:t>
            </a:r>
            <a:r>
              <a:rPr dirty="0" spc="-35"/>
              <a:t>usuarios,</a:t>
            </a:r>
            <a:r>
              <a:rPr dirty="0" spc="-120"/>
              <a:t> </a:t>
            </a:r>
            <a:r>
              <a:rPr dirty="0" spc="-25"/>
              <a:t>competidores</a:t>
            </a:r>
            <a:r>
              <a:rPr dirty="0" spc="-120"/>
              <a:t> </a:t>
            </a:r>
            <a:r>
              <a:rPr dirty="0" spc="90"/>
              <a:t>y</a:t>
            </a:r>
            <a:r>
              <a:rPr dirty="0" spc="-120"/>
              <a:t> </a:t>
            </a:r>
            <a:r>
              <a:rPr dirty="0" spc="-10"/>
              <a:t>productos.</a:t>
            </a:r>
          </a:p>
          <a:p>
            <a:pPr>
              <a:lnSpc>
                <a:spcPct val="100000"/>
              </a:lnSpc>
              <a:spcBef>
                <a:spcPts val="1195"/>
              </a:spcBef>
            </a:pPr>
          </a:p>
          <a:p>
            <a:pPr marL="12700" marR="161290">
              <a:lnSpc>
                <a:spcPts val="2700"/>
              </a:lnSpc>
            </a:pPr>
            <a:r>
              <a:rPr dirty="0"/>
              <a:t>Despliegue</a:t>
            </a:r>
            <a:r>
              <a:rPr dirty="0" spc="-145"/>
              <a:t> </a:t>
            </a:r>
            <a:r>
              <a:rPr dirty="0" spc="90"/>
              <a:t>y</a:t>
            </a:r>
            <a:r>
              <a:rPr dirty="0" spc="-135"/>
              <a:t> </a:t>
            </a:r>
            <a:r>
              <a:rPr dirty="0" spc="-40"/>
              <a:t>validación:</a:t>
            </a:r>
            <a:r>
              <a:rPr dirty="0" spc="-130"/>
              <a:t> </a:t>
            </a:r>
            <a:r>
              <a:rPr dirty="0"/>
              <a:t>Construir</a:t>
            </a:r>
            <a:r>
              <a:rPr dirty="0" spc="-135"/>
              <a:t> </a:t>
            </a:r>
            <a:r>
              <a:rPr dirty="0"/>
              <a:t>dashboard</a:t>
            </a:r>
            <a:r>
              <a:rPr dirty="0" spc="-130"/>
              <a:t> </a:t>
            </a:r>
            <a:r>
              <a:rPr dirty="0"/>
              <a:t>base</a:t>
            </a:r>
            <a:r>
              <a:rPr dirty="0" spc="-135"/>
              <a:t> </a:t>
            </a:r>
            <a:r>
              <a:rPr dirty="0" spc="90"/>
              <a:t>y</a:t>
            </a:r>
            <a:r>
              <a:rPr dirty="0" spc="-130"/>
              <a:t> </a:t>
            </a:r>
            <a:r>
              <a:rPr dirty="0"/>
              <a:t>desplegar</a:t>
            </a:r>
            <a:r>
              <a:rPr dirty="0" spc="-135"/>
              <a:t> </a:t>
            </a:r>
            <a:r>
              <a:rPr dirty="0" spc="-55"/>
              <a:t>en</a:t>
            </a:r>
            <a:r>
              <a:rPr dirty="0" spc="-130"/>
              <a:t> </a:t>
            </a:r>
            <a:r>
              <a:rPr dirty="0" spc="-20"/>
              <a:t>Vercel</a:t>
            </a:r>
            <a:r>
              <a:rPr dirty="0" spc="-135"/>
              <a:t> </a:t>
            </a:r>
            <a:r>
              <a:rPr dirty="0" spc="-245"/>
              <a:t>·</a:t>
            </a:r>
            <a:r>
              <a:rPr dirty="0" spc="-130"/>
              <a:t> </a:t>
            </a:r>
            <a:r>
              <a:rPr dirty="0" spc="-10"/>
              <a:t>Crear </a:t>
            </a:r>
            <a:r>
              <a:rPr dirty="0"/>
              <a:t>usuarios</a:t>
            </a:r>
            <a:r>
              <a:rPr dirty="0" spc="-130"/>
              <a:t> </a:t>
            </a:r>
            <a:r>
              <a:rPr dirty="0" spc="-10"/>
              <a:t>de</a:t>
            </a:r>
            <a:r>
              <a:rPr dirty="0" spc="-130"/>
              <a:t> </a:t>
            </a:r>
            <a:r>
              <a:rPr dirty="0" spc="-25"/>
              <a:t>prueba</a:t>
            </a:r>
            <a:r>
              <a:rPr dirty="0" spc="-125"/>
              <a:t> </a:t>
            </a:r>
            <a:r>
              <a:rPr dirty="0" spc="90"/>
              <a:t>y</a:t>
            </a:r>
            <a:r>
              <a:rPr dirty="0" spc="-130"/>
              <a:t> </a:t>
            </a:r>
            <a:r>
              <a:rPr dirty="0"/>
              <a:t>validar</a:t>
            </a:r>
            <a:r>
              <a:rPr dirty="0" spc="-130"/>
              <a:t> </a:t>
            </a:r>
            <a:r>
              <a:rPr dirty="0" spc="-20"/>
              <a:t>aislamiento</a:t>
            </a:r>
            <a:r>
              <a:rPr dirty="0" spc="-125"/>
              <a:t> </a:t>
            </a:r>
            <a:r>
              <a:rPr dirty="0" spc="-50"/>
              <a:t>entre</a:t>
            </a:r>
            <a:r>
              <a:rPr dirty="0" spc="-130"/>
              <a:t> </a:t>
            </a:r>
            <a:r>
              <a:rPr dirty="0" spc="-35"/>
              <a:t>empresas</a:t>
            </a:r>
            <a:r>
              <a:rPr dirty="0" spc="-130"/>
              <a:t> </a:t>
            </a:r>
            <a:r>
              <a:rPr dirty="0" spc="-245"/>
              <a:t>·</a:t>
            </a:r>
            <a:r>
              <a:rPr dirty="0" spc="-125"/>
              <a:t> </a:t>
            </a:r>
            <a:r>
              <a:rPr dirty="0"/>
              <a:t>Preparar</a:t>
            </a:r>
            <a:r>
              <a:rPr dirty="0" spc="-130"/>
              <a:t> </a:t>
            </a:r>
            <a:r>
              <a:rPr dirty="0" spc="-25"/>
              <a:t>puntos</a:t>
            </a:r>
            <a:r>
              <a:rPr dirty="0" spc="-130"/>
              <a:t> </a:t>
            </a:r>
            <a:r>
              <a:rPr dirty="0" spc="-25"/>
              <a:t>de </a:t>
            </a:r>
            <a:r>
              <a:rPr dirty="0" spc="-10"/>
              <a:t>integración</a:t>
            </a:r>
            <a:r>
              <a:rPr dirty="0" spc="-175"/>
              <a:t> </a:t>
            </a:r>
            <a:r>
              <a:rPr dirty="0" spc="-10"/>
              <a:t>con</a:t>
            </a:r>
            <a:r>
              <a:rPr dirty="0" spc="-165"/>
              <a:t> </a:t>
            </a:r>
            <a:r>
              <a:rPr dirty="0"/>
              <a:t>los</a:t>
            </a:r>
            <a:r>
              <a:rPr dirty="0" spc="-165"/>
              <a:t> </a:t>
            </a:r>
            <a:r>
              <a:rPr dirty="0" spc="-25"/>
              <a:t>otros</a:t>
            </a:r>
            <a:r>
              <a:rPr dirty="0" spc="-155"/>
              <a:t> </a:t>
            </a:r>
            <a:r>
              <a:rPr dirty="0" spc="-10"/>
              <a:t>equipos.</a:t>
            </a:r>
          </a:p>
          <a:p>
            <a:pPr>
              <a:lnSpc>
                <a:spcPct val="100000"/>
              </a:lnSpc>
              <a:spcBef>
                <a:spcPts val="1230"/>
              </a:spcBef>
            </a:pPr>
          </a:p>
          <a:p>
            <a:pPr marL="12700" marR="360680">
              <a:lnSpc>
                <a:spcPts val="2700"/>
              </a:lnSpc>
            </a:pPr>
            <a:r>
              <a:rPr dirty="0"/>
              <a:t>De</a:t>
            </a:r>
            <a:r>
              <a:rPr dirty="0" spc="-140"/>
              <a:t> </a:t>
            </a:r>
            <a:r>
              <a:rPr dirty="0" spc="-10"/>
              <a:t>una</a:t>
            </a:r>
            <a:r>
              <a:rPr dirty="0" spc="-140"/>
              <a:t> </a:t>
            </a:r>
            <a:r>
              <a:rPr dirty="0" spc="-10"/>
              <a:t>solución</a:t>
            </a:r>
            <a:r>
              <a:rPr dirty="0" spc="-135"/>
              <a:t> </a:t>
            </a:r>
            <a:r>
              <a:rPr dirty="0"/>
              <a:t>específica</a:t>
            </a:r>
            <a:r>
              <a:rPr dirty="0" spc="-140"/>
              <a:t> </a:t>
            </a:r>
            <a:r>
              <a:rPr dirty="0"/>
              <a:t>a</a:t>
            </a:r>
            <a:r>
              <a:rPr dirty="0" spc="-135"/>
              <a:t> </a:t>
            </a:r>
            <a:r>
              <a:rPr dirty="0" spc="-10"/>
              <a:t>una</a:t>
            </a:r>
            <a:r>
              <a:rPr dirty="0" spc="-140"/>
              <a:t> </a:t>
            </a:r>
            <a:r>
              <a:rPr dirty="0" spc="-10"/>
              <a:t>plataforma</a:t>
            </a:r>
            <a:r>
              <a:rPr dirty="0" spc="-135"/>
              <a:t> </a:t>
            </a:r>
            <a:r>
              <a:rPr dirty="0" spc="-45"/>
              <a:t>multiempresa,</a:t>
            </a:r>
            <a:r>
              <a:rPr dirty="0" spc="-140"/>
              <a:t> </a:t>
            </a:r>
            <a:r>
              <a:rPr dirty="0"/>
              <a:t>segura</a:t>
            </a:r>
            <a:r>
              <a:rPr dirty="0" spc="-135"/>
              <a:t> </a:t>
            </a:r>
            <a:r>
              <a:rPr dirty="0" spc="90"/>
              <a:t>y</a:t>
            </a:r>
            <a:r>
              <a:rPr dirty="0" spc="-140"/>
              <a:t> </a:t>
            </a:r>
            <a:r>
              <a:rPr dirty="0" spc="-10"/>
              <a:t>escalable. </a:t>
            </a:r>
            <a:r>
              <a:rPr dirty="0"/>
              <a:t>Nuestro</a:t>
            </a:r>
            <a:r>
              <a:rPr dirty="0" spc="-135"/>
              <a:t> </a:t>
            </a:r>
            <a:r>
              <a:rPr dirty="0" spc="-20"/>
              <a:t>aporte</a:t>
            </a:r>
            <a:r>
              <a:rPr dirty="0" spc="-130"/>
              <a:t> </a:t>
            </a:r>
            <a:r>
              <a:rPr dirty="0" spc="-50"/>
              <a:t>no</a:t>
            </a:r>
            <a:r>
              <a:rPr dirty="0" spc="-135"/>
              <a:t> </a:t>
            </a:r>
            <a:r>
              <a:rPr dirty="0"/>
              <a:t>es</a:t>
            </a:r>
            <a:r>
              <a:rPr dirty="0" spc="-130"/>
              <a:t> </a:t>
            </a:r>
            <a:r>
              <a:rPr dirty="0" spc="-25"/>
              <a:t>solo</a:t>
            </a:r>
            <a:r>
              <a:rPr dirty="0" spc="-130"/>
              <a:t> </a:t>
            </a:r>
            <a:r>
              <a:rPr dirty="0" spc="-10"/>
              <a:t>una</a:t>
            </a:r>
            <a:r>
              <a:rPr dirty="0" spc="-135"/>
              <a:t> </a:t>
            </a:r>
            <a:r>
              <a:rPr dirty="0" spc="-45"/>
              <a:t>interfaz:</a:t>
            </a:r>
            <a:r>
              <a:rPr dirty="0" spc="-130"/>
              <a:t> </a:t>
            </a:r>
            <a:r>
              <a:rPr dirty="0"/>
              <a:t>es</a:t>
            </a:r>
            <a:r>
              <a:rPr dirty="0" spc="-130"/>
              <a:t> </a:t>
            </a:r>
            <a:r>
              <a:rPr dirty="0"/>
              <a:t>la</a:t>
            </a:r>
            <a:r>
              <a:rPr dirty="0" spc="-135"/>
              <a:t> </a:t>
            </a:r>
            <a:r>
              <a:rPr dirty="0"/>
              <a:t>base</a:t>
            </a:r>
            <a:r>
              <a:rPr dirty="0" spc="-130"/>
              <a:t> </a:t>
            </a:r>
            <a:r>
              <a:rPr dirty="0" spc="-40"/>
              <a:t>que</a:t>
            </a:r>
            <a:r>
              <a:rPr dirty="0" spc="-130"/>
              <a:t> </a:t>
            </a:r>
            <a:r>
              <a:rPr dirty="0" spc="-10"/>
              <a:t>permite</a:t>
            </a:r>
            <a:r>
              <a:rPr dirty="0" spc="-135"/>
              <a:t> </a:t>
            </a:r>
            <a:r>
              <a:rPr dirty="0" spc="-40"/>
              <a:t>que</a:t>
            </a:r>
            <a:r>
              <a:rPr dirty="0" spc="-130"/>
              <a:t> </a:t>
            </a:r>
            <a:r>
              <a:rPr dirty="0"/>
              <a:t>Enci-</a:t>
            </a:r>
            <a:r>
              <a:rPr dirty="0" spc="-10"/>
              <a:t>Intel </a:t>
            </a:r>
            <a:r>
              <a:rPr dirty="0"/>
              <a:t>pueda</a:t>
            </a:r>
            <a:r>
              <a:rPr dirty="0" spc="-160"/>
              <a:t> </a:t>
            </a:r>
            <a:r>
              <a:rPr dirty="0" spc="-10"/>
              <a:t>crecer.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672108" y="0"/>
            <a:ext cx="2615890" cy="10286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ALEJANDRO ANDRES ROJAS ESPINOZA</dc:creator>
  <cp:keywords>DAHUqWPyP2A,BAGPPsrDZAs</cp:keywords>
  <dc:title>Enci-Intel: Infraestructura Multitenant 2</dc:title>
  <dcterms:created xsi:type="dcterms:W3CDTF">2026-09-23T18:11:52Z</dcterms:created>
  <dcterms:modified xsi:type="dcterms:W3CDTF">2026-09-23T18:11:52Z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v10.0.20070.1</vt:lpwstr>
  </property>
  <property fmtid="{D5CDD505-2E9C-101B-9397-08002B2CF9AE}" pid="3" name="Created">
    <vt:filetime>2026-09-09T00:00:00Z</vt:filetime>
  </property>
  <property fmtid="{D5CDD505-2E9C-101B-9397-08002B2CF9AE}" pid="4" name="Creator">
    <vt:lpwstr>Canva</vt:lpwstr>
  </property>
  <property fmtid="{D5CDD505-2E9C-101B-9397-08002B2CF9AE}" pid="5" name="LastSaved">
    <vt:filetime>2026-09-23T00:00:00Z</vt:filetime>
  </property>
  <property fmtid="{D5CDD505-2E9C-101B-9397-08002B2CF9AE}" pid="6" name="Producer">
    <vt:lpwstr>Canva</vt:lpwstr>
  </property>
  <property fmtid="{D5CDD505-2E9C-101B-9397-08002B2CF9AE}" pid="7" name="containsAiGeneratedContent">
    <vt:lpwstr>Yes</vt:lpwstr>
  </property>
</Properties>
</file>